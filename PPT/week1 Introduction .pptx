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92" r:id="rId7"/>
    <p:sldId id="291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87" r:id="rId22"/>
    <p:sldId id="288" r:id="rId23"/>
    <p:sldId id="289" r:id="rId24"/>
    <p:sldId id="290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7" d="100"/>
          <a:sy n="47" d="100"/>
        </p:scale>
        <p:origin x="104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F3113-8E53-B17B-F849-A0A9546E0C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753041-CBD3-A419-EAC3-47F4B76195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7E94F9-5696-3B06-0641-C8468229B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3C19E-254A-495D-BE9C-E43A58F44599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605AED-2252-4AA6-B5F7-171ACBF7F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721E8-173D-7045-EEBA-6254B2EB8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D41D9-BB4B-4600-90A7-E90EB8FC9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4809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5A92C-4665-C6A5-2FE7-508B94151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C81C99-FBF3-F205-1939-C59031342E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763967-FC92-CEF3-9BD8-9FC13F9DC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3C19E-254A-495D-BE9C-E43A58F44599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13D61B-4234-8BF7-EF3A-64251466B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7E137-424E-8D61-D618-25A8C0870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D41D9-BB4B-4600-90A7-E90EB8FC9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281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8A3F6-817E-8C4F-1FEC-DFE410F67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C36D0C-99C2-7D13-C0C7-9765CA0566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EF1F8A-2BE6-C01B-4752-0A0DC0405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3C19E-254A-495D-BE9C-E43A58F44599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B5922B-D6A3-BBF3-7663-CC2710B12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841303-6A36-2611-A605-AC33AEDF2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D41D9-BB4B-4600-90A7-E90EB8FC9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225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375B2-43F4-A211-CFCE-694F43700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D1717C-361E-012A-2424-AF76ED2C1E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0CE007-338E-FECA-45CE-BA7545B06F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E853F8-AF39-CC93-EE38-8A8E0EE44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3C19E-254A-495D-BE9C-E43A58F44599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2664B0-D715-BFF4-0F15-B773ED61D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A560EE-BFB4-DD90-D411-21833D8C3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D41D9-BB4B-4600-90A7-E90EB8FC9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3714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29168-5E6B-CBCD-3C3F-5A9E96F36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20C318-EF79-9410-232C-FEB9605162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D4483F-99E0-E225-6C0C-B387A1B76F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1CFE5B-A034-AFB3-3D5D-D39E212547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07550D-AA5E-C359-6253-5D0FA100F8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52AD9C-408E-C361-0881-1844C7C5C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3C19E-254A-495D-BE9C-E43A58F44599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D5572F-4DEA-70A1-3828-52F734FFB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20AC1E-75AC-7515-FAD3-85FE69824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D41D9-BB4B-4600-90A7-E90EB8FC9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688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3EFF9-576A-4CD1-8111-FF7B17385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2911F7-CDB7-F79A-F686-4DE57F6AB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3C19E-254A-495D-BE9C-E43A58F44599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FCB7A1-70C0-59E4-4361-FB68350A9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F3969B-D714-39B2-90DF-7FD558AFF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D41D9-BB4B-4600-90A7-E90EB8FC9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370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818E95-9604-E860-0ECF-0D7E49F7F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3C19E-254A-495D-BE9C-E43A58F44599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C0D07A-95F1-A8FB-8863-E70FEEC5A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1BED6C-BDD6-92E3-BB24-75F2AEFA8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D41D9-BB4B-4600-90A7-E90EB8FC9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5322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0A12C-927C-EB03-C91E-0D22AFE54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9990DD-6B78-BE39-2495-5EDEACE868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9AA9F2-C5C3-3954-77E9-C99BF399C7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C96C86-7802-7D74-D5BE-529D7AB6C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3C19E-254A-495D-BE9C-E43A58F44599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342187-4C03-B399-D20F-C5B24D4FB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42EF4-6E0D-96B2-273C-23ED31A9E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D41D9-BB4B-4600-90A7-E90EB8FC9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397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29FCE-23CE-232B-C43A-FD822DBC5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352987-E3F0-EE58-5180-04BEFC7CA8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FA54A4-5E0E-577F-68A3-7F29BF1D78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00D691-B0E3-956A-7027-906D11157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3C19E-254A-495D-BE9C-E43A58F44599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84A130-F40A-9735-7E72-254F7AAB4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8B08B9-9116-AFC3-9AA1-A55EDF965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D41D9-BB4B-4600-90A7-E90EB8FC9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027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421CD-D960-EB14-5115-E380A14FC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FE476B-1E8E-F753-2552-099EC44CA5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26C072-10BB-88FC-DDDD-134462F97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3C19E-254A-495D-BE9C-E43A58F44599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BC7665-B3FE-E589-A3C5-4EDF06816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DF63E5-8D3E-0753-4633-DE414D820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D41D9-BB4B-4600-90A7-E90EB8FC9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611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8A4455-B863-CB24-893A-C49EBD348D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9910E4-29F7-A26A-58AC-255673BDFD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C655F5-576E-BA08-2D8B-7A526E5B9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3C19E-254A-495D-BE9C-E43A58F44599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A1B6DD-F9E2-29F9-735B-21931D402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DF4203-AC3A-336E-8DA8-3E9CDECA3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D41D9-BB4B-4600-90A7-E90EB8FC9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581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1EBCA4-681F-2078-C511-A8BB4491A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F07BF2-7CD7-3EE6-B3FC-193484FBAB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A63660-677F-BD86-E132-E006E66196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F3C19E-254A-495D-BE9C-E43A58F44599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5D82E7-5BD9-41B0-89B5-213E3700E4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0201D7-B8BB-F7FE-BAD2-039E61C941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6D41D9-BB4B-4600-90A7-E90EB8FC9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114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3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96238-006F-B850-0419-BE464BB1DF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/>
              <a:t>使用 </a:t>
            </a:r>
            <a:r>
              <a:rPr lang="en-US" altLang="zh-TW"/>
              <a:t>KiCad </a:t>
            </a:r>
            <a:r>
              <a:rPr lang="zh-TW" altLang="en-US"/>
              <a:t>進行 </a:t>
            </a:r>
            <a:r>
              <a:rPr lang="en-US" altLang="zh-TW"/>
              <a:t>PCB </a:t>
            </a:r>
            <a:r>
              <a:rPr lang="zh-TW" altLang="en-US"/>
              <a:t>設計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812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767D78-2980-13C4-98D7-9584D20D0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BAF57-9A42-EAA9-15BF-836A78B7FE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887307"/>
          </a:xfrm>
        </p:spPr>
        <p:txBody>
          <a:bodyPr>
            <a:normAutofit fontScale="90000"/>
          </a:bodyPr>
          <a:lstStyle/>
          <a:p>
            <a:pPr algn="l"/>
            <a:r>
              <a:rPr lang="zh-TW" altLang="en-US"/>
              <a:t>課程說明：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798A57-F3ED-0040-9816-8B5906D044E4}"/>
              </a:ext>
            </a:extLst>
          </p:cNvPr>
          <p:cNvSpPr txBox="1"/>
          <p:nvPr/>
        </p:nvSpPr>
        <p:spPr>
          <a:xfrm>
            <a:off x="943897" y="1376516"/>
            <a:ext cx="8731045" cy="22398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2400">
                <a:latin typeface="Arial" panose="020B0604020202020204" pitchFamily="34" charset="0"/>
                <a:cs typeface="Arial" panose="020B0604020202020204" pitchFamily="34" charset="0"/>
              </a:rPr>
              <a:t>18 </a:t>
            </a:r>
            <a:r>
              <a:rPr lang="zh-TW" altLang="en-US" sz="2400">
                <a:latin typeface="Arial" panose="020B0604020202020204" pitchFamily="34" charset="0"/>
                <a:cs typeface="Arial" panose="020B0604020202020204" pitchFamily="34" charset="0"/>
              </a:rPr>
              <a:t>週
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PCB </a:t>
            </a:r>
            <a:r>
              <a:rPr lang="zh-TW" altLang="en-US" sz="2400">
                <a:latin typeface="Arial" panose="020B0604020202020204" pitchFamily="34" charset="0"/>
                <a:cs typeface="Arial" panose="020B0604020202020204" pitchFamily="34" charset="0"/>
              </a:rPr>
              <a:t>佈局基礎知識
期末考：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Arduino Uno </a:t>
            </a:r>
            <a:r>
              <a:rPr lang="zh-TW" altLang="en-US" sz="2400">
                <a:latin typeface="Arial" panose="020B0604020202020204" pitchFamily="34" charset="0"/>
                <a:cs typeface="Arial" panose="020B0604020202020204" pitchFamily="34" charset="0"/>
              </a:rPr>
              <a:t>佈局
教材：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KiCad </a:t>
            </a:r>
            <a:r>
              <a:rPr lang="zh-TW" altLang="en-US" sz="2400">
                <a:latin typeface="Arial" panose="020B0604020202020204" pitchFamily="34" charset="0"/>
                <a:cs typeface="Arial" panose="020B0604020202020204" pitchFamily="34" charset="0"/>
              </a:rPr>
              <a:t>設計指南</a:t>
            </a:r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81873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936A7-63CA-AD7E-94EB-E7711C048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827319"/>
          </a:xfrm>
        </p:spPr>
        <p:txBody>
          <a:bodyPr/>
          <a:lstStyle/>
          <a:p>
            <a:r>
              <a:rPr lang="en-US"/>
              <a:t>1: PCB </a:t>
            </a:r>
            <a:r>
              <a:rPr lang="zh-TW" altLang="en-US"/>
              <a:t>簡介與 </a:t>
            </a:r>
            <a:r>
              <a:rPr lang="en-US"/>
              <a:t>KiCad </a:t>
            </a:r>
            <a:r>
              <a:rPr lang="zh-TW" altLang="en-US"/>
              <a:t>介面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82C515-3052-95B0-14FA-5894032D6D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45574"/>
            <a:ext cx="8176260" cy="54498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/>
              <a:t>什麼是 </a:t>
            </a:r>
            <a:r>
              <a:rPr lang="en-US" altLang="zh-TW"/>
              <a:t>PCB</a:t>
            </a:r>
            <a:r>
              <a:rPr lang="zh-TW" altLang="en-US"/>
              <a:t>（印刷電路板）？</a:t>
            </a:r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7D3878B-61FC-AFCA-65AF-CF1FA25755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7370" y="1476317"/>
            <a:ext cx="6617110" cy="4959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77207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587159-3FFA-B700-BE27-1163D750E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6D7EE-B889-6054-BBB9-E4C7B5033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827008"/>
          </a:xfrm>
        </p:spPr>
        <p:txBody>
          <a:bodyPr/>
          <a:lstStyle/>
          <a:p>
            <a:r>
              <a:rPr lang="en-US"/>
              <a:t>1: PCB </a:t>
            </a:r>
            <a:r>
              <a:rPr lang="zh-TW" altLang="en-US"/>
              <a:t>簡介與 </a:t>
            </a:r>
            <a:r>
              <a:rPr lang="en-US"/>
              <a:t>KiCad </a:t>
            </a:r>
            <a:r>
              <a:rPr lang="zh-TW" altLang="en-US"/>
              <a:t>介面</a:t>
            </a:r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EA49F6-D894-B5EB-4DCC-62B8BC9218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7370" y="1692628"/>
            <a:ext cx="6617110" cy="4959632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15F22B2-CA72-3EA8-2942-49245A54ADD0}"/>
              </a:ext>
            </a:extLst>
          </p:cNvPr>
          <p:cNvCxnSpPr>
            <a:cxnSpLocks/>
          </p:cNvCxnSpPr>
          <p:nvPr/>
        </p:nvCxnSpPr>
        <p:spPr>
          <a:xfrm flipH="1">
            <a:off x="8722360" y="2402840"/>
            <a:ext cx="741680" cy="294640"/>
          </a:xfrm>
          <a:prstGeom prst="straightConnector1">
            <a:avLst/>
          </a:prstGeom>
          <a:ln w="317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B578F7D-40F8-0292-B157-591136934A0C}"/>
              </a:ext>
            </a:extLst>
          </p:cNvPr>
          <p:cNvSpPr txBox="1"/>
          <p:nvPr/>
        </p:nvSpPr>
        <p:spPr>
          <a:xfrm>
            <a:off x="9464040" y="2199640"/>
            <a:ext cx="833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/>
              <a:t>走線</a:t>
            </a:r>
            <a:endParaRPr lang="en-US" sz="2400">
              <a:latin typeface="+mj-lt"/>
              <a:cs typeface="Arial" panose="020B0604020202020204" pitchFamily="34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2E7D183-5622-B4B5-CCA8-3D12A656AEEF}"/>
              </a:ext>
            </a:extLst>
          </p:cNvPr>
          <p:cNvCxnSpPr>
            <a:cxnSpLocks/>
          </p:cNvCxnSpPr>
          <p:nvPr/>
        </p:nvCxnSpPr>
        <p:spPr>
          <a:xfrm>
            <a:off x="2372360" y="3865880"/>
            <a:ext cx="1296670" cy="39370"/>
          </a:xfrm>
          <a:prstGeom prst="straightConnector1">
            <a:avLst/>
          </a:prstGeom>
          <a:ln w="317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72B4075E-EB11-E116-CD4B-C0EAD7131B00}"/>
              </a:ext>
            </a:extLst>
          </p:cNvPr>
          <p:cNvSpPr txBox="1"/>
          <p:nvPr/>
        </p:nvSpPr>
        <p:spPr>
          <a:xfrm>
            <a:off x="1219200" y="3698994"/>
            <a:ext cx="12456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+mj-lt"/>
                <a:cs typeface="Arial" panose="020B0604020202020204" pitchFamily="34" charset="0"/>
              </a:rPr>
              <a:t>IC </a:t>
            </a:r>
            <a:r>
              <a:rPr lang="zh-TW" altLang="en-US" sz="2400" b="1"/>
              <a:t>引腳</a:t>
            </a:r>
            <a:r>
              <a:rPr lang="zh-TW" altLang="en-US" sz="2400"/>
              <a:t> </a:t>
            </a:r>
            <a:endParaRPr lang="en-US" sz="2400">
              <a:latin typeface="+mj-lt"/>
              <a:cs typeface="Arial" panose="020B0604020202020204" pitchFamily="34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6383645-2500-BD06-BDA1-604B2871A9A3}"/>
              </a:ext>
            </a:extLst>
          </p:cNvPr>
          <p:cNvCxnSpPr>
            <a:cxnSpLocks/>
          </p:cNvCxnSpPr>
          <p:nvPr/>
        </p:nvCxnSpPr>
        <p:spPr>
          <a:xfrm flipH="1">
            <a:off x="8729980" y="2923540"/>
            <a:ext cx="741680" cy="294640"/>
          </a:xfrm>
          <a:prstGeom prst="straightConnector1">
            <a:avLst/>
          </a:prstGeom>
          <a:ln w="317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5E623B0-C7B1-B7D1-F599-4FCEBC2270B7}"/>
              </a:ext>
            </a:extLst>
          </p:cNvPr>
          <p:cNvSpPr txBox="1"/>
          <p:nvPr/>
        </p:nvSpPr>
        <p:spPr>
          <a:xfrm>
            <a:off x="9464040" y="2697480"/>
            <a:ext cx="833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/>
              <a:t>過孔</a:t>
            </a:r>
            <a:endParaRPr lang="en-US" sz="2400">
              <a:latin typeface="+mj-lt"/>
              <a:cs typeface="Arial" panose="020B0604020202020204" pitchFamily="34" charset="0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49341AFF-1AB2-BA1F-537F-278265BE05D0}"/>
              </a:ext>
            </a:extLst>
          </p:cNvPr>
          <p:cNvSpPr txBox="1">
            <a:spLocks/>
          </p:cNvSpPr>
          <p:nvPr/>
        </p:nvSpPr>
        <p:spPr>
          <a:xfrm>
            <a:off x="0" y="845574"/>
            <a:ext cx="8176260" cy="5449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TW" altLang="en-US"/>
              <a:t>什麼是 </a:t>
            </a:r>
            <a:r>
              <a:rPr lang="en-US" altLang="zh-TW"/>
              <a:t>PCB</a:t>
            </a:r>
            <a:r>
              <a:rPr lang="zh-TW" altLang="en-US"/>
              <a:t>（印刷電路板）？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2509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F44D5-7A8A-C376-3F72-6F7DEF4F4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886313"/>
          </a:xfrm>
        </p:spPr>
        <p:txBody>
          <a:bodyPr/>
          <a:lstStyle/>
          <a:p>
            <a:r>
              <a:rPr lang="en-US" altLang="zh-TW"/>
              <a:t>PCB </a:t>
            </a:r>
            <a:r>
              <a:rPr lang="zh-TW" altLang="en-US"/>
              <a:t>有多少種類型？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D8E58B-FE9E-4C24-DE01-1B9A918187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54608"/>
            <a:ext cx="10515600" cy="5474207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20000"/>
              </a:lnSpc>
            </a:pPr>
            <a:r>
              <a:rPr lang="vi-VN" b="1"/>
              <a:t>Ceramic PCB </a:t>
            </a:r>
            <a:r>
              <a:rPr lang="zh-TW" altLang="en-US"/>
              <a:t>陶瓷電路板 </a:t>
            </a:r>
            <a:endParaRPr lang="en-US" altLang="zh-TW"/>
          </a:p>
          <a:p>
            <a:pPr>
              <a:lnSpc>
                <a:spcPct val="120000"/>
              </a:lnSpc>
            </a:pPr>
            <a:r>
              <a:rPr lang="vi-VN" b="1"/>
              <a:t>Flexible PCB </a:t>
            </a:r>
            <a:r>
              <a:rPr lang="zh-TW" altLang="en-US"/>
              <a:t>軟性電路板 </a:t>
            </a:r>
            <a:endParaRPr lang="en-US" altLang="zh-TW"/>
          </a:p>
          <a:p>
            <a:pPr>
              <a:lnSpc>
                <a:spcPct val="120000"/>
              </a:lnSpc>
            </a:pPr>
            <a:r>
              <a:rPr lang="vi-VN" b="1"/>
              <a:t>FR4 PCB </a:t>
            </a:r>
            <a:r>
              <a:rPr lang="vi-VN"/>
              <a:t>FR4 </a:t>
            </a:r>
            <a:r>
              <a:rPr lang="zh-TW" altLang="en-US"/>
              <a:t>玻璃纖維電路板 </a:t>
            </a:r>
            <a:endParaRPr lang="en-US" altLang="zh-TW"/>
          </a:p>
          <a:p>
            <a:pPr>
              <a:lnSpc>
                <a:spcPct val="120000"/>
              </a:lnSpc>
            </a:pPr>
            <a:r>
              <a:rPr lang="vi-VN" b="1"/>
              <a:t>HDI PCB </a:t>
            </a:r>
            <a:r>
              <a:rPr lang="zh-TW" altLang="en-US"/>
              <a:t>高密度互連板 </a:t>
            </a:r>
            <a:endParaRPr lang="en-US" altLang="zh-TW"/>
          </a:p>
          <a:p>
            <a:pPr>
              <a:lnSpc>
                <a:spcPct val="120000"/>
              </a:lnSpc>
            </a:pPr>
            <a:r>
              <a:rPr lang="vi-VN" b="1"/>
              <a:t>Heavy copper PCB </a:t>
            </a:r>
            <a:r>
              <a:rPr lang="zh-TW" altLang="en-US"/>
              <a:t>厚銅電路板 </a:t>
            </a:r>
            <a:endParaRPr lang="en-US" altLang="zh-TW"/>
          </a:p>
          <a:p>
            <a:pPr>
              <a:lnSpc>
                <a:spcPct val="120000"/>
              </a:lnSpc>
            </a:pPr>
            <a:r>
              <a:rPr lang="vi-VN" b="1"/>
              <a:t>High Tg PCB </a:t>
            </a:r>
            <a:r>
              <a:rPr lang="zh-TW" altLang="en-US"/>
              <a:t>高 </a:t>
            </a:r>
            <a:r>
              <a:rPr lang="vi-VN"/>
              <a:t>Tg </a:t>
            </a:r>
            <a:r>
              <a:rPr lang="zh-TW" altLang="en-US"/>
              <a:t>電路板 </a:t>
            </a:r>
            <a:r>
              <a:rPr lang="en-US" altLang="zh-TW"/>
              <a:t>/ </a:t>
            </a:r>
            <a:r>
              <a:rPr lang="zh-TW" altLang="en-US"/>
              <a:t>高耐熱電路板 </a:t>
            </a:r>
            <a:endParaRPr lang="en-US" altLang="zh-TW"/>
          </a:p>
          <a:p>
            <a:pPr>
              <a:lnSpc>
                <a:spcPct val="120000"/>
              </a:lnSpc>
            </a:pPr>
            <a:r>
              <a:rPr lang="vi-VN" b="1"/>
              <a:t>MC PCB </a:t>
            </a:r>
            <a:r>
              <a:rPr lang="zh-TW" altLang="en-US"/>
              <a:t>金屬基板 </a:t>
            </a:r>
            <a:r>
              <a:rPr lang="en-US" altLang="zh-TW"/>
              <a:t>/ </a:t>
            </a:r>
            <a:r>
              <a:rPr lang="zh-TW" altLang="en-US"/>
              <a:t>鋁基板 </a:t>
            </a:r>
            <a:endParaRPr lang="en-US" altLang="zh-TW"/>
          </a:p>
          <a:p>
            <a:pPr>
              <a:lnSpc>
                <a:spcPct val="120000"/>
              </a:lnSpc>
            </a:pPr>
            <a:r>
              <a:rPr lang="vi-VN" b="1"/>
              <a:t>RF PCB </a:t>
            </a:r>
            <a:r>
              <a:rPr lang="zh-TW" altLang="en-US"/>
              <a:t>射頻電路板 </a:t>
            </a:r>
            <a:r>
              <a:rPr lang="en-US" altLang="zh-TW"/>
              <a:t>/ </a:t>
            </a:r>
            <a:r>
              <a:rPr lang="zh-TW" altLang="en-US"/>
              <a:t>高頻電路板 </a:t>
            </a:r>
            <a:endParaRPr lang="en-US" altLang="zh-TW"/>
          </a:p>
          <a:p>
            <a:pPr>
              <a:lnSpc>
                <a:spcPct val="120000"/>
              </a:lnSpc>
            </a:pPr>
            <a:r>
              <a:rPr lang="vi-VN" b="1"/>
              <a:t>Rigid Flexible PCB </a:t>
            </a:r>
            <a:r>
              <a:rPr lang="zh-TW" altLang="en-US"/>
              <a:t>軟硬結合板 </a:t>
            </a:r>
            <a:endParaRPr lang="en-US" altLang="zh-TW"/>
          </a:p>
          <a:p>
            <a:pPr>
              <a:lnSpc>
                <a:spcPct val="120000"/>
              </a:lnSpc>
            </a:pPr>
            <a:r>
              <a:rPr lang="vi-VN" b="1"/>
              <a:t>Xtra thin PCB </a:t>
            </a:r>
            <a:r>
              <a:rPr lang="zh-TW" altLang="en-US"/>
              <a:t>超薄電路板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4762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FE108F-35DE-C8CC-0DF3-4BB19F445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0F17D9-843A-33D5-284F-B7C85C8F06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54498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600"/>
              <a:t>PCB </a:t>
            </a:r>
            <a:r>
              <a:rPr lang="zh-TW" altLang="en-US" sz="3600"/>
              <a:t>的演變</a:t>
            </a:r>
            <a:endParaRPr lang="en-US" sz="36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127D206-7137-4248-9D66-43079861F1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202" y="1178560"/>
            <a:ext cx="4261936" cy="47650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EC495A1-1F35-F309-EED1-6745E99B2A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8960" y="1563244"/>
            <a:ext cx="6238240" cy="415191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6662C0E-B90D-E93A-BDF3-41C95F615549}"/>
              </a:ext>
            </a:extLst>
          </p:cNvPr>
          <p:cNvSpPr txBox="1"/>
          <p:nvPr/>
        </p:nvSpPr>
        <p:spPr>
          <a:xfrm>
            <a:off x="1715769" y="698956"/>
            <a:ext cx="25022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/>
              <a:t>1950 </a:t>
            </a:r>
            <a:r>
              <a:rPr lang="zh-TW" altLang="en-US" sz="2400"/>
              <a:t>年代的 </a:t>
            </a:r>
            <a:r>
              <a:rPr lang="en-US" sz="2400"/>
              <a:t>PCB</a:t>
            </a:r>
            <a:endParaRPr lang="en-US" sz="22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A992A6-62CC-D4BA-A550-1C9584217A36}"/>
              </a:ext>
            </a:extLst>
          </p:cNvPr>
          <p:cNvSpPr txBox="1"/>
          <p:nvPr/>
        </p:nvSpPr>
        <p:spPr>
          <a:xfrm>
            <a:off x="7733032" y="698955"/>
            <a:ext cx="25022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/>
              <a:t>1970 </a:t>
            </a:r>
            <a:r>
              <a:rPr lang="zh-TW" altLang="en-US" sz="2400"/>
              <a:t>年代的 </a:t>
            </a:r>
            <a:r>
              <a:rPr lang="en-US" sz="2400"/>
              <a:t>PCB</a:t>
            </a:r>
            <a:endParaRPr lang="en-US" sz="22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1FC002-5BEA-6115-1BD1-1E1F101B1F23}"/>
              </a:ext>
            </a:extLst>
          </p:cNvPr>
          <p:cNvSpPr txBox="1"/>
          <p:nvPr/>
        </p:nvSpPr>
        <p:spPr>
          <a:xfrm>
            <a:off x="130810" y="6159044"/>
            <a:ext cx="73063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/>
              <a:t>=&gt; </a:t>
            </a:r>
            <a:r>
              <a:rPr lang="zh-TW" altLang="en-US" sz="2800"/>
              <a:t>更小且更複雜</a:t>
            </a:r>
            <a:r>
              <a:rPr lang="en-US" sz="260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15239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E10DF8-0346-00E9-A9DD-5658DC5A1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FC1583-F336-CFBB-EE83-E608D71052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54498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TW" sz="3600"/>
              <a:t>PCB </a:t>
            </a:r>
            <a:r>
              <a:rPr lang="zh-TW" altLang="en-US" sz="3600"/>
              <a:t>範例：</a:t>
            </a:r>
            <a:r>
              <a:rPr lang="en-US" altLang="zh-TW" sz="3600"/>
              <a:t>iPhone </a:t>
            </a:r>
            <a:r>
              <a:rPr lang="zh-TW" altLang="en-US" sz="3600"/>
              <a:t>主機板的演變</a:t>
            </a:r>
            <a:endParaRPr lang="en-US" sz="36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4C3E9D-F4B8-5F3C-215C-F3D7B26347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60654"/>
            <a:ext cx="12192000" cy="5136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71271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2BDFD7-39BC-95D3-510E-28E9A5A36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7C3246-7D82-667E-D0F6-E39350F51D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8176260" cy="54498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600"/>
              <a:t>PCB </a:t>
            </a:r>
            <a:r>
              <a:rPr lang="zh-TW" altLang="en-US" sz="3600"/>
              <a:t>範例</a:t>
            </a:r>
            <a:r>
              <a:rPr lang="en-US" sz="3600"/>
              <a:t> </a:t>
            </a:r>
          </a:p>
          <a:p>
            <a:pPr marL="0" indent="0">
              <a:buNone/>
            </a:pPr>
            <a:endParaRPr lang="en-US" sz="3600"/>
          </a:p>
        </p:txBody>
      </p:sp>
      <p:pic>
        <p:nvPicPr>
          <p:cNvPr id="2050" name="Picture 2" descr="How to design and reinforce the Rigid Flex PCB – PCB HERO">
            <a:extLst>
              <a:ext uri="{FF2B5EF4-FFF2-40B4-BE49-F238E27FC236}">
                <a16:creationId xmlns:a16="http://schemas.microsoft.com/office/drawing/2014/main" id="{1F973860-6878-9828-CB5E-1FC5AA15BA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1120" y="621792"/>
            <a:ext cx="2597658" cy="2597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42480C4-A95F-BD58-2F58-880BA991BE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9524" y="1143761"/>
            <a:ext cx="4941356" cy="1836885"/>
          </a:xfrm>
          <a:prstGeom prst="rect">
            <a:avLst/>
          </a:prstGeom>
        </p:spPr>
      </p:pic>
      <p:pic>
        <p:nvPicPr>
          <p:cNvPr id="2054" name="Picture 6" descr="RF PCB Design">
            <a:extLst>
              <a:ext uri="{FF2B5EF4-FFF2-40B4-BE49-F238E27FC236}">
                <a16:creationId xmlns:a16="http://schemas.microsoft.com/office/drawing/2014/main" id="{E1D1AFC1-8E42-A90C-8066-655557897E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274320" y="4059251"/>
            <a:ext cx="4930140" cy="2052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1F9A92E-CF9E-FB05-19A5-DC7C82083DD5}"/>
              </a:ext>
            </a:extLst>
          </p:cNvPr>
          <p:cNvSpPr txBox="1"/>
          <p:nvPr/>
        </p:nvSpPr>
        <p:spPr>
          <a:xfrm>
            <a:off x="1341120" y="3033373"/>
            <a:ext cx="1912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/>
              <a:t>柔性 </a:t>
            </a:r>
            <a:r>
              <a:rPr lang="en-US" sz="2400"/>
              <a:t>PCB</a:t>
            </a:r>
            <a:endParaRPr lang="en-US" sz="22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ABB1711-6C83-AB93-C604-EC62C9132F0B}"/>
              </a:ext>
            </a:extLst>
          </p:cNvPr>
          <p:cNvSpPr txBox="1"/>
          <p:nvPr/>
        </p:nvSpPr>
        <p:spPr>
          <a:xfrm>
            <a:off x="6578072" y="3049973"/>
            <a:ext cx="54615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/>
              <a:t>HDI-PCB (</a:t>
            </a:r>
            <a:r>
              <a:rPr lang="zh-TW" altLang="en-US" sz="2400"/>
              <a:t>高密度互連 </a:t>
            </a:r>
            <a:r>
              <a:rPr lang="en-US" sz="2400"/>
              <a:t>PCB</a:t>
            </a:r>
            <a:r>
              <a:rPr lang="en-US" sz="2200"/>
              <a:t>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5405002-A860-5B26-70FE-9A6E3DD51A32}"/>
              </a:ext>
            </a:extLst>
          </p:cNvPr>
          <p:cNvSpPr txBox="1"/>
          <p:nvPr/>
        </p:nvSpPr>
        <p:spPr>
          <a:xfrm>
            <a:off x="1341121" y="6251949"/>
            <a:ext cx="38633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/>
              <a:t>RF-PCB (</a:t>
            </a:r>
            <a:r>
              <a:rPr lang="zh-TW" altLang="en-US" sz="2400"/>
              <a:t>射頻</a:t>
            </a:r>
            <a:r>
              <a:rPr lang="en-US" sz="2200"/>
              <a:t>)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328527AD-E7B0-D467-8784-1B0AC3FBCC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 flipV="1">
            <a:off x="6578072" y="3877355"/>
            <a:ext cx="3424917" cy="2209624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6652DD6F-377F-E7F1-DF12-09F051DA5FDC}"/>
              </a:ext>
            </a:extLst>
          </p:cNvPr>
          <p:cNvSpPr txBox="1"/>
          <p:nvPr/>
        </p:nvSpPr>
        <p:spPr>
          <a:xfrm>
            <a:off x="6578072" y="6112192"/>
            <a:ext cx="23930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/>
              <a:t>陶瓷</a:t>
            </a:r>
            <a:r>
              <a:rPr lang="en-US" sz="2200"/>
              <a:t> PCB</a:t>
            </a:r>
          </a:p>
        </p:txBody>
      </p:sp>
    </p:spTree>
    <p:extLst>
      <p:ext uri="{BB962C8B-B14F-4D97-AF65-F5344CB8AC3E}">
        <p14:creationId xmlns:p14="http://schemas.microsoft.com/office/powerpoint/2010/main" val="11106092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AA33B-602D-9ADC-D813-81DDECEBE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758985"/>
          </a:xfrm>
        </p:spPr>
        <p:txBody>
          <a:bodyPr/>
          <a:lstStyle/>
          <a:p>
            <a:r>
              <a:rPr lang="en-US"/>
              <a:t>2: PCB </a:t>
            </a:r>
            <a:r>
              <a:rPr lang="zh-TW" altLang="en-US"/>
              <a:t>設計流程</a:t>
            </a:r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80A8E51-4EB0-BC60-6CF5-7D7121FBA6F7}"/>
              </a:ext>
            </a:extLst>
          </p:cNvPr>
          <p:cNvSpPr/>
          <p:nvPr/>
        </p:nvSpPr>
        <p:spPr>
          <a:xfrm>
            <a:off x="3974688" y="811163"/>
            <a:ext cx="3134032" cy="58993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/>
              <a:t>構思 </a:t>
            </a: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19DB3E-EB9B-D9C5-0C9B-928B6C460611}"/>
              </a:ext>
            </a:extLst>
          </p:cNvPr>
          <p:cNvSpPr/>
          <p:nvPr/>
        </p:nvSpPr>
        <p:spPr>
          <a:xfrm>
            <a:off x="3974688" y="1865671"/>
            <a:ext cx="3134032" cy="6710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/>
              <a:t>原理圖設計</a:t>
            </a: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59CDC07-A608-58CA-C6DE-2E337F6D6D22}"/>
              </a:ext>
            </a:extLst>
          </p:cNvPr>
          <p:cNvSpPr/>
          <p:nvPr/>
        </p:nvSpPr>
        <p:spPr>
          <a:xfrm>
            <a:off x="3974688" y="3079954"/>
            <a:ext cx="3134032" cy="6710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/>
              <a:t>電路模擬</a:t>
            </a: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655A13A-62E1-3F84-42F6-EB03DB8B3342}"/>
              </a:ext>
            </a:extLst>
          </p:cNvPr>
          <p:cNvSpPr/>
          <p:nvPr/>
        </p:nvSpPr>
        <p:spPr>
          <a:xfrm>
            <a:off x="3974688" y="4360604"/>
            <a:ext cx="3134032" cy="6710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PCB </a:t>
            </a:r>
            <a:r>
              <a:rPr lang="zh-TW" altLang="en-US"/>
              <a:t>設計</a:t>
            </a:r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298FF8A-B2C2-5919-CA4E-2449157988C3}"/>
              </a:ext>
            </a:extLst>
          </p:cNvPr>
          <p:cNvSpPr/>
          <p:nvPr/>
        </p:nvSpPr>
        <p:spPr>
          <a:xfrm>
            <a:off x="3974688" y="5633884"/>
            <a:ext cx="3134032" cy="6710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/>
              <a:t>製造</a:t>
            </a:r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6033DC7-EAAC-5CE6-0CDD-7D9564BA537D}"/>
              </a:ext>
            </a:extLst>
          </p:cNvPr>
          <p:cNvCxnSpPr>
            <a:stCxn id="5" idx="4"/>
            <a:endCxn id="6" idx="0"/>
          </p:cNvCxnSpPr>
          <p:nvPr/>
        </p:nvCxnSpPr>
        <p:spPr>
          <a:xfrm>
            <a:off x="5541704" y="1401098"/>
            <a:ext cx="0" cy="464573"/>
          </a:xfrm>
          <a:prstGeom prst="straightConnector1">
            <a:avLst/>
          </a:prstGeom>
          <a:ln w="254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9E37898-1271-FC15-3237-8F62D4F044BF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>
            <a:off x="5541704" y="2536723"/>
            <a:ext cx="0" cy="543231"/>
          </a:xfrm>
          <a:prstGeom prst="straightConnector1">
            <a:avLst/>
          </a:prstGeom>
          <a:ln w="254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2368E29-68FD-1063-42C2-1B68050508E1}"/>
              </a:ext>
            </a:extLst>
          </p:cNvPr>
          <p:cNvCxnSpPr>
            <a:cxnSpLocks/>
          </p:cNvCxnSpPr>
          <p:nvPr/>
        </p:nvCxnSpPr>
        <p:spPr>
          <a:xfrm>
            <a:off x="5541704" y="3751006"/>
            <a:ext cx="0" cy="614516"/>
          </a:xfrm>
          <a:prstGeom prst="straightConnector1">
            <a:avLst/>
          </a:prstGeom>
          <a:ln w="254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954B4B6-2568-E50E-A3AA-CF2EA32186F0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>
            <a:off x="5541704" y="5031656"/>
            <a:ext cx="0" cy="602228"/>
          </a:xfrm>
          <a:prstGeom prst="straightConnector1">
            <a:avLst/>
          </a:prstGeom>
          <a:ln w="254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6F44927-8E59-D42B-4BF8-A63CB7990566}"/>
              </a:ext>
            </a:extLst>
          </p:cNvPr>
          <p:cNvCxnSpPr>
            <a:stCxn id="7" idx="3"/>
          </p:cNvCxnSpPr>
          <p:nvPr/>
        </p:nvCxnSpPr>
        <p:spPr>
          <a:xfrm>
            <a:off x="7108720" y="3415480"/>
            <a:ext cx="516195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3DBAFF4-D1B4-DB41-D0CA-C5ACFAC63EC2}"/>
              </a:ext>
            </a:extLst>
          </p:cNvPr>
          <p:cNvCxnSpPr>
            <a:cxnSpLocks/>
          </p:cNvCxnSpPr>
          <p:nvPr/>
        </p:nvCxnSpPr>
        <p:spPr>
          <a:xfrm flipV="1">
            <a:off x="7624915" y="2201197"/>
            <a:ext cx="0" cy="1227803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D861AF5-8751-4711-C9E3-37CF21369076}"/>
              </a:ext>
            </a:extLst>
          </p:cNvPr>
          <p:cNvCxnSpPr>
            <a:endCxn id="6" idx="3"/>
          </p:cNvCxnSpPr>
          <p:nvPr/>
        </p:nvCxnSpPr>
        <p:spPr>
          <a:xfrm flipH="1">
            <a:off x="7108720" y="2201197"/>
            <a:ext cx="516195" cy="0"/>
          </a:xfrm>
          <a:prstGeom prst="straightConnector1">
            <a:avLst/>
          </a:prstGeom>
          <a:ln w="254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4231D2A-30B6-ED12-3F80-0BE0769933E4}"/>
              </a:ext>
            </a:extLst>
          </p:cNvPr>
          <p:cNvCxnSpPr>
            <a:cxnSpLocks/>
          </p:cNvCxnSpPr>
          <p:nvPr/>
        </p:nvCxnSpPr>
        <p:spPr>
          <a:xfrm flipH="1">
            <a:off x="3352800" y="4814117"/>
            <a:ext cx="621888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8679CC1-EF72-C464-00C0-F32B95102E34}"/>
              </a:ext>
            </a:extLst>
          </p:cNvPr>
          <p:cNvCxnSpPr>
            <a:cxnSpLocks/>
          </p:cNvCxnSpPr>
          <p:nvPr/>
        </p:nvCxnSpPr>
        <p:spPr>
          <a:xfrm flipV="1">
            <a:off x="3352800" y="2326558"/>
            <a:ext cx="0" cy="2501683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52BCE02-7871-C4A1-C521-29FAB5E0AA7D}"/>
              </a:ext>
            </a:extLst>
          </p:cNvPr>
          <p:cNvCxnSpPr>
            <a:cxnSpLocks/>
          </p:cNvCxnSpPr>
          <p:nvPr/>
        </p:nvCxnSpPr>
        <p:spPr>
          <a:xfrm>
            <a:off x="3344198" y="2326558"/>
            <a:ext cx="621888" cy="0"/>
          </a:xfrm>
          <a:prstGeom prst="straightConnector1">
            <a:avLst/>
          </a:prstGeom>
          <a:ln w="254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0C8B0806-EEDE-42F8-4341-F592A60C8F69}"/>
              </a:ext>
            </a:extLst>
          </p:cNvPr>
          <p:cNvSpPr txBox="1"/>
          <p:nvPr/>
        </p:nvSpPr>
        <p:spPr>
          <a:xfrm>
            <a:off x="3672346" y="1926653"/>
            <a:ext cx="3023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1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83AC909-8F39-0D57-0AD0-B01E43CEC87F}"/>
              </a:ext>
            </a:extLst>
          </p:cNvPr>
          <p:cNvSpPr txBox="1"/>
          <p:nvPr/>
        </p:nvSpPr>
        <p:spPr>
          <a:xfrm>
            <a:off x="3672346" y="3208068"/>
            <a:ext cx="3023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7E2FB51-05A3-D9F5-E96A-F00CECF28B98}"/>
              </a:ext>
            </a:extLst>
          </p:cNvPr>
          <p:cNvSpPr txBox="1"/>
          <p:nvPr/>
        </p:nvSpPr>
        <p:spPr>
          <a:xfrm>
            <a:off x="3680947" y="4458909"/>
            <a:ext cx="3023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300DFEC-594F-7B15-5785-5881E1ACAF1D}"/>
              </a:ext>
            </a:extLst>
          </p:cNvPr>
          <p:cNvSpPr txBox="1"/>
          <p:nvPr/>
        </p:nvSpPr>
        <p:spPr>
          <a:xfrm>
            <a:off x="3680947" y="5709750"/>
            <a:ext cx="3023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AE81875-6A57-969C-D69D-1E47AF9AA57D}"/>
              </a:ext>
            </a:extLst>
          </p:cNvPr>
          <p:cNvSpPr txBox="1"/>
          <p:nvPr/>
        </p:nvSpPr>
        <p:spPr>
          <a:xfrm>
            <a:off x="7624916" y="2433623"/>
            <a:ext cx="744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/>
              <a:t>不佳</a:t>
            </a:r>
            <a:endParaRPr 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DC63385-BC42-97E3-5B9E-AD84AD16374A}"/>
              </a:ext>
            </a:extLst>
          </p:cNvPr>
          <p:cNvSpPr txBox="1"/>
          <p:nvPr/>
        </p:nvSpPr>
        <p:spPr>
          <a:xfrm>
            <a:off x="2608007" y="2650850"/>
            <a:ext cx="7361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/>
              <a:t>需要修改</a:t>
            </a:r>
            <a:endParaRPr 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14FA29E-BF40-4570-0AC8-FF5FAE75C876}"/>
              </a:ext>
            </a:extLst>
          </p:cNvPr>
          <p:cNvSpPr txBox="1"/>
          <p:nvPr/>
        </p:nvSpPr>
        <p:spPr>
          <a:xfrm>
            <a:off x="5541704" y="3874824"/>
            <a:ext cx="17071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/>
              <a:t>正常</a:t>
            </a:r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D3370C7-9A49-EE70-FF63-CD70FD014F7E}"/>
              </a:ext>
            </a:extLst>
          </p:cNvPr>
          <p:cNvSpPr txBox="1"/>
          <p:nvPr/>
        </p:nvSpPr>
        <p:spPr>
          <a:xfrm>
            <a:off x="5541704" y="5177597"/>
            <a:ext cx="17071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/>
              <a:t>製作產品</a:t>
            </a:r>
            <a:endParaRPr lang="en-US"/>
          </a:p>
        </p:txBody>
      </p:sp>
      <p:pic>
        <p:nvPicPr>
          <p:cNvPr id="3072" name="Picture 3071">
            <a:extLst>
              <a:ext uri="{FF2B5EF4-FFF2-40B4-BE49-F238E27FC236}">
                <a16:creationId xmlns:a16="http://schemas.microsoft.com/office/drawing/2014/main" id="{FB27F53C-0571-B22C-7D98-96B6FF1875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991" y="849288"/>
            <a:ext cx="2331682" cy="1729514"/>
          </a:xfrm>
          <a:prstGeom prst="rect">
            <a:avLst/>
          </a:prstGeom>
        </p:spPr>
      </p:pic>
      <p:sp>
        <p:nvSpPr>
          <p:cNvPr id="3073" name="TextBox 3072">
            <a:extLst>
              <a:ext uri="{FF2B5EF4-FFF2-40B4-BE49-F238E27FC236}">
                <a16:creationId xmlns:a16="http://schemas.microsoft.com/office/drawing/2014/main" id="{A9B14388-0F16-A61D-3EE8-66BB790D4139}"/>
              </a:ext>
            </a:extLst>
          </p:cNvPr>
          <p:cNvSpPr txBox="1"/>
          <p:nvPr/>
        </p:nvSpPr>
        <p:spPr>
          <a:xfrm>
            <a:off x="133649" y="935220"/>
            <a:ext cx="3023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1</a:t>
            </a:r>
          </a:p>
        </p:txBody>
      </p:sp>
      <p:pic>
        <p:nvPicPr>
          <p:cNvPr id="3079" name="Picture 4" descr="Best Circuit Simulation Software that You Should Try in 2025">
            <a:extLst>
              <a:ext uri="{FF2B5EF4-FFF2-40B4-BE49-F238E27FC236}">
                <a16:creationId xmlns:a16="http://schemas.microsoft.com/office/drawing/2014/main" id="{8246F2B5-6259-D9A2-2B41-8D0BEE2691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93" y="5004615"/>
            <a:ext cx="3161572" cy="1690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80" name="TextBox 3079">
            <a:extLst>
              <a:ext uri="{FF2B5EF4-FFF2-40B4-BE49-F238E27FC236}">
                <a16:creationId xmlns:a16="http://schemas.microsoft.com/office/drawing/2014/main" id="{F0BBF8FD-BC73-1BDA-593F-A76BA97409A6}"/>
              </a:ext>
            </a:extLst>
          </p:cNvPr>
          <p:cNvSpPr txBox="1"/>
          <p:nvPr/>
        </p:nvSpPr>
        <p:spPr>
          <a:xfrm>
            <a:off x="0" y="4625450"/>
            <a:ext cx="3023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2</a:t>
            </a:r>
          </a:p>
        </p:txBody>
      </p:sp>
      <p:pic>
        <p:nvPicPr>
          <p:cNvPr id="3081" name="Picture 6" descr="PCB Layout: A Comprehensive Guide">
            <a:extLst>
              <a:ext uri="{FF2B5EF4-FFF2-40B4-BE49-F238E27FC236}">
                <a16:creationId xmlns:a16="http://schemas.microsoft.com/office/drawing/2014/main" id="{AF2E75B0-998D-4DDE-D20E-2FE2EC20C5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2129" y="786331"/>
            <a:ext cx="2929316" cy="1909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83" name="TextBox 3082">
            <a:extLst>
              <a:ext uri="{FF2B5EF4-FFF2-40B4-BE49-F238E27FC236}">
                <a16:creationId xmlns:a16="http://schemas.microsoft.com/office/drawing/2014/main" id="{815F479F-EFE3-045F-69CE-11BD7F3FC2AC}"/>
              </a:ext>
            </a:extLst>
          </p:cNvPr>
          <p:cNvSpPr txBox="1"/>
          <p:nvPr/>
        </p:nvSpPr>
        <p:spPr>
          <a:xfrm>
            <a:off x="8519787" y="750554"/>
            <a:ext cx="3023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3</a:t>
            </a:r>
          </a:p>
        </p:txBody>
      </p:sp>
      <p:pic>
        <p:nvPicPr>
          <p:cNvPr id="3085" name="Picture 8" descr="How to Select PCB Manufacturing and Services">
            <a:extLst>
              <a:ext uri="{FF2B5EF4-FFF2-40B4-BE49-F238E27FC236}">
                <a16:creationId xmlns:a16="http://schemas.microsoft.com/office/drawing/2014/main" id="{A9423B29-56F9-8050-ED18-5076E514CC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2127" y="4344457"/>
            <a:ext cx="2929317" cy="2126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86" name="TextBox 3085">
            <a:extLst>
              <a:ext uri="{FF2B5EF4-FFF2-40B4-BE49-F238E27FC236}">
                <a16:creationId xmlns:a16="http://schemas.microsoft.com/office/drawing/2014/main" id="{CC81078E-6BBD-E986-CD71-AF408E21F0EB}"/>
              </a:ext>
            </a:extLst>
          </p:cNvPr>
          <p:cNvSpPr txBox="1"/>
          <p:nvPr/>
        </p:nvSpPr>
        <p:spPr>
          <a:xfrm>
            <a:off x="8519785" y="4360604"/>
            <a:ext cx="3023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7128018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A1625-C196-B7C9-D3DA-7C19AD8B7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2192000" cy="662782"/>
          </a:xfrm>
        </p:spPr>
        <p:txBody>
          <a:bodyPr>
            <a:normAutofit fontScale="90000"/>
          </a:bodyPr>
          <a:lstStyle/>
          <a:p>
            <a:r>
              <a:rPr lang="en-US" altLang="zh-TW"/>
              <a:t>3: </a:t>
            </a:r>
            <a:r>
              <a:rPr lang="zh-TW" altLang="en-US"/>
              <a:t>與 </a:t>
            </a:r>
            <a:r>
              <a:rPr lang="en-US" altLang="zh-TW"/>
              <a:t>PCB </a:t>
            </a:r>
            <a:r>
              <a:rPr lang="zh-TW" altLang="en-US"/>
              <a:t>相關的環境與健康問題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087863-0D13-70E8-CFC5-C1D0F806A7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43819"/>
            <a:ext cx="6219585" cy="367552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TW" altLang="en-US"/>
              <a:t>原材料與資源消耗</a:t>
            </a:r>
            <a:endParaRPr lang="en-US" altLang="zh-TW"/>
          </a:p>
          <a:p>
            <a:pPr>
              <a:lnSpc>
                <a:spcPct val="150000"/>
              </a:lnSpc>
            </a:pPr>
            <a:r>
              <a:rPr lang="zh-TW" altLang="en-US"/>
              <a:t>化學處理與污染</a:t>
            </a:r>
            <a:endParaRPr lang="en-US" altLang="zh-TW"/>
          </a:p>
          <a:p>
            <a:pPr>
              <a:lnSpc>
                <a:spcPct val="150000"/>
              </a:lnSpc>
            </a:pPr>
            <a:r>
              <a:rPr lang="zh-TW" altLang="en-US"/>
              <a:t>高能耗與碳排放</a:t>
            </a:r>
            <a:endParaRPr lang="en-US" altLang="zh-TW"/>
          </a:p>
          <a:p>
            <a:pPr>
              <a:lnSpc>
                <a:spcPct val="150000"/>
              </a:lnSpc>
            </a:pPr>
            <a:r>
              <a:rPr lang="zh-TW" altLang="en-US"/>
              <a:t>電子廢棄物與 </a:t>
            </a:r>
            <a:r>
              <a:rPr lang="en-US" altLang="zh-TW"/>
              <a:t>PCB </a:t>
            </a:r>
            <a:r>
              <a:rPr lang="zh-TW" altLang="en-US"/>
              <a:t>處理</a:t>
            </a:r>
            <a:br>
              <a:rPr lang="zh-TW" altLang="en-US"/>
            </a:br>
            <a:r>
              <a:rPr lang="en-US" altLang="zh-TW"/>
              <a:t>……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6CB8360-2605-23B6-B55A-F4394E5952C8}"/>
              </a:ext>
            </a:extLst>
          </p:cNvPr>
          <p:cNvSpPr txBox="1">
            <a:spLocks/>
          </p:cNvSpPr>
          <p:nvPr/>
        </p:nvSpPr>
        <p:spPr>
          <a:xfrm>
            <a:off x="0" y="681037"/>
            <a:ext cx="12192000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800"/>
              <a:t>3.1</a:t>
            </a:r>
            <a:r>
              <a:rPr lang="zh-TW" altLang="en-US" sz="2800"/>
              <a:t>：</a:t>
            </a:r>
            <a:r>
              <a:rPr lang="en-US" altLang="zh-TW" sz="2800"/>
              <a:t>PCB </a:t>
            </a:r>
            <a:r>
              <a:rPr lang="zh-TW" altLang="en-US" sz="2800"/>
              <a:t>生產對環境的影響</a:t>
            </a:r>
            <a:endParaRPr lang="en-US" sz="26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D710E1E-BDF3-3043-27AE-D697F04AB6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1981" y="1012428"/>
            <a:ext cx="6083710" cy="4060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8468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F3656-D07B-3891-A570-D04484AE9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6BA44-01BA-B478-A7BB-2AC0F0BDB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2192000" cy="662782"/>
          </a:xfrm>
        </p:spPr>
        <p:txBody>
          <a:bodyPr>
            <a:normAutofit fontScale="90000"/>
          </a:bodyPr>
          <a:lstStyle/>
          <a:p>
            <a:r>
              <a:rPr lang="en-US" altLang="zh-TW"/>
              <a:t>3: </a:t>
            </a:r>
            <a:r>
              <a:rPr lang="zh-TW" altLang="en-US"/>
              <a:t>與 </a:t>
            </a:r>
            <a:r>
              <a:rPr lang="en-US" altLang="zh-TW"/>
              <a:t>PCB </a:t>
            </a:r>
            <a:r>
              <a:rPr lang="zh-TW" altLang="en-US"/>
              <a:t>相關的環境與健康問題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A848D7-55A3-38D4-1FE3-3EB0E24CF2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678141"/>
            <a:ext cx="6219585" cy="3675523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TW" altLang="en-US"/>
              <a:t>你並未親手參與設備的生產過程，但他人確實有</a:t>
            </a:r>
            <a:r>
              <a:rPr lang="en-US" altLang="zh-TW"/>
              <a:t>——</a:t>
            </a:r>
            <a:r>
              <a:rPr lang="zh-TW" altLang="en-US"/>
              <a:t>而且通常必須在高溫環境下工作。據記載，科技廠的工人們患有癌症或其他致命疾病的比例較高</a:t>
            </a:r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ABC2727-C36A-377D-89C8-1732688DC50B}"/>
              </a:ext>
            </a:extLst>
          </p:cNvPr>
          <p:cNvSpPr txBox="1">
            <a:spLocks/>
          </p:cNvSpPr>
          <p:nvPr/>
        </p:nvSpPr>
        <p:spPr>
          <a:xfrm>
            <a:off x="0" y="681037"/>
            <a:ext cx="12192000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800"/>
              <a:t>3.2</a:t>
            </a:r>
            <a:r>
              <a:rPr lang="zh-TW" altLang="en-US" sz="2800"/>
              <a:t>：健康問題</a:t>
            </a:r>
            <a:endParaRPr lang="en-US" sz="2600"/>
          </a:p>
        </p:txBody>
      </p:sp>
      <p:pic>
        <p:nvPicPr>
          <p:cNvPr id="5122" name="Picture 2" descr="What is PCB Chemical? and Its Role in PCB Manufacturing | Viasion">
            <a:extLst>
              <a:ext uri="{FF2B5EF4-FFF2-40B4-BE49-F238E27FC236}">
                <a16:creationId xmlns:a16="http://schemas.microsoft.com/office/drawing/2014/main" id="{C934CDC8-8E07-B12B-CC7E-958B48DCC8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9584" y="1343819"/>
            <a:ext cx="5534586" cy="3432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49258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E5438D-9848-C2AA-7BE7-D804A3C9F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D48E6-EE56-649B-0558-7C22DC072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2192000" cy="662782"/>
          </a:xfrm>
        </p:spPr>
        <p:txBody>
          <a:bodyPr>
            <a:normAutofit fontScale="90000"/>
          </a:bodyPr>
          <a:lstStyle/>
          <a:p>
            <a:r>
              <a:rPr lang="en-US" altLang="zh-TW"/>
              <a:t>3: </a:t>
            </a:r>
            <a:r>
              <a:rPr lang="zh-TW" altLang="en-US"/>
              <a:t>與 </a:t>
            </a:r>
            <a:r>
              <a:rPr lang="en-US" altLang="zh-TW"/>
              <a:t>PCB </a:t>
            </a:r>
            <a:r>
              <a:rPr lang="zh-TW" altLang="en-US"/>
              <a:t>相關的環境與健康問題</a:t>
            </a:r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070A65-C9AA-DF87-8ACC-1475990E14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17702"/>
            <a:ext cx="10515600" cy="5570691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TW" altLang="en-US" sz="2600" b="1"/>
              <a:t>一、 生產者的解決方案</a:t>
            </a:r>
            <a:endParaRPr lang="en-US" altLang="zh-TW" sz="2600" b="1"/>
          </a:p>
          <a:p>
            <a:pPr>
              <a:lnSpc>
                <a:spcPct val="150000"/>
              </a:lnSpc>
            </a:pPr>
            <a:r>
              <a:rPr lang="zh-TW" altLang="en-US" sz="2600" b="1"/>
              <a:t>內部化環境成本：</a:t>
            </a:r>
            <a:r>
              <a:rPr lang="zh-TW" altLang="en-US" sz="2600"/>
              <a:t> 將廢棄物管理成本納入產品售價，推動環保設計並延長產品壽命（例如：將耐用度提高一倍）。</a:t>
            </a:r>
          </a:p>
          <a:p>
            <a:pPr>
              <a:lnSpc>
                <a:spcPct val="150000"/>
              </a:lnSpc>
            </a:pPr>
            <a:r>
              <a:rPr lang="zh-TW" altLang="en-US" sz="2600" b="1"/>
              <a:t>採用「綠色」設計：</a:t>
            </a:r>
            <a:r>
              <a:rPr lang="zh-TW" altLang="en-US" sz="2600"/>
              <a:t> 減少有害物質使用，尋找更安全的替代材料。</a:t>
            </a:r>
          </a:p>
          <a:p>
            <a:pPr>
              <a:lnSpc>
                <a:spcPct val="150000"/>
              </a:lnSpc>
            </a:pPr>
            <a:r>
              <a:rPr lang="zh-TW" altLang="en-US" sz="2600" b="1"/>
              <a:t>加強職業健康與環境保護：</a:t>
            </a:r>
            <a:r>
              <a:rPr lang="zh-TW" altLang="en-US" sz="2600"/>
              <a:t> 在生產中落實防護設備（口罩、抽煙過濾器等），嚴禁直接排放化學廢水。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TW" altLang="en-US" sz="2600" b="1"/>
              <a:t>二、 消費者的解決方落實 </a:t>
            </a:r>
            <a:r>
              <a:rPr lang="en-US" altLang="zh-TW" sz="2600" b="1"/>
              <a:t>3R </a:t>
            </a:r>
            <a:r>
              <a:rPr lang="zh-TW" altLang="en-US" sz="2600" b="1"/>
              <a:t>原則：</a:t>
            </a:r>
            <a:r>
              <a:rPr lang="zh-TW" altLang="en-US" sz="2600"/>
              <a:t> 實踐電子垃圾的減量 </a:t>
            </a:r>
            <a:r>
              <a:rPr lang="en-US" altLang="zh-TW" sz="2600"/>
              <a:t>(Reduce)</a:t>
            </a:r>
            <a:r>
              <a:rPr lang="zh-TW" altLang="en-US" sz="2600"/>
              <a:t>、再利用 </a:t>
            </a:r>
            <a:r>
              <a:rPr lang="en-US" altLang="zh-TW" sz="2600"/>
              <a:t>(Reuse) </a:t>
            </a:r>
            <a:r>
              <a:rPr lang="zh-TW" altLang="en-US" sz="2600"/>
              <a:t>與回收 </a:t>
            </a:r>
            <a:r>
              <a:rPr lang="en-US" altLang="zh-TW" sz="2600"/>
              <a:t>(Recycle)</a:t>
            </a:r>
            <a:r>
              <a:rPr lang="zh-TW" altLang="en-US" sz="2600"/>
              <a:t>。</a:t>
            </a:r>
          </a:p>
          <a:p>
            <a:pPr>
              <a:lnSpc>
                <a:spcPct val="150000"/>
              </a:lnSpc>
            </a:pPr>
            <a:r>
              <a:rPr lang="zh-TW" altLang="en-US" sz="2600" b="1"/>
              <a:t>正確投放：</a:t>
            </a:r>
            <a:r>
              <a:rPr lang="zh-TW" altLang="en-US" sz="2600"/>
              <a:t> 將電子廢棄物棄置於指定的專業回收點。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1F51425-C907-38F4-448F-693ABFCD6A90}"/>
              </a:ext>
            </a:extLst>
          </p:cNvPr>
          <p:cNvSpPr txBox="1">
            <a:spLocks/>
          </p:cNvSpPr>
          <p:nvPr/>
        </p:nvSpPr>
        <p:spPr>
          <a:xfrm>
            <a:off x="0" y="567980"/>
            <a:ext cx="12192000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260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9B826A0-483F-6042-3C05-28335E4BCE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42881"/>
            <a:ext cx="2983509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3.3：如何解決問題</a:t>
            </a:r>
          </a:p>
        </p:txBody>
      </p:sp>
    </p:spTree>
    <p:extLst>
      <p:ext uri="{BB962C8B-B14F-4D97-AF65-F5344CB8AC3E}">
        <p14:creationId xmlns:p14="http://schemas.microsoft.com/office/powerpoint/2010/main" val="3902570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9E8802-EF70-ECCA-B79F-61ED075F4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2450B-A85F-F656-8400-3B8ED608C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2192000" cy="662782"/>
          </a:xfrm>
        </p:spPr>
        <p:txBody>
          <a:bodyPr>
            <a:normAutofit fontScale="90000"/>
          </a:bodyPr>
          <a:lstStyle/>
          <a:p>
            <a:r>
              <a:rPr lang="en-US"/>
              <a:t>4：PCB </a:t>
            </a:r>
            <a:r>
              <a:rPr lang="zh-TW" altLang="en-US"/>
              <a:t>設計簡介</a:t>
            </a:r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E88B032-1927-FA35-566C-49D226A6B9F4}"/>
              </a:ext>
            </a:extLst>
          </p:cNvPr>
          <p:cNvSpPr txBox="1">
            <a:spLocks/>
          </p:cNvSpPr>
          <p:nvPr/>
        </p:nvSpPr>
        <p:spPr>
          <a:xfrm>
            <a:off x="0" y="567980"/>
            <a:ext cx="12192000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600"/>
              <a:t>4.1：PCB </a:t>
            </a:r>
            <a:r>
              <a:rPr lang="zh-TW" altLang="en-US" sz="2600"/>
              <a:t>設計軟體</a:t>
            </a:r>
            <a:endParaRPr lang="en-US" sz="260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A445E21-D8DB-921F-A7E7-A6F76CB5CB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4031" y="639245"/>
            <a:ext cx="3343275" cy="1362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42706C2-01F3-A650-F29D-420A1D40A183}"/>
              </a:ext>
            </a:extLst>
          </p:cNvPr>
          <p:cNvSpPr txBox="1"/>
          <p:nvPr/>
        </p:nvSpPr>
        <p:spPr>
          <a:xfrm>
            <a:off x="-2" y="6482462"/>
            <a:ext cx="62063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https://www.kicad.org/download/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E26ADF-7915-6113-5085-1EF57E7735A7}"/>
              </a:ext>
            </a:extLst>
          </p:cNvPr>
          <p:cNvSpPr txBox="1"/>
          <p:nvPr/>
        </p:nvSpPr>
        <p:spPr>
          <a:xfrm>
            <a:off x="-1" y="1170323"/>
            <a:ext cx="793403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/>
              <a:t>KiCad =「Ki」+ </a:t>
            </a:r>
            <a:r>
              <a:rPr lang="zh-TW" altLang="en-US" sz="2400"/>
              <a:t>電腦輔助設計（</a:t>
            </a:r>
            <a:r>
              <a:rPr lang="en-US" sz="2400"/>
              <a:t>Computer Aided Design）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0D63A5-603E-D9E3-72C7-EB23021044F6}"/>
              </a:ext>
            </a:extLst>
          </p:cNvPr>
          <p:cNvSpPr txBox="1"/>
          <p:nvPr/>
        </p:nvSpPr>
        <p:spPr>
          <a:xfrm>
            <a:off x="0" y="2213306"/>
            <a:ext cx="11544086" cy="1698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/>
              <a:t>「Ki」</a:t>
            </a:r>
            <a:r>
              <a:rPr lang="zh-TW" altLang="en-US" sz="2400"/>
              <a:t>一詞源自原始軟體作者 </a:t>
            </a:r>
            <a:r>
              <a:rPr lang="en-US" sz="2400"/>
              <a:t>Jean-Pierre Charras </a:t>
            </a:r>
            <a:r>
              <a:rPr lang="zh-TW" altLang="en-US" sz="2400"/>
              <a:t>所熟悉的一家公司。
</a:t>
            </a:r>
            <a:r>
              <a:rPr lang="en-US" sz="2400"/>
              <a:t>Computer Aided Design </a:t>
            </a:r>
            <a:r>
              <a:rPr lang="zh-TW" altLang="en-US" sz="2400"/>
              <a:t>指的是利用電腦來進行設計的建立、修改、分析或最佳化。
</a:t>
            </a:r>
            <a:r>
              <a:rPr lang="en-US" sz="2400"/>
              <a:t>KiCad </a:t>
            </a:r>
            <a:r>
              <a:rPr lang="zh-TW" altLang="en-US" sz="2400"/>
              <a:t>是一套開源的電子設計自動化軟體工具。</a:t>
            </a:r>
            <a:endParaRPr lang="en-US" sz="24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62E2AB-EA8A-DF01-1823-ACDAB80EF985}"/>
              </a:ext>
            </a:extLst>
          </p:cNvPr>
          <p:cNvSpPr txBox="1"/>
          <p:nvPr/>
        </p:nvSpPr>
        <p:spPr>
          <a:xfrm>
            <a:off x="1" y="5116013"/>
            <a:ext cx="1219199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400"/>
              <a:t>可用於設計 </a:t>
            </a:r>
            <a:r>
              <a:rPr lang="en-US" altLang="zh-TW" sz="2400"/>
              <a:t>PCB </a:t>
            </a:r>
            <a:r>
              <a:rPr lang="zh-TW" altLang="en-US" sz="2400"/>
              <a:t>的軟體有很多種，</a:t>
            </a:r>
            <a:r>
              <a:rPr lang="en-US" altLang="zh-TW" sz="2400"/>
              <a:t>KiCad </a:t>
            </a:r>
            <a:r>
              <a:rPr lang="zh-TW" altLang="en-US" sz="2400"/>
              <a:t>是一個免費且非常優秀的替代方案，廣泛被業餘愛好者與專業人士使用。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100473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A0162-F1E7-C99A-0312-C08E7D7CE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C02F8-E71A-9C6A-4808-94A9336B6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2192000" cy="662782"/>
          </a:xfrm>
        </p:spPr>
        <p:txBody>
          <a:bodyPr>
            <a:normAutofit fontScale="90000"/>
          </a:bodyPr>
          <a:lstStyle/>
          <a:p>
            <a:r>
              <a:rPr lang="en-US"/>
              <a:t>4：PCB </a:t>
            </a:r>
            <a:r>
              <a:rPr lang="zh-TW" altLang="en-US"/>
              <a:t>設計簡介</a:t>
            </a:r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C49C8CA-FE87-20AC-3B0A-60FD519E31F4}"/>
              </a:ext>
            </a:extLst>
          </p:cNvPr>
          <p:cNvSpPr txBox="1">
            <a:spLocks/>
          </p:cNvSpPr>
          <p:nvPr/>
        </p:nvSpPr>
        <p:spPr>
          <a:xfrm>
            <a:off x="0" y="567980"/>
            <a:ext cx="12192000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600"/>
              <a:t>4.2</a:t>
            </a:r>
            <a:r>
              <a:rPr lang="zh-TW" altLang="en-US" sz="2600"/>
              <a:t>：如何安裝</a:t>
            </a:r>
            <a:endParaRPr lang="en-US" sz="260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023EA42-A8FB-D5D3-1509-F3FDFE6771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9410" y="1119830"/>
            <a:ext cx="8413845" cy="461834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788CA88-E653-2C20-4651-005985AEA055}"/>
              </a:ext>
            </a:extLst>
          </p:cNvPr>
          <p:cNvSpPr/>
          <p:nvPr/>
        </p:nvSpPr>
        <p:spPr>
          <a:xfrm>
            <a:off x="4525444" y="3089348"/>
            <a:ext cx="6434920" cy="219057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BD9CC1C-D330-E9A7-C446-F52E9E105BD1}"/>
              </a:ext>
            </a:extLst>
          </p:cNvPr>
          <p:cNvSpPr txBox="1">
            <a:spLocks/>
          </p:cNvSpPr>
          <p:nvPr/>
        </p:nvSpPr>
        <p:spPr>
          <a:xfrm>
            <a:off x="0" y="1313053"/>
            <a:ext cx="302980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2600"/>
              <a:t>步驟 </a:t>
            </a:r>
            <a:r>
              <a:rPr lang="en-US" altLang="zh-TW" sz="2600"/>
              <a:t>1</a:t>
            </a:r>
            <a:r>
              <a:rPr lang="zh-TW" altLang="en-US" sz="2600"/>
              <a:t>：選擇你的作業系統</a:t>
            </a:r>
            <a:endParaRPr lang="en-US" sz="2600"/>
          </a:p>
        </p:txBody>
      </p:sp>
    </p:spTree>
    <p:extLst>
      <p:ext uri="{BB962C8B-B14F-4D97-AF65-F5344CB8AC3E}">
        <p14:creationId xmlns:p14="http://schemas.microsoft.com/office/powerpoint/2010/main" val="41798052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D4E704-D58E-D747-4FC2-6779A7FDB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CC0A3142-FB3E-68E8-6C68-F7C6E8B81D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30762"/>
            <a:ext cx="12192000" cy="4398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F80FF2F-CC3E-D5BF-8210-7ED4B7491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2192000" cy="662782"/>
          </a:xfrm>
        </p:spPr>
        <p:txBody>
          <a:bodyPr>
            <a:normAutofit fontScale="90000"/>
          </a:bodyPr>
          <a:lstStyle/>
          <a:p>
            <a:r>
              <a:rPr lang="en-US"/>
              <a:t>4：PCB </a:t>
            </a:r>
            <a:r>
              <a:rPr lang="zh-TW" altLang="en-US"/>
              <a:t>設計簡介</a:t>
            </a:r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023A200-701E-FA6C-51B8-E5C733F1B0A7}"/>
              </a:ext>
            </a:extLst>
          </p:cNvPr>
          <p:cNvSpPr txBox="1">
            <a:spLocks/>
          </p:cNvSpPr>
          <p:nvPr/>
        </p:nvSpPr>
        <p:spPr>
          <a:xfrm>
            <a:off x="0" y="567980"/>
            <a:ext cx="12192000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600"/>
              <a:t>4.2</a:t>
            </a:r>
            <a:r>
              <a:rPr lang="zh-TW" altLang="en-US" sz="2600"/>
              <a:t>：如何安裝</a:t>
            </a:r>
            <a:endParaRPr lang="en-US" sz="260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C018F94D-2AB4-DD2F-A1DE-F7105F04E021}"/>
              </a:ext>
            </a:extLst>
          </p:cNvPr>
          <p:cNvSpPr txBox="1">
            <a:spLocks/>
          </p:cNvSpPr>
          <p:nvPr/>
        </p:nvSpPr>
        <p:spPr>
          <a:xfrm>
            <a:off x="0" y="5845570"/>
            <a:ext cx="811161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2600"/>
              <a:t>步驟 </a:t>
            </a:r>
            <a:r>
              <a:rPr lang="en-US" altLang="zh-TW" sz="2600"/>
              <a:t>2</a:t>
            </a:r>
            <a:r>
              <a:rPr lang="zh-TW" altLang="en-US" sz="2600"/>
              <a:t>：選擇下載伺服器</a:t>
            </a:r>
            <a:endParaRPr lang="en-US" sz="26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A8C30D5-06C0-F1D3-C07D-B6859B66F7B0}"/>
              </a:ext>
            </a:extLst>
          </p:cNvPr>
          <p:cNvSpPr/>
          <p:nvPr/>
        </p:nvSpPr>
        <p:spPr>
          <a:xfrm>
            <a:off x="228599" y="3959942"/>
            <a:ext cx="11702845" cy="1548581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9919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10F0F-6BB4-AF0E-3BF3-E7EF5AE26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E065118-186A-AF54-AB62-EC55C3A3DC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2838" y="1382846"/>
            <a:ext cx="5906324" cy="458216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C5C20CA-4638-F9DD-EBE6-AC9202C1F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2192000" cy="662782"/>
          </a:xfrm>
        </p:spPr>
        <p:txBody>
          <a:bodyPr>
            <a:normAutofit fontScale="90000"/>
          </a:bodyPr>
          <a:lstStyle/>
          <a:p>
            <a:r>
              <a:rPr lang="en-US"/>
              <a:t>4：PCB </a:t>
            </a:r>
            <a:r>
              <a:rPr lang="zh-TW" altLang="en-US"/>
              <a:t>設計簡介</a:t>
            </a:r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A9BC6EE-6A6F-A387-895B-916B902EB373}"/>
              </a:ext>
            </a:extLst>
          </p:cNvPr>
          <p:cNvSpPr txBox="1">
            <a:spLocks/>
          </p:cNvSpPr>
          <p:nvPr/>
        </p:nvSpPr>
        <p:spPr>
          <a:xfrm>
            <a:off x="0" y="567980"/>
            <a:ext cx="12192000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600"/>
              <a:t>4.2</a:t>
            </a:r>
            <a:r>
              <a:rPr lang="zh-TW" altLang="en-US" sz="2600"/>
              <a:t>：如何安裝</a:t>
            </a:r>
            <a:endParaRPr lang="en-US" sz="260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5AA8ECE9-A987-D33B-92DA-8C1B0E66490A}"/>
              </a:ext>
            </a:extLst>
          </p:cNvPr>
          <p:cNvSpPr txBox="1">
            <a:spLocks/>
          </p:cNvSpPr>
          <p:nvPr/>
        </p:nvSpPr>
        <p:spPr>
          <a:xfrm>
            <a:off x="0" y="1051455"/>
            <a:ext cx="8111613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2600"/>
              <a:t>步驟 </a:t>
            </a:r>
            <a:r>
              <a:rPr lang="en-US" altLang="zh-TW" sz="2600"/>
              <a:t>3</a:t>
            </a:r>
            <a:r>
              <a:rPr lang="zh-TW" altLang="en-US" sz="2600"/>
              <a:t>：安裝</a:t>
            </a:r>
            <a:endParaRPr lang="en-US" sz="26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8D413CE-2A8D-2A14-EAA0-69964AFED114}"/>
              </a:ext>
            </a:extLst>
          </p:cNvPr>
          <p:cNvSpPr/>
          <p:nvPr/>
        </p:nvSpPr>
        <p:spPr>
          <a:xfrm>
            <a:off x="6894870" y="5512024"/>
            <a:ext cx="1091381" cy="39083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4709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09EDC-F1F8-8CDB-F3B9-A4F224E7C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5A47E93-95D9-01C2-5E6F-A5D46E2E75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3281" y="1965407"/>
            <a:ext cx="5915851" cy="458216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1537555-2AA0-DC72-AD50-BB1DA9B0B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2192000" cy="662782"/>
          </a:xfrm>
        </p:spPr>
        <p:txBody>
          <a:bodyPr>
            <a:normAutofit fontScale="90000"/>
          </a:bodyPr>
          <a:lstStyle/>
          <a:p>
            <a:r>
              <a:rPr lang="en-US"/>
              <a:t>4：PCB </a:t>
            </a:r>
            <a:r>
              <a:rPr lang="zh-TW" altLang="en-US"/>
              <a:t>設計簡介</a:t>
            </a:r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03176AB-6D0E-01C8-0847-182364B6C091}"/>
              </a:ext>
            </a:extLst>
          </p:cNvPr>
          <p:cNvSpPr txBox="1">
            <a:spLocks/>
          </p:cNvSpPr>
          <p:nvPr/>
        </p:nvSpPr>
        <p:spPr>
          <a:xfrm>
            <a:off x="0" y="501614"/>
            <a:ext cx="12192000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600"/>
              <a:t>4.2</a:t>
            </a:r>
            <a:r>
              <a:rPr lang="zh-TW" altLang="en-US" sz="2600"/>
              <a:t>：如何安裝</a:t>
            </a:r>
            <a:endParaRPr lang="en-US" sz="260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1672434F-D811-D3ED-D680-F63E409D2DF4}"/>
              </a:ext>
            </a:extLst>
          </p:cNvPr>
          <p:cNvSpPr txBox="1">
            <a:spLocks/>
          </p:cNvSpPr>
          <p:nvPr/>
        </p:nvSpPr>
        <p:spPr>
          <a:xfrm>
            <a:off x="0" y="951272"/>
            <a:ext cx="8111613" cy="952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2400"/>
              <a:t>步驟 </a:t>
            </a:r>
            <a:r>
              <a:rPr lang="en-US" altLang="zh-TW" sz="2400"/>
              <a:t>3</a:t>
            </a:r>
            <a:r>
              <a:rPr lang="zh-TW" altLang="en-US" sz="2400"/>
              <a:t>：安裝
一路按「</a:t>
            </a:r>
            <a:r>
              <a:rPr lang="en-US" sz="2400"/>
              <a:t>Next」</a:t>
            </a:r>
            <a:r>
              <a:rPr lang="zh-TW" altLang="en-US" sz="2400"/>
              <a:t>直到最後，再按「</a:t>
            </a:r>
            <a:r>
              <a:rPr lang="en-US" sz="2400"/>
              <a:t>Install」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BD872C1-F55E-B0F6-1CF5-53727C71833E}"/>
              </a:ext>
            </a:extLst>
          </p:cNvPr>
          <p:cNvSpPr/>
          <p:nvPr/>
        </p:nvSpPr>
        <p:spPr>
          <a:xfrm>
            <a:off x="6238566" y="6094603"/>
            <a:ext cx="980769" cy="39083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8626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32105F-B423-EF91-314D-6EA39E93A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C829E-7775-D29E-CF79-A8D219B09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2192000" cy="662782"/>
          </a:xfrm>
        </p:spPr>
        <p:txBody>
          <a:bodyPr>
            <a:normAutofit fontScale="90000"/>
          </a:bodyPr>
          <a:lstStyle/>
          <a:p>
            <a:r>
              <a:rPr lang="en-US"/>
              <a:t>4：PCB </a:t>
            </a:r>
            <a:r>
              <a:rPr lang="zh-TW" altLang="en-US"/>
              <a:t>設計簡介</a:t>
            </a:r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88BA64C-94E8-ED67-76CE-0CA3337EB402}"/>
              </a:ext>
            </a:extLst>
          </p:cNvPr>
          <p:cNvSpPr txBox="1">
            <a:spLocks/>
          </p:cNvSpPr>
          <p:nvPr/>
        </p:nvSpPr>
        <p:spPr>
          <a:xfrm>
            <a:off x="0" y="501614"/>
            <a:ext cx="12192000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600"/>
              <a:t>4.2</a:t>
            </a:r>
            <a:r>
              <a:rPr lang="zh-TW" altLang="en-US" sz="2600"/>
              <a:t>：如何安裝</a:t>
            </a:r>
            <a:endParaRPr lang="en-US" sz="26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C2657A-1A20-11FD-7A73-37936BD9AB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9806" y="1068532"/>
            <a:ext cx="6979537" cy="4979152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F3492DEB-CFA6-B2FB-8DD6-0FA7058E1352}"/>
              </a:ext>
            </a:extLst>
          </p:cNvPr>
          <p:cNvSpPr txBox="1">
            <a:spLocks/>
          </p:cNvSpPr>
          <p:nvPr/>
        </p:nvSpPr>
        <p:spPr>
          <a:xfrm>
            <a:off x="0" y="6103787"/>
            <a:ext cx="12192000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2600"/>
              <a:t>啟動軟體</a:t>
            </a:r>
            <a:endParaRPr lang="en-US" sz="2600"/>
          </a:p>
        </p:txBody>
      </p:sp>
    </p:spTree>
    <p:extLst>
      <p:ext uri="{BB962C8B-B14F-4D97-AF65-F5344CB8AC3E}">
        <p14:creationId xmlns:p14="http://schemas.microsoft.com/office/powerpoint/2010/main" val="36841821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EB8205-E0E1-7B30-26D3-2C9436E92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35008-1348-7044-104C-892ABB369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2192000" cy="662782"/>
          </a:xfrm>
        </p:spPr>
        <p:txBody>
          <a:bodyPr>
            <a:normAutofit fontScale="90000"/>
          </a:bodyPr>
          <a:lstStyle/>
          <a:p>
            <a:r>
              <a:rPr lang="en-US"/>
              <a:t>4：PCB </a:t>
            </a:r>
            <a:r>
              <a:rPr lang="zh-TW" altLang="en-US"/>
              <a:t>設計簡介</a:t>
            </a:r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3276FAD-C794-8EEB-1AC1-797D19847C62}"/>
              </a:ext>
            </a:extLst>
          </p:cNvPr>
          <p:cNvSpPr txBox="1">
            <a:spLocks/>
          </p:cNvSpPr>
          <p:nvPr/>
        </p:nvSpPr>
        <p:spPr>
          <a:xfrm>
            <a:off x="0" y="501614"/>
            <a:ext cx="12192000" cy="66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2600"/>
              <a:t>啟動軟體</a:t>
            </a:r>
            <a:endParaRPr lang="en-US" sz="26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078CCC-05FB-0502-B203-F2B546E8CF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5606" y="1164396"/>
            <a:ext cx="6979537" cy="497915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49DF988-E61D-C5D5-CB85-236D93A352D0}"/>
              </a:ext>
            </a:extLst>
          </p:cNvPr>
          <p:cNvSpPr/>
          <p:nvPr/>
        </p:nvSpPr>
        <p:spPr>
          <a:xfrm>
            <a:off x="2698956" y="1541206"/>
            <a:ext cx="1961535" cy="444663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408974-88AC-427E-F296-F44ED05ECB25}"/>
              </a:ext>
            </a:extLst>
          </p:cNvPr>
          <p:cNvSpPr txBox="1"/>
          <p:nvPr/>
        </p:nvSpPr>
        <p:spPr>
          <a:xfrm>
            <a:off x="95865" y="2841195"/>
            <a:ext cx="10323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/>
              <a:t>專案檔案總管</a:t>
            </a:r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365E106-EB74-8ED2-A3BF-DAA3AF697DCE}"/>
              </a:ext>
            </a:extLst>
          </p:cNvPr>
          <p:cNvCxnSpPr>
            <a:cxnSpLocks/>
          </p:cNvCxnSpPr>
          <p:nvPr/>
        </p:nvCxnSpPr>
        <p:spPr>
          <a:xfrm>
            <a:off x="1128252" y="3318387"/>
            <a:ext cx="157070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73770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6BCD2-4CBA-77AE-6DA7-06A24A07E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BF74A2D-9708-9EFF-2FED-579BC3DECB65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092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/>
              <a:t>KiCad </a:t>
            </a:r>
            <a:r>
              <a:rPr lang="zh-TW" altLang="en-US" sz="3000"/>
              <a:t>設計流程：</a:t>
            </a:r>
            <a:endParaRPr lang="en-US" sz="30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115205-9C8F-3591-6D34-A4BBC43E61B4}"/>
              </a:ext>
            </a:extLst>
          </p:cNvPr>
          <p:cNvSpPr txBox="1"/>
          <p:nvPr/>
        </p:nvSpPr>
        <p:spPr>
          <a:xfrm>
            <a:off x="0" y="429903"/>
            <a:ext cx="9549744" cy="62848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/>
              <a:t>開啟 </a:t>
            </a:r>
            <a:r>
              <a:rPr lang="en-US" altLang="zh-TW"/>
              <a:t>Schematic </a:t>
            </a:r>
            <a:r>
              <a:rPr lang="zh-TW" altLang="en-US"/>
              <a:t>來建立原理圖
視需要使用符號編輯器建立或修改符號
視需要使用計算器驗證元件數值
將元件符號關聯到封裝
視需要使用封裝編輯器建立或修改封裝
從 </a:t>
            </a:r>
            <a:r>
              <a:rPr lang="en-US" altLang="zh-TW"/>
              <a:t>Eeschema </a:t>
            </a:r>
            <a:r>
              <a:rPr lang="zh-TW" altLang="en-US"/>
              <a:t>產生 </a:t>
            </a:r>
            <a:r>
              <a:rPr lang="en-US" altLang="zh-TW"/>
              <a:t>Netlist </a:t>
            </a:r>
            <a:r>
              <a:rPr lang="zh-TW" altLang="en-US"/>
              <a:t>檔案
開啟 </a:t>
            </a:r>
            <a:r>
              <a:rPr lang="en-US" altLang="zh-TW"/>
              <a:t>Pcbnew </a:t>
            </a:r>
            <a:r>
              <a:rPr lang="zh-TW" altLang="en-US"/>
              <a:t>進行 </a:t>
            </a:r>
            <a:r>
              <a:rPr lang="en-US" altLang="zh-TW"/>
              <a:t>PCB </a:t>
            </a:r>
            <a:r>
              <a:rPr lang="zh-TW" altLang="en-US"/>
              <a:t>佈局
匯入 </a:t>
            </a:r>
            <a:r>
              <a:rPr lang="en-US" altLang="zh-TW"/>
              <a:t>Netlist </a:t>
            </a:r>
            <a:r>
              <a:rPr lang="zh-TW" altLang="en-US"/>
              <a:t>檔案
設定板子尺寸、移動元件、佈線、加入過孔等
視需要使用計算器驗證走線寬度與間距
如有需要，將元件封裝關聯到 </a:t>
            </a:r>
            <a:r>
              <a:rPr lang="en-US" altLang="zh-TW"/>
              <a:t>3D </a:t>
            </a:r>
            <a:r>
              <a:rPr lang="zh-TW" altLang="en-US"/>
              <a:t>模型
使用 </a:t>
            </a:r>
            <a:r>
              <a:rPr lang="en-US" altLang="zh-TW"/>
              <a:t>3D </a:t>
            </a:r>
            <a:r>
              <a:rPr lang="zh-TW" altLang="en-US"/>
              <a:t>檢視器目視檢查設計
在 </a:t>
            </a:r>
            <a:r>
              <a:rPr lang="en-US" altLang="zh-TW"/>
              <a:t>Pcbnew </a:t>
            </a:r>
            <a:r>
              <a:rPr lang="zh-TW" altLang="en-US"/>
              <a:t>匯出 </a:t>
            </a:r>
            <a:r>
              <a:rPr lang="en-US" altLang="zh-TW"/>
              <a:t>Gerber </a:t>
            </a:r>
            <a:r>
              <a:rPr lang="zh-TW" altLang="en-US"/>
              <a:t>檔案供製造使用
開啟 </a:t>
            </a:r>
            <a:r>
              <a:rPr lang="en-US" altLang="zh-TW"/>
              <a:t>GerbView </a:t>
            </a:r>
            <a:r>
              <a:rPr lang="zh-TW" altLang="en-US"/>
              <a:t>確認 </a:t>
            </a:r>
            <a:r>
              <a:rPr lang="en-US" altLang="zh-TW"/>
              <a:t>Gerber </a:t>
            </a:r>
            <a:r>
              <a:rPr lang="zh-TW" altLang="en-US"/>
              <a:t>檔案完整性
將 </a:t>
            </a:r>
            <a:r>
              <a:rPr lang="en-US" altLang="zh-TW"/>
              <a:t>Gerber </a:t>
            </a:r>
            <a:r>
              <a:rPr lang="zh-TW" altLang="en-US"/>
              <a:t>檔案送交製造商</a:t>
            </a:r>
            <a:endParaRPr lang="en-US" dirty="0"/>
          </a:p>
        </p:txBody>
      </p:sp>
      <p:pic>
        <p:nvPicPr>
          <p:cNvPr id="12" name="Picture 11" descr="Diagram, schematic&#10;&#10;Description automatically generated">
            <a:extLst>
              <a:ext uri="{FF2B5EF4-FFF2-40B4-BE49-F238E27FC236}">
                <a16:creationId xmlns:a16="http://schemas.microsoft.com/office/drawing/2014/main" id="{47FC2D82-E941-C77B-B3F0-011CDCD8C8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6479" y="-4358"/>
            <a:ext cx="4795521" cy="6872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364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FB739-746F-24E6-F068-709875625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1ADF6A79-9133-0F59-4745-CF1D5886CB1B}"/>
              </a:ext>
            </a:extLst>
          </p:cNvPr>
          <p:cNvSpPr/>
          <p:nvPr/>
        </p:nvSpPr>
        <p:spPr>
          <a:xfrm>
            <a:off x="339216" y="88134"/>
            <a:ext cx="1130707" cy="6330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/>
              <a:t>開始</a:t>
            </a:r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5B43834-245E-05C2-91B3-B63AD002D630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1469923" y="404662"/>
            <a:ext cx="2821856" cy="25706"/>
          </a:xfrm>
          <a:prstGeom prst="straightConnector1">
            <a:avLst/>
          </a:prstGeom>
          <a:ln w="254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A6E14423-5E45-62C4-7043-C7E05CC7A676}"/>
              </a:ext>
            </a:extLst>
          </p:cNvPr>
          <p:cNvSpPr/>
          <p:nvPr/>
        </p:nvSpPr>
        <p:spPr>
          <a:xfrm>
            <a:off x="4291779" y="100987"/>
            <a:ext cx="2015613" cy="65876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建立原理圖</a:t>
            </a:r>
            <a:endParaRPr 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4212710-18EB-2F56-BB07-4312CE654058}"/>
              </a:ext>
            </a:extLst>
          </p:cNvPr>
          <p:cNvSpPr/>
          <p:nvPr/>
        </p:nvSpPr>
        <p:spPr>
          <a:xfrm>
            <a:off x="4291779" y="1087900"/>
            <a:ext cx="2015613" cy="65876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新增元件
（符號）</a:t>
            </a:r>
            <a:endParaRPr 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Diamond 13">
            <a:extLst>
              <a:ext uri="{FF2B5EF4-FFF2-40B4-BE49-F238E27FC236}">
                <a16:creationId xmlns:a16="http://schemas.microsoft.com/office/drawing/2014/main" id="{044948AD-2F19-0551-1860-1F4C25DDFF08}"/>
              </a:ext>
            </a:extLst>
          </p:cNvPr>
          <p:cNvSpPr/>
          <p:nvPr/>
        </p:nvSpPr>
        <p:spPr>
          <a:xfrm>
            <a:off x="3760838" y="2074813"/>
            <a:ext cx="3087329" cy="1297858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元件是否已存在？</a:t>
            </a:r>
            <a:endParaRPr lang="en-US" sz="2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F1F7797-75A2-711C-29D5-B7E94E7C2AF7}"/>
              </a:ext>
            </a:extLst>
          </p:cNvPr>
          <p:cNvSpPr/>
          <p:nvPr/>
        </p:nvSpPr>
        <p:spPr>
          <a:xfrm>
            <a:off x="7769941" y="2399900"/>
            <a:ext cx="2015613" cy="65876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開啟元件庫編輯器</a:t>
            </a:r>
            <a:endParaRPr 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B585CFC-E992-3103-00A6-F363E4799C53}"/>
              </a:ext>
            </a:extLst>
          </p:cNvPr>
          <p:cNvSpPr/>
          <p:nvPr/>
        </p:nvSpPr>
        <p:spPr>
          <a:xfrm>
            <a:off x="10068230" y="2400714"/>
            <a:ext cx="2015613" cy="65876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建立新元件</a:t>
            </a:r>
            <a:endParaRPr 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B0CDE90-1E35-B421-4278-E0E5BCF9E3A9}"/>
              </a:ext>
            </a:extLst>
          </p:cNvPr>
          <p:cNvSpPr/>
          <p:nvPr/>
        </p:nvSpPr>
        <p:spPr>
          <a:xfrm>
            <a:off x="10068229" y="3370931"/>
            <a:ext cx="2015613" cy="65876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檢查重複項目／未接腳位</a:t>
            </a:r>
            <a:endParaRPr 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D8C957B-7374-B1CF-7716-3C47D6603510}"/>
              </a:ext>
            </a:extLst>
          </p:cNvPr>
          <p:cNvSpPr/>
          <p:nvPr/>
        </p:nvSpPr>
        <p:spPr>
          <a:xfrm>
            <a:off x="7167717" y="3372671"/>
            <a:ext cx="2617838" cy="65876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在元件屬性中加入封裝篩選條件</a:t>
            </a:r>
            <a:endParaRPr 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5A149E9-BDEE-983C-1AE5-5338CA1690B5}"/>
              </a:ext>
            </a:extLst>
          </p:cNvPr>
          <p:cNvSpPr/>
          <p:nvPr/>
        </p:nvSpPr>
        <p:spPr>
          <a:xfrm>
            <a:off x="7167717" y="4356520"/>
            <a:ext cx="2617837" cy="65876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在元件庫中儲存／更新元件</a:t>
            </a:r>
            <a:endParaRPr 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E9A580D-5266-D83E-BED9-500576B495F0}"/>
              </a:ext>
            </a:extLst>
          </p:cNvPr>
          <p:cNvSpPr/>
          <p:nvPr/>
        </p:nvSpPr>
        <p:spPr>
          <a:xfrm>
            <a:off x="7167717" y="5329291"/>
            <a:ext cx="2617837" cy="65876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在 </a:t>
            </a:r>
            <a:r>
              <a:rPr 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EESchema </a:t>
            </a:r>
            <a:r>
              <a:rPr lang="zh-TW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中放置元件</a:t>
            </a:r>
            <a:endParaRPr 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3DEECEE-AEB5-6A26-0335-19DCD34E1A3C}"/>
              </a:ext>
            </a:extLst>
          </p:cNvPr>
          <p:cNvSpPr/>
          <p:nvPr/>
        </p:nvSpPr>
        <p:spPr>
          <a:xfrm>
            <a:off x="7769940" y="1087900"/>
            <a:ext cx="3153699" cy="65876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可透過網路、</a:t>
            </a:r>
            <a:r>
              <a:rPr lang="en-US" altLang="zh-TW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git </a:t>
            </a:r>
            <a:r>
              <a:rPr lang="zh-TW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或本地元件庫取得</a:t>
            </a:r>
            <a:endParaRPr 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Diamond 21">
            <a:extLst>
              <a:ext uri="{FF2B5EF4-FFF2-40B4-BE49-F238E27FC236}">
                <a16:creationId xmlns:a16="http://schemas.microsoft.com/office/drawing/2014/main" id="{3B48DC6F-FC7A-6ACA-FF2B-1F71122CE1B7}"/>
              </a:ext>
            </a:extLst>
          </p:cNvPr>
          <p:cNvSpPr/>
          <p:nvPr/>
        </p:nvSpPr>
        <p:spPr>
          <a:xfrm>
            <a:off x="3784171" y="5516104"/>
            <a:ext cx="3087329" cy="1297858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原理圖完成了嗎？</a:t>
            </a:r>
            <a:endParaRPr lang="en-US" sz="2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1BF1055-9D70-522A-6B26-89C33D87E2D7}"/>
              </a:ext>
            </a:extLst>
          </p:cNvPr>
          <p:cNvCxnSpPr>
            <a:stCxn id="10" idx="2"/>
            <a:endCxn id="11" idx="0"/>
          </p:cNvCxnSpPr>
          <p:nvPr/>
        </p:nvCxnSpPr>
        <p:spPr>
          <a:xfrm>
            <a:off x="5299586" y="759749"/>
            <a:ext cx="0" cy="3281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48096FF-BE15-B789-AD86-F5E8F0FDC32A}"/>
              </a:ext>
            </a:extLst>
          </p:cNvPr>
          <p:cNvCxnSpPr>
            <a:stCxn id="11" idx="2"/>
            <a:endCxn id="14" idx="0"/>
          </p:cNvCxnSpPr>
          <p:nvPr/>
        </p:nvCxnSpPr>
        <p:spPr>
          <a:xfrm>
            <a:off x="5299586" y="1746662"/>
            <a:ext cx="4917" cy="3281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109F4A1-5137-C5CD-AA01-0C1ADFFB9A7E}"/>
              </a:ext>
            </a:extLst>
          </p:cNvPr>
          <p:cNvCxnSpPr>
            <a:stCxn id="14" idx="3"/>
            <a:endCxn id="15" idx="1"/>
          </p:cNvCxnSpPr>
          <p:nvPr/>
        </p:nvCxnSpPr>
        <p:spPr>
          <a:xfrm>
            <a:off x="6848167" y="2723742"/>
            <a:ext cx="921774" cy="55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28C331B-F249-CCF3-B5BE-003E1FAA7018}"/>
              </a:ext>
            </a:extLst>
          </p:cNvPr>
          <p:cNvCxnSpPr>
            <a:stCxn id="15" idx="3"/>
            <a:endCxn id="16" idx="1"/>
          </p:cNvCxnSpPr>
          <p:nvPr/>
        </p:nvCxnSpPr>
        <p:spPr>
          <a:xfrm>
            <a:off x="9785554" y="2729281"/>
            <a:ext cx="282676" cy="8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79B907EE-B602-EDBC-755A-EEFB67FB99A1}"/>
              </a:ext>
            </a:extLst>
          </p:cNvPr>
          <p:cNvCxnSpPr>
            <a:cxnSpLocks/>
            <a:stCxn id="16" idx="2"/>
            <a:endCxn id="17" idx="0"/>
          </p:cNvCxnSpPr>
          <p:nvPr/>
        </p:nvCxnSpPr>
        <p:spPr>
          <a:xfrm flipH="1">
            <a:off x="11076036" y="3059476"/>
            <a:ext cx="1" cy="3114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63FB56CE-8093-0380-2434-C7637B235945}"/>
              </a:ext>
            </a:extLst>
          </p:cNvPr>
          <p:cNvCxnSpPr>
            <a:cxnSpLocks/>
            <a:stCxn id="17" idx="1"/>
            <a:endCxn id="18" idx="3"/>
          </p:cNvCxnSpPr>
          <p:nvPr/>
        </p:nvCxnSpPr>
        <p:spPr>
          <a:xfrm flipH="1">
            <a:off x="9785555" y="3700312"/>
            <a:ext cx="282674" cy="17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6FAFBA1A-6F32-5957-DCD6-B329F6BB690A}"/>
              </a:ext>
            </a:extLst>
          </p:cNvPr>
          <p:cNvCxnSpPr>
            <a:stCxn id="18" idx="2"/>
            <a:endCxn id="19" idx="0"/>
          </p:cNvCxnSpPr>
          <p:nvPr/>
        </p:nvCxnSpPr>
        <p:spPr>
          <a:xfrm>
            <a:off x="8476636" y="4031433"/>
            <a:ext cx="0" cy="3250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BC6EFF42-A4D4-3EAD-F0A3-FCF70E7A23F7}"/>
              </a:ext>
            </a:extLst>
          </p:cNvPr>
          <p:cNvCxnSpPr>
            <a:stCxn id="19" idx="2"/>
            <a:endCxn id="20" idx="0"/>
          </p:cNvCxnSpPr>
          <p:nvPr/>
        </p:nvCxnSpPr>
        <p:spPr>
          <a:xfrm>
            <a:off x="8476636" y="5015282"/>
            <a:ext cx="0" cy="3140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66D2F220-0A0B-1D87-6811-05ECD1DE6432}"/>
              </a:ext>
            </a:extLst>
          </p:cNvPr>
          <p:cNvCxnSpPr>
            <a:stCxn id="20" idx="2"/>
          </p:cNvCxnSpPr>
          <p:nvPr/>
        </p:nvCxnSpPr>
        <p:spPr>
          <a:xfrm flipH="1">
            <a:off x="8476635" y="5988053"/>
            <a:ext cx="1" cy="25543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7160DED-CEB7-8F1B-95BD-E78C71948EA9}"/>
              </a:ext>
            </a:extLst>
          </p:cNvPr>
          <p:cNvCxnSpPr>
            <a:cxnSpLocks/>
          </p:cNvCxnSpPr>
          <p:nvPr/>
        </p:nvCxnSpPr>
        <p:spPr>
          <a:xfrm flipH="1">
            <a:off x="6971071" y="6253316"/>
            <a:ext cx="151539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485306A9-EBF1-C35D-7764-2C402644AE43}"/>
              </a:ext>
            </a:extLst>
          </p:cNvPr>
          <p:cNvSpPr txBox="1"/>
          <p:nvPr/>
        </p:nvSpPr>
        <p:spPr>
          <a:xfrm flipH="1">
            <a:off x="6575366" y="2354409"/>
            <a:ext cx="484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/>
              <a:t>否</a:t>
            </a:r>
            <a:endParaRPr lang="en-US"/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AC20D087-40A5-6DE8-1CA5-B499B0A5B0C7}"/>
              </a:ext>
            </a:extLst>
          </p:cNvPr>
          <p:cNvCxnSpPr>
            <a:cxnSpLocks/>
            <a:stCxn id="14" idx="2"/>
          </p:cNvCxnSpPr>
          <p:nvPr/>
        </p:nvCxnSpPr>
        <p:spPr>
          <a:xfrm>
            <a:off x="5304503" y="3372671"/>
            <a:ext cx="0" cy="164261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7661BD76-0E87-FCE4-77AF-DD6C01B67644}"/>
              </a:ext>
            </a:extLst>
          </p:cNvPr>
          <p:cNvCxnSpPr/>
          <p:nvPr/>
        </p:nvCxnSpPr>
        <p:spPr>
          <a:xfrm>
            <a:off x="5835443" y="5516104"/>
            <a:ext cx="122411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80A3A56F-6140-EF3A-36E7-BCE3D4891573}"/>
              </a:ext>
            </a:extLst>
          </p:cNvPr>
          <p:cNvSpPr txBox="1"/>
          <p:nvPr/>
        </p:nvSpPr>
        <p:spPr>
          <a:xfrm flipH="1">
            <a:off x="5265174" y="3546572"/>
            <a:ext cx="7294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/>
              <a:t>是</a:t>
            </a:r>
            <a:endParaRPr lang="en-US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5A60F2C8-8848-A2EF-DFD2-C608B15ED405}"/>
              </a:ext>
            </a:extLst>
          </p:cNvPr>
          <p:cNvCxnSpPr>
            <a:stCxn id="22" idx="1"/>
          </p:cNvCxnSpPr>
          <p:nvPr/>
        </p:nvCxnSpPr>
        <p:spPr>
          <a:xfrm flipH="1" flipV="1">
            <a:off x="2005782" y="6154994"/>
            <a:ext cx="1778389" cy="1003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24F50AF8-B197-C212-FF5A-316222C2C379}"/>
              </a:ext>
            </a:extLst>
          </p:cNvPr>
          <p:cNvCxnSpPr>
            <a:cxnSpLocks/>
          </p:cNvCxnSpPr>
          <p:nvPr/>
        </p:nvCxnSpPr>
        <p:spPr>
          <a:xfrm flipV="1">
            <a:off x="2005782" y="1398639"/>
            <a:ext cx="0" cy="476618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9542F91D-BED2-05EA-45E5-0546477863D1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2005782" y="1398639"/>
            <a:ext cx="2285997" cy="186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53484617-3C42-95BE-71C1-8F6661FC1243}"/>
              </a:ext>
            </a:extLst>
          </p:cNvPr>
          <p:cNvSpPr txBox="1"/>
          <p:nvPr/>
        </p:nvSpPr>
        <p:spPr>
          <a:xfrm flipH="1">
            <a:off x="2800955" y="5852029"/>
            <a:ext cx="484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/>
              <a:t>否</a:t>
            </a:r>
            <a:endParaRPr lang="en-US"/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5725258F-976A-2F26-BD93-78FED8CB0344}"/>
              </a:ext>
            </a:extLst>
          </p:cNvPr>
          <p:cNvCxnSpPr>
            <a:stCxn id="22" idx="2"/>
          </p:cNvCxnSpPr>
          <p:nvPr/>
        </p:nvCxnSpPr>
        <p:spPr>
          <a:xfrm>
            <a:off x="5327836" y="6813962"/>
            <a:ext cx="421928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9ACBA09B-F86D-4C20-7A94-D8E98384894D}"/>
              </a:ext>
            </a:extLst>
          </p:cNvPr>
          <p:cNvSpPr txBox="1"/>
          <p:nvPr/>
        </p:nvSpPr>
        <p:spPr>
          <a:xfrm flipH="1">
            <a:off x="6864167" y="6486210"/>
            <a:ext cx="905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/>
              <a:t>是</a:t>
            </a:r>
            <a:endParaRPr lang="en-US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BBAA436-E02D-0C2E-B082-66166EFC17F6}"/>
              </a:ext>
            </a:extLst>
          </p:cNvPr>
          <p:cNvSpPr txBox="1"/>
          <p:nvPr/>
        </p:nvSpPr>
        <p:spPr>
          <a:xfrm>
            <a:off x="9571701" y="6546137"/>
            <a:ext cx="12093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/>
              <a:t>下一份簡報</a:t>
            </a:r>
            <a:endParaRPr lang="en-US"/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28C4BC02-C20E-219A-8954-8B8C84F1A9A9}"/>
              </a:ext>
            </a:extLst>
          </p:cNvPr>
          <p:cNvCxnSpPr/>
          <p:nvPr/>
        </p:nvCxnSpPr>
        <p:spPr>
          <a:xfrm>
            <a:off x="5299585" y="5015282"/>
            <a:ext cx="53585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49D2AEC8-B011-0D52-0C0B-275BE4F4E288}"/>
              </a:ext>
            </a:extLst>
          </p:cNvPr>
          <p:cNvCxnSpPr/>
          <p:nvPr/>
        </p:nvCxnSpPr>
        <p:spPr>
          <a:xfrm>
            <a:off x="5835443" y="5015282"/>
            <a:ext cx="0" cy="50082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Rectangle 86">
            <a:extLst>
              <a:ext uri="{FF2B5EF4-FFF2-40B4-BE49-F238E27FC236}">
                <a16:creationId xmlns:a16="http://schemas.microsoft.com/office/drawing/2014/main" id="{CBA60330-0DA2-7355-2822-72AB1E97A028}"/>
              </a:ext>
            </a:extLst>
          </p:cNvPr>
          <p:cNvSpPr/>
          <p:nvPr/>
        </p:nvSpPr>
        <p:spPr>
          <a:xfrm>
            <a:off x="6971071" y="1986116"/>
            <a:ext cx="5220929" cy="32347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6854FCC1-14F7-26E0-D2DC-ACDD192ECAFC}"/>
              </a:ext>
            </a:extLst>
          </p:cNvPr>
          <p:cNvSpPr txBox="1"/>
          <p:nvPr/>
        </p:nvSpPr>
        <p:spPr>
          <a:xfrm>
            <a:off x="6971070" y="1985597"/>
            <a:ext cx="1905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/>
              <a:t>元件庫編輯器</a:t>
            </a:r>
            <a:endParaRPr lang="en-US"/>
          </a:p>
        </p:txBody>
      </p: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A4E1248E-B5DE-264E-4111-0C28CC4856F6}"/>
              </a:ext>
            </a:extLst>
          </p:cNvPr>
          <p:cNvCxnSpPr>
            <a:stCxn id="21" idx="1"/>
          </p:cNvCxnSpPr>
          <p:nvPr/>
        </p:nvCxnSpPr>
        <p:spPr>
          <a:xfrm flipH="1">
            <a:off x="6096000" y="1417281"/>
            <a:ext cx="1673940" cy="863803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47075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0294859F-7CDD-8768-13F6-94600CED0204}"/>
              </a:ext>
            </a:extLst>
          </p:cNvPr>
          <p:cNvCxnSpPr>
            <a:cxnSpLocks/>
          </p:cNvCxnSpPr>
          <p:nvPr/>
        </p:nvCxnSpPr>
        <p:spPr>
          <a:xfrm flipV="1">
            <a:off x="3038168" y="757187"/>
            <a:ext cx="629264" cy="1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513292F6-3588-7439-F4E5-868E41A2FCEC}"/>
              </a:ext>
            </a:extLst>
          </p:cNvPr>
          <p:cNvSpPr txBox="1"/>
          <p:nvPr/>
        </p:nvSpPr>
        <p:spPr>
          <a:xfrm flipH="1">
            <a:off x="3038168" y="387855"/>
            <a:ext cx="905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/>
              <a:t>是</a:t>
            </a:r>
            <a:endParaRPr lang="en-US"/>
          </a:p>
        </p:txBody>
      </p:sp>
      <p:sp>
        <p:nvSpPr>
          <p:cNvPr id="6" name="Diamond 5">
            <a:extLst>
              <a:ext uri="{FF2B5EF4-FFF2-40B4-BE49-F238E27FC236}">
                <a16:creationId xmlns:a16="http://schemas.microsoft.com/office/drawing/2014/main" id="{914C9103-C15C-B921-A890-BD15AC2D2E7A}"/>
              </a:ext>
            </a:extLst>
          </p:cNvPr>
          <p:cNvSpPr/>
          <p:nvPr/>
        </p:nvSpPr>
        <p:spPr>
          <a:xfrm>
            <a:off x="146235" y="177188"/>
            <a:ext cx="2891933" cy="1159999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原理圖完成了嗎？</a:t>
            </a:r>
            <a:endParaRPr lang="en-US" sz="2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C8C9B75-58E8-8285-4938-E4D5A0B4248C}"/>
              </a:ext>
            </a:extLst>
          </p:cNvPr>
          <p:cNvSpPr/>
          <p:nvPr/>
        </p:nvSpPr>
        <p:spPr>
          <a:xfrm>
            <a:off x="3667432" y="427806"/>
            <a:ext cx="2015613" cy="65876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標註元件</a:t>
            </a:r>
            <a:endParaRPr 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83C1351-1E88-E209-3815-8B6B84F97970}"/>
              </a:ext>
            </a:extLst>
          </p:cNvPr>
          <p:cNvSpPr/>
          <p:nvPr/>
        </p:nvSpPr>
        <p:spPr>
          <a:xfrm>
            <a:off x="3667431" y="1671586"/>
            <a:ext cx="2015613" cy="65876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執行規則檢查</a:t>
            </a:r>
            <a:endParaRPr 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6E50B91-24A7-11F1-5D5A-0A2D1EC55D5B}"/>
              </a:ext>
            </a:extLst>
          </p:cNvPr>
          <p:cNvCxnSpPr>
            <a:stCxn id="10" idx="2"/>
            <a:endCxn id="11" idx="0"/>
          </p:cNvCxnSpPr>
          <p:nvPr/>
        </p:nvCxnSpPr>
        <p:spPr>
          <a:xfrm flipH="1">
            <a:off x="4675238" y="1086568"/>
            <a:ext cx="1" cy="5850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C809743A-B000-10D0-80F5-BBE2A4470E91}"/>
              </a:ext>
            </a:extLst>
          </p:cNvPr>
          <p:cNvSpPr/>
          <p:nvPr/>
        </p:nvSpPr>
        <p:spPr>
          <a:xfrm>
            <a:off x="3667431" y="2915261"/>
            <a:ext cx="2015613" cy="91931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將元件關聯到封裝</a:t>
            </a:r>
            <a:endParaRPr 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7BF0DED-B298-D395-0238-792ADA000E39}"/>
              </a:ext>
            </a:extLst>
          </p:cNvPr>
          <p:cNvCxnSpPr>
            <a:stCxn id="11" idx="2"/>
            <a:endCxn id="14" idx="0"/>
          </p:cNvCxnSpPr>
          <p:nvPr/>
        </p:nvCxnSpPr>
        <p:spPr>
          <a:xfrm>
            <a:off x="4675238" y="2330348"/>
            <a:ext cx="0" cy="5849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Diamond 16">
            <a:extLst>
              <a:ext uri="{FF2B5EF4-FFF2-40B4-BE49-F238E27FC236}">
                <a16:creationId xmlns:a16="http://schemas.microsoft.com/office/drawing/2014/main" id="{02D1149B-54F0-680F-F1B7-6BA0B86119F2}"/>
              </a:ext>
            </a:extLst>
          </p:cNvPr>
          <p:cNvSpPr/>
          <p:nvPr/>
        </p:nvSpPr>
        <p:spPr>
          <a:xfrm>
            <a:off x="3229270" y="4281841"/>
            <a:ext cx="2891933" cy="1159999"/>
          </a:xfrm>
          <a:prstGeom prst="diamon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封裝是否已存在？</a:t>
            </a:r>
            <a:endParaRPr lang="en-US" sz="2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9EA84D0-8FA9-1C77-6045-E0D6920372B8}"/>
              </a:ext>
            </a:extLst>
          </p:cNvPr>
          <p:cNvCxnSpPr>
            <a:stCxn id="17" idx="3"/>
          </p:cNvCxnSpPr>
          <p:nvPr/>
        </p:nvCxnSpPr>
        <p:spPr>
          <a:xfrm flipV="1">
            <a:off x="6121203" y="4861840"/>
            <a:ext cx="436913" cy="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2B56500-EFD4-C9C6-EF1A-740EA8B74680}"/>
              </a:ext>
            </a:extLst>
          </p:cNvPr>
          <p:cNvCxnSpPr/>
          <p:nvPr/>
        </p:nvCxnSpPr>
        <p:spPr>
          <a:xfrm flipV="1">
            <a:off x="6587613" y="427806"/>
            <a:ext cx="0" cy="44340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B6F6002-6BA7-8832-62D1-B79129E17ADD}"/>
              </a:ext>
            </a:extLst>
          </p:cNvPr>
          <p:cNvCxnSpPr/>
          <p:nvPr/>
        </p:nvCxnSpPr>
        <p:spPr>
          <a:xfrm>
            <a:off x="6558116" y="427806"/>
            <a:ext cx="319548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58E19E1-A44B-70E9-5DB6-6305DC284AEB}"/>
              </a:ext>
            </a:extLst>
          </p:cNvPr>
          <p:cNvCxnSpPr/>
          <p:nvPr/>
        </p:nvCxnSpPr>
        <p:spPr>
          <a:xfrm>
            <a:off x="9743768" y="427806"/>
            <a:ext cx="0" cy="3293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F2376C0C-3416-B417-68F3-959A784ECC67}"/>
              </a:ext>
            </a:extLst>
          </p:cNvPr>
          <p:cNvSpPr/>
          <p:nvPr/>
        </p:nvSpPr>
        <p:spPr>
          <a:xfrm>
            <a:off x="8735961" y="757187"/>
            <a:ext cx="2015613" cy="65876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開啟封裝編輯器</a:t>
            </a:r>
            <a:endParaRPr 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9902DFB-E452-59D3-70E9-39A113396DB5}"/>
              </a:ext>
            </a:extLst>
          </p:cNvPr>
          <p:cNvSpPr/>
          <p:nvPr/>
        </p:nvSpPr>
        <p:spPr>
          <a:xfrm>
            <a:off x="8745793" y="1745329"/>
            <a:ext cx="2015613" cy="65876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建立新封裝</a:t>
            </a:r>
            <a:endParaRPr 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6E2C3FA-293C-76C4-8ECD-EE2D56D5ECE7}"/>
              </a:ext>
            </a:extLst>
          </p:cNvPr>
          <p:cNvSpPr/>
          <p:nvPr/>
        </p:nvSpPr>
        <p:spPr>
          <a:xfrm>
            <a:off x="8745793" y="2770238"/>
            <a:ext cx="2015613" cy="65876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儲存封裝</a:t>
            </a:r>
            <a:endParaRPr 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6EBA744-C72B-7F7F-DE03-3A5E92CF7DC4}"/>
              </a:ext>
            </a:extLst>
          </p:cNvPr>
          <p:cNvSpPr/>
          <p:nvPr/>
        </p:nvSpPr>
        <p:spPr>
          <a:xfrm>
            <a:off x="8745793" y="3795147"/>
            <a:ext cx="2015613" cy="65876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開啟 </a:t>
            </a:r>
            <a:r>
              <a:rPr 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EESchema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8AE89FF-2F07-023B-2F82-707D7F0CD116}"/>
              </a:ext>
            </a:extLst>
          </p:cNvPr>
          <p:cNvSpPr txBox="1"/>
          <p:nvPr/>
        </p:nvSpPr>
        <p:spPr>
          <a:xfrm flipH="1">
            <a:off x="6096000" y="4561649"/>
            <a:ext cx="905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/>
              <a:t>否</a:t>
            </a:r>
            <a:endParaRPr lang="en-US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E3B298D-61D9-4BF4-8C04-2F89E7FBAB00}"/>
              </a:ext>
            </a:extLst>
          </p:cNvPr>
          <p:cNvCxnSpPr>
            <a:cxnSpLocks/>
            <a:stCxn id="26" idx="2"/>
            <a:endCxn id="27" idx="0"/>
          </p:cNvCxnSpPr>
          <p:nvPr/>
        </p:nvCxnSpPr>
        <p:spPr>
          <a:xfrm>
            <a:off x="9743768" y="1415949"/>
            <a:ext cx="9832" cy="3293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B4EFC5E-3CB8-FF31-F0AB-B5344FC54E83}"/>
              </a:ext>
            </a:extLst>
          </p:cNvPr>
          <p:cNvCxnSpPr>
            <a:stCxn id="27" idx="2"/>
            <a:endCxn id="28" idx="0"/>
          </p:cNvCxnSpPr>
          <p:nvPr/>
        </p:nvCxnSpPr>
        <p:spPr>
          <a:xfrm>
            <a:off x="9753600" y="2404091"/>
            <a:ext cx="0" cy="3661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D1B3C3CD-4C65-B9EC-9E49-5AF5C283FA3C}"/>
              </a:ext>
            </a:extLst>
          </p:cNvPr>
          <p:cNvCxnSpPr>
            <a:stCxn id="28" idx="2"/>
            <a:endCxn id="29" idx="0"/>
          </p:cNvCxnSpPr>
          <p:nvPr/>
        </p:nvCxnSpPr>
        <p:spPr>
          <a:xfrm>
            <a:off x="9753600" y="3429000"/>
            <a:ext cx="0" cy="3661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E7B8CA1F-185A-92F4-F0E0-E54E8665FE2A}"/>
              </a:ext>
            </a:extLst>
          </p:cNvPr>
          <p:cNvCxnSpPr>
            <a:stCxn id="14" idx="2"/>
            <a:endCxn id="17" idx="0"/>
          </p:cNvCxnSpPr>
          <p:nvPr/>
        </p:nvCxnSpPr>
        <p:spPr>
          <a:xfrm flipH="1">
            <a:off x="4675237" y="3834580"/>
            <a:ext cx="1" cy="4472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17705BE0-1448-1B31-00A6-23A3227C289E}"/>
              </a:ext>
            </a:extLst>
          </p:cNvPr>
          <p:cNvSpPr/>
          <p:nvPr/>
        </p:nvSpPr>
        <p:spPr>
          <a:xfrm>
            <a:off x="3323303" y="5692877"/>
            <a:ext cx="2891933" cy="74693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將元件關聯到封裝</a:t>
            </a:r>
            <a:endParaRPr 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552D9CB9-AE8E-C84F-61B7-CE7828C90A56}"/>
              </a:ext>
            </a:extLst>
          </p:cNvPr>
          <p:cNvCxnSpPr>
            <a:stCxn id="29" idx="2"/>
          </p:cNvCxnSpPr>
          <p:nvPr/>
        </p:nvCxnSpPr>
        <p:spPr>
          <a:xfrm flipH="1">
            <a:off x="9743768" y="4453909"/>
            <a:ext cx="9832" cy="164209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C4256D5A-FC53-7F37-9545-058D2CE67EF5}"/>
              </a:ext>
            </a:extLst>
          </p:cNvPr>
          <p:cNvCxnSpPr>
            <a:endCxn id="40" idx="3"/>
          </p:cNvCxnSpPr>
          <p:nvPr/>
        </p:nvCxnSpPr>
        <p:spPr>
          <a:xfrm flipH="1" flipV="1">
            <a:off x="6215236" y="6066344"/>
            <a:ext cx="3538364" cy="198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5DFB7B5D-6014-3FC3-2103-B09B5E900C31}"/>
              </a:ext>
            </a:extLst>
          </p:cNvPr>
          <p:cNvCxnSpPr>
            <a:stCxn id="17" idx="2"/>
          </p:cNvCxnSpPr>
          <p:nvPr/>
        </p:nvCxnSpPr>
        <p:spPr>
          <a:xfrm>
            <a:off x="4675237" y="5441840"/>
            <a:ext cx="0" cy="2510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0C3450B4-2019-C75B-2321-F45A47967AF5}"/>
              </a:ext>
            </a:extLst>
          </p:cNvPr>
          <p:cNvSpPr txBox="1"/>
          <p:nvPr/>
        </p:nvSpPr>
        <p:spPr>
          <a:xfrm flipH="1">
            <a:off x="4726255" y="5382692"/>
            <a:ext cx="905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/>
              <a:t>是</a:t>
            </a:r>
            <a:endParaRPr lang="en-US"/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FF0C675D-877E-0135-CA6A-D3C43BE55EA7}"/>
              </a:ext>
            </a:extLst>
          </p:cNvPr>
          <p:cNvCxnSpPr>
            <a:stCxn id="40" idx="2"/>
          </p:cNvCxnSpPr>
          <p:nvPr/>
        </p:nvCxnSpPr>
        <p:spPr>
          <a:xfrm flipH="1">
            <a:off x="4769269" y="6439811"/>
            <a:ext cx="1" cy="2657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95DB409B-5061-4D0D-93C1-96EAA1413CA6}"/>
              </a:ext>
            </a:extLst>
          </p:cNvPr>
          <p:cNvSpPr txBox="1"/>
          <p:nvPr/>
        </p:nvSpPr>
        <p:spPr>
          <a:xfrm flipH="1">
            <a:off x="4777272" y="6388040"/>
            <a:ext cx="13187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/>
              <a:t>下一份簡報</a:t>
            </a:r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519A79B-230C-38A6-1E29-C98EEAAE93C2}"/>
              </a:ext>
            </a:extLst>
          </p:cNvPr>
          <p:cNvSpPr/>
          <p:nvPr/>
        </p:nvSpPr>
        <p:spPr>
          <a:xfrm>
            <a:off x="7984419" y="579944"/>
            <a:ext cx="3538362" cy="308732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83CDADD-0D6B-4C39-D7AC-CF7A209F6B1E}"/>
              </a:ext>
            </a:extLst>
          </p:cNvPr>
          <p:cNvSpPr txBox="1"/>
          <p:nvPr/>
        </p:nvSpPr>
        <p:spPr>
          <a:xfrm>
            <a:off x="9783097" y="197754"/>
            <a:ext cx="20156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/>
              <a:t>封裝編輯器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761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5EBC37-A390-F586-31CB-FC2F62E36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3E03CFB-3AD9-A123-289E-3F9CAF7E42F2}"/>
              </a:ext>
            </a:extLst>
          </p:cNvPr>
          <p:cNvSpPr/>
          <p:nvPr/>
        </p:nvSpPr>
        <p:spPr>
          <a:xfrm>
            <a:off x="2034028" y="71235"/>
            <a:ext cx="2891933" cy="74693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將元件關聯到封裝</a:t>
            </a:r>
            <a:endParaRPr 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4EA7B3-8CFF-5D69-BDC9-33227A99D05E}"/>
              </a:ext>
            </a:extLst>
          </p:cNvPr>
          <p:cNvCxnSpPr>
            <a:stCxn id="2" idx="3"/>
          </p:cNvCxnSpPr>
          <p:nvPr/>
        </p:nvCxnSpPr>
        <p:spPr>
          <a:xfrm>
            <a:off x="4925961" y="444702"/>
            <a:ext cx="41295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60D3098-7504-2A14-BCAA-758E9CDBCFF2}"/>
              </a:ext>
            </a:extLst>
          </p:cNvPr>
          <p:cNvCxnSpPr>
            <a:cxnSpLocks/>
            <a:endCxn id="12" idx="0"/>
          </p:cNvCxnSpPr>
          <p:nvPr/>
        </p:nvCxnSpPr>
        <p:spPr>
          <a:xfrm flipH="1">
            <a:off x="5338916" y="444702"/>
            <a:ext cx="9832" cy="4795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2BE194FD-4274-D51B-D4C5-075C79C5ED35}"/>
              </a:ext>
            </a:extLst>
          </p:cNvPr>
          <p:cNvSpPr/>
          <p:nvPr/>
        </p:nvSpPr>
        <p:spPr>
          <a:xfrm>
            <a:off x="5009535" y="924233"/>
            <a:ext cx="658761" cy="52110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>
                <a:solidFill>
                  <a:schemeClr val="tx1"/>
                </a:solidFill>
              </a:rPr>
              <a:t>或</a:t>
            </a:r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1CDEF6F-82DF-620D-8586-61899B848CC8}"/>
              </a:ext>
            </a:extLst>
          </p:cNvPr>
          <p:cNvCxnSpPr>
            <a:cxnSpLocks/>
            <a:stCxn id="12" idx="2"/>
          </p:cNvCxnSpPr>
          <p:nvPr/>
        </p:nvCxnSpPr>
        <p:spPr>
          <a:xfrm flipH="1" flipV="1">
            <a:off x="3392128" y="1184787"/>
            <a:ext cx="1617407" cy="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EC0B1805-A4D2-E743-34A1-68FECC3E213D}"/>
              </a:ext>
            </a:extLst>
          </p:cNvPr>
          <p:cNvCxnSpPr/>
          <p:nvPr/>
        </p:nvCxnSpPr>
        <p:spPr>
          <a:xfrm>
            <a:off x="3392128" y="1184787"/>
            <a:ext cx="0" cy="2605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5D1CB42E-8D4B-5046-1154-6C1178A0C7F2}"/>
              </a:ext>
            </a:extLst>
          </p:cNvPr>
          <p:cNvSpPr txBox="1"/>
          <p:nvPr/>
        </p:nvSpPr>
        <p:spPr>
          <a:xfrm>
            <a:off x="3281515" y="834498"/>
            <a:ext cx="20844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/>
              <a:t>目前做法</a:t>
            </a:r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3F1F345-B575-C0FC-DB83-73F0BC2C02ED}"/>
              </a:ext>
            </a:extLst>
          </p:cNvPr>
          <p:cNvSpPr/>
          <p:nvPr/>
        </p:nvSpPr>
        <p:spPr>
          <a:xfrm>
            <a:off x="2313037" y="1445342"/>
            <a:ext cx="2158181" cy="74693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執行 </a:t>
            </a:r>
            <a:r>
              <a:rPr 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CvPCB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7B53FB2-7E17-E240-03A2-62A4AE11148F}"/>
              </a:ext>
            </a:extLst>
          </p:cNvPr>
          <p:cNvSpPr/>
          <p:nvPr/>
        </p:nvSpPr>
        <p:spPr>
          <a:xfrm>
            <a:off x="2313036" y="2662401"/>
            <a:ext cx="2158181" cy="89687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將每個元件對應到正確的封裝</a:t>
            </a:r>
            <a:endParaRPr 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DD85AD1-71FC-D846-93AC-0AC9D5C86E47}"/>
              </a:ext>
            </a:extLst>
          </p:cNvPr>
          <p:cNvCxnSpPr>
            <a:cxnSpLocks/>
            <a:stCxn id="12" idx="6"/>
          </p:cNvCxnSpPr>
          <p:nvPr/>
        </p:nvCxnSpPr>
        <p:spPr>
          <a:xfrm>
            <a:off x="5668296" y="1184788"/>
            <a:ext cx="235974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1F631A5C-9D29-EB1F-0B42-52C8BCA73523}"/>
              </a:ext>
            </a:extLst>
          </p:cNvPr>
          <p:cNvCxnSpPr>
            <a:cxnSpLocks/>
          </p:cNvCxnSpPr>
          <p:nvPr/>
        </p:nvCxnSpPr>
        <p:spPr>
          <a:xfrm>
            <a:off x="8032954" y="1174955"/>
            <a:ext cx="0" cy="2605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211FA677-0DA8-1224-6405-B5A7261C73D4}"/>
              </a:ext>
            </a:extLst>
          </p:cNvPr>
          <p:cNvSpPr/>
          <p:nvPr/>
        </p:nvSpPr>
        <p:spPr>
          <a:xfrm>
            <a:off x="6705599" y="1445342"/>
            <a:ext cx="2846439" cy="74693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在元件上按右鍵 </a:t>
            </a:r>
            <a:r>
              <a:rPr lang="en-US" altLang="zh-TW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-&gt; </a:t>
            </a:r>
            <a:r>
              <a:rPr lang="zh-TW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編輯元件</a:t>
            </a:r>
            <a:endParaRPr 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15EA84E3-7E16-57E0-4AA8-7CEA81FA77A8}"/>
              </a:ext>
            </a:extLst>
          </p:cNvPr>
          <p:cNvSpPr/>
          <p:nvPr/>
        </p:nvSpPr>
        <p:spPr>
          <a:xfrm>
            <a:off x="6705599" y="2662401"/>
            <a:ext cx="2846437" cy="74693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封裝</a:t>
            </a:r>
            <a:endParaRPr 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CC4B0CAA-4F8E-A0D0-47C6-CF514FD730F7}"/>
              </a:ext>
            </a:extLst>
          </p:cNvPr>
          <p:cNvSpPr/>
          <p:nvPr/>
        </p:nvSpPr>
        <p:spPr>
          <a:xfrm>
            <a:off x="6705599" y="3879461"/>
            <a:ext cx="2846435" cy="74693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按下「</a:t>
            </a:r>
            <a:r>
              <a:rPr 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Select」</a:t>
            </a:r>
            <a:r>
              <a:rPr lang="zh-TW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按鈕</a:t>
            </a:r>
            <a:endParaRPr 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FFCD23F1-A288-50BC-4C22-85D46252CA44}"/>
              </a:ext>
            </a:extLst>
          </p:cNvPr>
          <p:cNvSpPr/>
          <p:nvPr/>
        </p:nvSpPr>
        <p:spPr>
          <a:xfrm>
            <a:off x="6705599" y="5096521"/>
            <a:ext cx="2846434" cy="74693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選擇封裝</a:t>
            </a:r>
            <a:endParaRPr 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969F8BE-1754-7DC9-A3DE-1C981CE5A1C8}"/>
              </a:ext>
            </a:extLst>
          </p:cNvPr>
          <p:cNvSpPr txBox="1"/>
          <p:nvPr/>
        </p:nvSpPr>
        <p:spPr>
          <a:xfrm>
            <a:off x="5805948" y="854784"/>
            <a:ext cx="20844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/>
              <a:t>新方法</a:t>
            </a:r>
            <a:endParaRPr lang="en-US"/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7AB33E24-9186-7619-9B4A-B6F668AF9103}"/>
              </a:ext>
            </a:extLst>
          </p:cNvPr>
          <p:cNvCxnSpPr/>
          <p:nvPr/>
        </p:nvCxnSpPr>
        <p:spPr>
          <a:xfrm>
            <a:off x="8047704" y="2192276"/>
            <a:ext cx="0" cy="3837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233081CC-2A9B-C12F-BFE5-ACD0A53B967B}"/>
              </a:ext>
            </a:extLst>
          </p:cNvPr>
          <p:cNvCxnSpPr/>
          <p:nvPr/>
        </p:nvCxnSpPr>
        <p:spPr>
          <a:xfrm>
            <a:off x="8047704" y="3409335"/>
            <a:ext cx="0" cy="3859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C578FA8E-4E0D-8115-1D23-5327289766D0}"/>
              </a:ext>
            </a:extLst>
          </p:cNvPr>
          <p:cNvCxnSpPr/>
          <p:nvPr/>
        </p:nvCxnSpPr>
        <p:spPr>
          <a:xfrm>
            <a:off x="8067369" y="4626395"/>
            <a:ext cx="0" cy="4701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E71A8190-FF32-082E-9CAA-8EF93B087158}"/>
              </a:ext>
            </a:extLst>
          </p:cNvPr>
          <p:cNvCxnSpPr>
            <a:stCxn id="36" idx="2"/>
            <a:endCxn id="38" idx="0"/>
          </p:cNvCxnSpPr>
          <p:nvPr/>
        </p:nvCxnSpPr>
        <p:spPr>
          <a:xfrm flipH="1">
            <a:off x="3392127" y="2192276"/>
            <a:ext cx="1" cy="4701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ectangle 67">
            <a:extLst>
              <a:ext uri="{FF2B5EF4-FFF2-40B4-BE49-F238E27FC236}">
                <a16:creationId xmlns:a16="http://schemas.microsoft.com/office/drawing/2014/main" id="{EE02C2B7-06FC-2DED-7A17-A23830DBCC39}"/>
              </a:ext>
            </a:extLst>
          </p:cNvPr>
          <p:cNvSpPr/>
          <p:nvPr/>
        </p:nvSpPr>
        <p:spPr>
          <a:xfrm>
            <a:off x="1979950" y="1305232"/>
            <a:ext cx="2891933" cy="265534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2346E9DD-55F7-49BB-30BD-77D9D421B268}"/>
              </a:ext>
            </a:extLst>
          </p:cNvPr>
          <p:cNvSpPr/>
          <p:nvPr/>
        </p:nvSpPr>
        <p:spPr>
          <a:xfrm>
            <a:off x="5157021" y="5843455"/>
            <a:ext cx="658761" cy="521109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>
                <a:solidFill>
                  <a:schemeClr val="tx1"/>
                </a:solidFill>
              </a:rPr>
              <a:t>或</a:t>
            </a:r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592E8980-196A-621C-BFC4-700772A771BD}"/>
              </a:ext>
            </a:extLst>
          </p:cNvPr>
          <p:cNvCxnSpPr>
            <a:cxnSpLocks/>
          </p:cNvCxnSpPr>
          <p:nvPr/>
        </p:nvCxnSpPr>
        <p:spPr>
          <a:xfrm>
            <a:off x="8128816" y="5863119"/>
            <a:ext cx="0" cy="2328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C328482E-1C4E-F5BA-D61F-0DEDF43DBF77}"/>
              </a:ext>
            </a:extLst>
          </p:cNvPr>
          <p:cNvCxnSpPr>
            <a:endCxn id="69" idx="6"/>
          </p:cNvCxnSpPr>
          <p:nvPr/>
        </p:nvCxnSpPr>
        <p:spPr>
          <a:xfrm flipH="1">
            <a:off x="5815782" y="6104009"/>
            <a:ext cx="2313034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217696FC-DA20-8740-FEC6-B0AACCAA02A1}"/>
              </a:ext>
            </a:extLst>
          </p:cNvPr>
          <p:cNvCxnSpPr>
            <a:stCxn id="68" idx="2"/>
          </p:cNvCxnSpPr>
          <p:nvPr/>
        </p:nvCxnSpPr>
        <p:spPr>
          <a:xfrm flipH="1">
            <a:off x="3425916" y="3960577"/>
            <a:ext cx="1" cy="113594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D2F421F8-B9F3-A1B5-4B24-AA3D15A22C0D}"/>
              </a:ext>
            </a:extLst>
          </p:cNvPr>
          <p:cNvCxnSpPr/>
          <p:nvPr/>
        </p:nvCxnSpPr>
        <p:spPr>
          <a:xfrm>
            <a:off x="3425916" y="5096521"/>
            <a:ext cx="206048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5A71E2BF-554D-8F72-A6F5-8DEA2D0DDC03}"/>
              </a:ext>
            </a:extLst>
          </p:cNvPr>
          <p:cNvCxnSpPr>
            <a:endCxn id="69" idx="0"/>
          </p:cNvCxnSpPr>
          <p:nvPr/>
        </p:nvCxnSpPr>
        <p:spPr>
          <a:xfrm>
            <a:off x="5486401" y="5096521"/>
            <a:ext cx="1" cy="7469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7415B055-7E8D-A71C-49AB-F446CFF62E74}"/>
              </a:ext>
            </a:extLst>
          </p:cNvPr>
          <p:cNvCxnSpPr>
            <a:cxnSpLocks/>
            <a:stCxn id="69" idx="2"/>
          </p:cNvCxnSpPr>
          <p:nvPr/>
        </p:nvCxnSpPr>
        <p:spPr>
          <a:xfrm flipH="1">
            <a:off x="4640826" y="6104010"/>
            <a:ext cx="51619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Rectangle 81">
            <a:extLst>
              <a:ext uri="{FF2B5EF4-FFF2-40B4-BE49-F238E27FC236}">
                <a16:creationId xmlns:a16="http://schemas.microsoft.com/office/drawing/2014/main" id="{DAF17B86-C4EF-8EC0-037C-A7A73F9D3312}"/>
              </a:ext>
            </a:extLst>
          </p:cNvPr>
          <p:cNvSpPr/>
          <p:nvPr/>
        </p:nvSpPr>
        <p:spPr>
          <a:xfrm>
            <a:off x="2497394" y="5673213"/>
            <a:ext cx="2143432" cy="74693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產生 </a:t>
            </a:r>
            <a:r>
              <a:rPr 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Netlist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D709D750-A13F-CB73-5157-77251C45DEBA}"/>
              </a:ext>
            </a:extLst>
          </p:cNvPr>
          <p:cNvSpPr txBox="1"/>
          <p:nvPr/>
        </p:nvSpPr>
        <p:spPr>
          <a:xfrm>
            <a:off x="1979950" y="3618918"/>
            <a:ext cx="18890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CvPCB </a:t>
            </a:r>
            <a:r>
              <a:rPr lang="zh-TW" altLang="en-US"/>
              <a:t>流程</a:t>
            </a:r>
            <a:endParaRPr lang="en-US"/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131E780E-BDA2-33AC-BAC2-BC14C2EE9832}"/>
              </a:ext>
            </a:extLst>
          </p:cNvPr>
          <p:cNvCxnSpPr>
            <a:stCxn id="82" idx="1"/>
          </p:cNvCxnSpPr>
          <p:nvPr/>
        </p:nvCxnSpPr>
        <p:spPr>
          <a:xfrm flipH="1">
            <a:off x="1979950" y="6046680"/>
            <a:ext cx="51744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Rectangle 86">
            <a:extLst>
              <a:ext uri="{FF2B5EF4-FFF2-40B4-BE49-F238E27FC236}">
                <a16:creationId xmlns:a16="http://schemas.microsoft.com/office/drawing/2014/main" id="{AEBEA2D6-6A35-A4A2-4019-538499D0B81A}"/>
              </a:ext>
            </a:extLst>
          </p:cNvPr>
          <p:cNvSpPr/>
          <p:nvPr/>
        </p:nvSpPr>
        <p:spPr>
          <a:xfrm>
            <a:off x="285134" y="5673213"/>
            <a:ext cx="1725831" cy="74693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建立 </a:t>
            </a:r>
            <a:r>
              <a:rPr 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PCB</a:t>
            </a:r>
          </a:p>
        </p:txBody>
      </p:sp>
    </p:spTree>
    <p:extLst>
      <p:ext uri="{BB962C8B-B14F-4D97-AF65-F5344CB8AC3E}">
        <p14:creationId xmlns:p14="http://schemas.microsoft.com/office/powerpoint/2010/main" val="35321053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D7544A2-0F73-54BA-6373-5FB4A4E1994F}"/>
              </a:ext>
            </a:extLst>
          </p:cNvPr>
          <p:cNvSpPr/>
          <p:nvPr/>
        </p:nvSpPr>
        <p:spPr>
          <a:xfrm>
            <a:off x="245805" y="206478"/>
            <a:ext cx="1725831" cy="74693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建立 </a:t>
            </a:r>
            <a:r>
              <a:rPr 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PCB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29BB02C-A75C-DBA0-5CAE-FFA68731A305}"/>
              </a:ext>
            </a:extLst>
          </p:cNvPr>
          <p:cNvCxnSpPr>
            <a:stCxn id="4" idx="3"/>
          </p:cNvCxnSpPr>
          <p:nvPr/>
        </p:nvCxnSpPr>
        <p:spPr>
          <a:xfrm>
            <a:off x="1971636" y="579945"/>
            <a:ext cx="71257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6D05EE09-FC67-434E-E00D-ADE7123359AD}"/>
              </a:ext>
            </a:extLst>
          </p:cNvPr>
          <p:cNvSpPr/>
          <p:nvPr/>
        </p:nvSpPr>
        <p:spPr>
          <a:xfrm>
            <a:off x="2684206" y="206478"/>
            <a:ext cx="1725831" cy="74693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開啟 </a:t>
            </a:r>
            <a:r>
              <a:rPr 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PCBnew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345A784-3C64-38BB-ED95-C30AB147217B}"/>
              </a:ext>
            </a:extLst>
          </p:cNvPr>
          <p:cNvSpPr/>
          <p:nvPr/>
        </p:nvSpPr>
        <p:spPr>
          <a:xfrm>
            <a:off x="2684205" y="1415369"/>
            <a:ext cx="1725831" cy="74693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讀取 </a:t>
            </a:r>
            <a:r>
              <a:rPr 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Netlist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D6466C6-4B50-FE36-89CA-90DC8FC5AE40}"/>
              </a:ext>
            </a:extLst>
          </p:cNvPr>
          <p:cNvSpPr/>
          <p:nvPr/>
        </p:nvSpPr>
        <p:spPr>
          <a:xfrm>
            <a:off x="1379105" y="2582704"/>
            <a:ext cx="4336027" cy="44340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按下「讀取 </a:t>
            </a:r>
            <a:r>
              <a:rPr lang="en-US" altLang="zh-TW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Current Netlist</a:t>
            </a:r>
            <a:r>
              <a:rPr lang="zh-TW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」按鈕</a:t>
            </a:r>
            <a:endParaRPr 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39C072A-15C9-3412-97E3-D2DD8FE624D8}"/>
              </a:ext>
            </a:extLst>
          </p:cNvPr>
          <p:cNvSpPr/>
          <p:nvPr/>
        </p:nvSpPr>
        <p:spPr>
          <a:xfrm>
            <a:off x="1379106" y="3510115"/>
            <a:ext cx="4336026" cy="63639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執行除錯規則檢查</a:t>
            </a:r>
            <a:endParaRPr 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09BECAA-494B-9D99-AA57-B737A68D0BEA}"/>
              </a:ext>
            </a:extLst>
          </p:cNvPr>
          <p:cNvSpPr/>
          <p:nvPr/>
        </p:nvSpPr>
        <p:spPr>
          <a:xfrm>
            <a:off x="2684205" y="4630517"/>
            <a:ext cx="1725831" cy="74693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輸出</a:t>
            </a:r>
            <a:endParaRPr 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788935D-5A0E-857E-B76A-B32A818A9868}"/>
              </a:ext>
            </a:extLst>
          </p:cNvPr>
          <p:cNvSpPr/>
          <p:nvPr/>
        </p:nvSpPr>
        <p:spPr>
          <a:xfrm>
            <a:off x="5550309" y="5407901"/>
            <a:ext cx="1725831" cy="74693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匯出組裝檔</a:t>
            </a:r>
            <a:endParaRPr 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2C07C23-7678-F9EA-7D59-E223D083724D}"/>
              </a:ext>
            </a:extLst>
          </p:cNvPr>
          <p:cNvCxnSpPr>
            <a:stCxn id="7" idx="2"/>
            <a:endCxn id="8" idx="0"/>
          </p:cNvCxnSpPr>
          <p:nvPr/>
        </p:nvCxnSpPr>
        <p:spPr>
          <a:xfrm flipH="1">
            <a:off x="3547121" y="953412"/>
            <a:ext cx="1" cy="4619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C2296BD-1135-290F-B9BC-6628F6E290B2}"/>
              </a:ext>
            </a:extLst>
          </p:cNvPr>
          <p:cNvCxnSpPr>
            <a:stCxn id="8" idx="2"/>
            <a:endCxn id="9" idx="0"/>
          </p:cNvCxnSpPr>
          <p:nvPr/>
        </p:nvCxnSpPr>
        <p:spPr>
          <a:xfrm flipH="1">
            <a:off x="3547119" y="2162303"/>
            <a:ext cx="2" cy="4204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E9DA216-79A9-B98D-43F5-144915B6CA16}"/>
              </a:ext>
            </a:extLst>
          </p:cNvPr>
          <p:cNvCxnSpPr>
            <a:stCxn id="9" idx="2"/>
            <a:endCxn id="10" idx="0"/>
          </p:cNvCxnSpPr>
          <p:nvPr/>
        </p:nvCxnSpPr>
        <p:spPr>
          <a:xfrm>
            <a:off x="3547119" y="3026108"/>
            <a:ext cx="0" cy="4840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B20AAF0-575C-9085-1310-C6B276A7C5C0}"/>
              </a:ext>
            </a:extLst>
          </p:cNvPr>
          <p:cNvCxnSpPr>
            <a:stCxn id="10" idx="2"/>
            <a:endCxn id="12" idx="0"/>
          </p:cNvCxnSpPr>
          <p:nvPr/>
        </p:nvCxnSpPr>
        <p:spPr>
          <a:xfrm>
            <a:off x="3547119" y="4146510"/>
            <a:ext cx="2" cy="4840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8F660DD1-3A05-CEA4-E44D-12D396281D4A}"/>
              </a:ext>
            </a:extLst>
          </p:cNvPr>
          <p:cNvSpPr/>
          <p:nvPr/>
        </p:nvSpPr>
        <p:spPr>
          <a:xfrm>
            <a:off x="8416411" y="5476727"/>
            <a:ext cx="1725831" cy="74693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製造商公司</a:t>
            </a:r>
            <a:endParaRPr 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89F5B0D-AEAE-AD81-A191-1BF28C2AC83B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3547121" y="5377451"/>
            <a:ext cx="0" cy="40344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5C92CD6-F0B6-C2E2-8A2F-4BAB295E4D0C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3547118" y="5781368"/>
            <a:ext cx="20031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B910ED8-37D2-ACC7-2B70-1BC2D36977D1}"/>
              </a:ext>
            </a:extLst>
          </p:cNvPr>
          <p:cNvCxnSpPr/>
          <p:nvPr/>
        </p:nvCxnSpPr>
        <p:spPr>
          <a:xfrm>
            <a:off x="7276139" y="5820697"/>
            <a:ext cx="114027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38661F15-0C7A-FD6E-69E1-AFD0DCFD87C1}"/>
              </a:ext>
            </a:extLst>
          </p:cNvPr>
          <p:cNvSpPr txBox="1"/>
          <p:nvPr/>
        </p:nvSpPr>
        <p:spPr>
          <a:xfrm>
            <a:off x="3547118" y="3083445"/>
            <a:ext cx="32741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PCB </a:t>
            </a:r>
            <a:r>
              <a:rPr lang="zh-TW" altLang="en-US"/>
              <a:t>完成</a:t>
            </a:r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6C54894A-A5FF-37F7-0C63-FBF63F812670}"/>
              </a:ext>
            </a:extLst>
          </p:cNvPr>
          <p:cNvSpPr/>
          <p:nvPr/>
        </p:nvSpPr>
        <p:spPr>
          <a:xfrm>
            <a:off x="10746657" y="5531610"/>
            <a:ext cx="1130707" cy="6330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/>
              <a:t>結束</a:t>
            </a:r>
            <a:endParaRPr lang="en-US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655342F4-E230-782B-9F69-FBEB6148EB6A}"/>
              </a:ext>
            </a:extLst>
          </p:cNvPr>
          <p:cNvCxnSpPr>
            <a:cxnSpLocks/>
            <a:stCxn id="23" idx="3"/>
            <a:endCxn id="34" idx="2"/>
          </p:cNvCxnSpPr>
          <p:nvPr/>
        </p:nvCxnSpPr>
        <p:spPr>
          <a:xfrm flipV="1">
            <a:off x="10142242" y="5848138"/>
            <a:ext cx="604415" cy="20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74747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EF827-8E39-B9CE-651B-B7B30BD79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C8970D6-FD8D-040E-45EA-E62E47F0445A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092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3000"/>
              <a:t>原理圖佈局編輯器</a:t>
            </a:r>
            <a:endParaRPr lang="en-US" sz="300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A15D20DD-BAD1-E6E5-8D01-E090028AF1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5018" y="1520714"/>
            <a:ext cx="6038628" cy="4459748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00C98A08-1B5E-8FEA-2EE0-CD2E624AF091}"/>
              </a:ext>
            </a:extLst>
          </p:cNvPr>
          <p:cNvSpPr txBox="1"/>
          <p:nvPr/>
        </p:nvSpPr>
        <p:spPr>
          <a:xfrm>
            <a:off x="1358098" y="2741314"/>
            <a:ext cx="543739" cy="523220"/>
          </a:xfrm>
          <a:prstGeom prst="rect">
            <a:avLst/>
          </a:prstGeom>
          <a:noFill/>
          <a:ln w="25400">
            <a:solidFill>
              <a:srgbClr val="92D050">
                <a:alpha val="50000"/>
              </a:srgb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zh-TW" altLang="en-US" sz="1400" b="1"/>
              <a:t>頁面
設定</a:t>
            </a:r>
            <a:endParaRPr lang="en-US" sz="1400" b="1" dirty="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B85F739-FD60-DF9B-0D52-C2EBCDE394A4}"/>
              </a:ext>
            </a:extLst>
          </p:cNvPr>
          <p:cNvCxnSpPr>
            <a:cxnSpLocks/>
            <a:stCxn id="26" idx="0"/>
          </p:cNvCxnSpPr>
          <p:nvPr/>
        </p:nvCxnSpPr>
        <p:spPr>
          <a:xfrm flipV="1">
            <a:off x="1629968" y="1910804"/>
            <a:ext cx="1186216" cy="830510"/>
          </a:xfrm>
          <a:prstGeom prst="straightConnector1">
            <a:avLst/>
          </a:prstGeom>
          <a:ln w="63500">
            <a:solidFill>
              <a:srgbClr val="92D050">
                <a:alpha val="50000"/>
              </a:srgbClr>
            </a:solidFill>
            <a:tailEnd type="arrow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76323C91-2A21-F8C3-34F1-BF91F9CAE69E}"/>
              </a:ext>
            </a:extLst>
          </p:cNvPr>
          <p:cNvCxnSpPr>
            <a:cxnSpLocks/>
          </p:cNvCxnSpPr>
          <p:nvPr/>
        </p:nvCxnSpPr>
        <p:spPr>
          <a:xfrm flipH="1">
            <a:off x="8473646" y="2156181"/>
            <a:ext cx="528885" cy="0"/>
          </a:xfrm>
          <a:prstGeom prst="straightConnector1">
            <a:avLst/>
          </a:prstGeom>
          <a:ln w="63500">
            <a:solidFill>
              <a:srgbClr val="FFC000">
                <a:alpha val="50000"/>
              </a:srgbClr>
            </a:solidFill>
            <a:tailEnd type="arrow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2062E51-8710-C528-D50C-969970EB8414}"/>
              </a:ext>
            </a:extLst>
          </p:cNvPr>
          <p:cNvCxnSpPr>
            <a:cxnSpLocks/>
          </p:cNvCxnSpPr>
          <p:nvPr/>
        </p:nvCxnSpPr>
        <p:spPr>
          <a:xfrm flipH="1">
            <a:off x="8473646" y="2543474"/>
            <a:ext cx="528885" cy="0"/>
          </a:xfrm>
          <a:prstGeom prst="straightConnector1">
            <a:avLst/>
          </a:prstGeom>
          <a:ln w="63500">
            <a:solidFill>
              <a:srgbClr val="FFC000">
                <a:alpha val="50000"/>
              </a:srgbClr>
            </a:solidFill>
            <a:tailEnd type="arrow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7CB404F-FF01-1077-F482-949C3C3BBB37}"/>
              </a:ext>
            </a:extLst>
          </p:cNvPr>
          <p:cNvCxnSpPr>
            <a:cxnSpLocks/>
          </p:cNvCxnSpPr>
          <p:nvPr/>
        </p:nvCxnSpPr>
        <p:spPr>
          <a:xfrm flipH="1">
            <a:off x="8473646" y="2922330"/>
            <a:ext cx="528885" cy="0"/>
          </a:xfrm>
          <a:prstGeom prst="straightConnector1">
            <a:avLst/>
          </a:prstGeom>
          <a:ln w="63500">
            <a:solidFill>
              <a:srgbClr val="FFC000">
                <a:alpha val="50000"/>
              </a:srgbClr>
            </a:solidFill>
            <a:tailEnd type="arrow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48218FE-9703-3CDA-81DE-238B65EB0DE0}"/>
              </a:ext>
            </a:extLst>
          </p:cNvPr>
          <p:cNvCxnSpPr>
            <a:cxnSpLocks/>
          </p:cNvCxnSpPr>
          <p:nvPr/>
        </p:nvCxnSpPr>
        <p:spPr>
          <a:xfrm flipH="1">
            <a:off x="8473645" y="3340427"/>
            <a:ext cx="528885" cy="0"/>
          </a:xfrm>
          <a:prstGeom prst="straightConnector1">
            <a:avLst/>
          </a:prstGeom>
          <a:ln w="63500">
            <a:solidFill>
              <a:srgbClr val="FFC000">
                <a:alpha val="50000"/>
              </a:srgbClr>
            </a:solidFill>
            <a:tailEnd type="arrow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6E1C792-9E66-287E-42B6-16C67F87A336}"/>
              </a:ext>
            </a:extLst>
          </p:cNvPr>
          <p:cNvCxnSpPr>
            <a:cxnSpLocks/>
          </p:cNvCxnSpPr>
          <p:nvPr/>
        </p:nvCxnSpPr>
        <p:spPr>
          <a:xfrm flipH="1">
            <a:off x="8473645" y="3744498"/>
            <a:ext cx="528885" cy="0"/>
          </a:xfrm>
          <a:prstGeom prst="straightConnector1">
            <a:avLst/>
          </a:prstGeom>
          <a:ln w="63500">
            <a:solidFill>
              <a:srgbClr val="FFC000">
                <a:alpha val="50000"/>
              </a:srgbClr>
            </a:solidFill>
            <a:tailEnd type="arrow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EB6F5FD-0CCD-A67E-F2ED-AFB6F093F377}"/>
              </a:ext>
            </a:extLst>
          </p:cNvPr>
          <p:cNvCxnSpPr>
            <a:cxnSpLocks/>
          </p:cNvCxnSpPr>
          <p:nvPr/>
        </p:nvCxnSpPr>
        <p:spPr>
          <a:xfrm flipH="1">
            <a:off x="8473645" y="4140132"/>
            <a:ext cx="528885" cy="0"/>
          </a:xfrm>
          <a:prstGeom prst="straightConnector1">
            <a:avLst/>
          </a:prstGeom>
          <a:ln w="63500">
            <a:solidFill>
              <a:srgbClr val="FFC000">
                <a:alpha val="50000"/>
              </a:srgbClr>
            </a:solidFill>
            <a:tailEnd type="arrow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4640FBA-8DE3-1E76-D96E-9A82F33FF3BE}"/>
              </a:ext>
            </a:extLst>
          </p:cNvPr>
          <p:cNvCxnSpPr>
            <a:cxnSpLocks/>
          </p:cNvCxnSpPr>
          <p:nvPr/>
        </p:nvCxnSpPr>
        <p:spPr>
          <a:xfrm flipH="1">
            <a:off x="8473645" y="4548441"/>
            <a:ext cx="528885" cy="0"/>
          </a:xfrm>
          <a:prstGeom prst="straightConnector1">
            <a:avLst/>
          </a:prstGeom>
          <a:ln w="63500">
            <a:solidFill>
              <a:srgbClr val="FFC000">
                <a:alpha val="50000"/>
              </a:srgbClr>
            </a:solidFill>
            <a:tailEnd type="arrow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9B197054-1E8C-BB26-6557-AC5A790383DD}"/>
              </a:ext>
            </a:extLst>
          </p:cNvPr>
          <p:cNvCxnSpPr>
            <a:cxnSpLocks/>
          </p:cNvCxnSpPr>
          <p:nvPr/>
        </p:nvCxnSpPr>
        <p:spPr>
          <a:xfrm flipH="1">
            <a:off x="8473645" y="4935734"/>
            <a:ext cx="528885" cy="0"/>
          </a:xfrm>
          <a:prstGeom prst="straightConnector1">
            <a:avLst/>
          </a:prstGeom>
          <a:ln w="63500">
            <a:solidFill>
              <a:srgbClr val="FFC000">
                <a:alpha val="50000"/>
              </a:srgbClr>
            </a:solidFill>
            <a:tailEnd type="arrow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7ABC0E26-9347-490E-B97F-78930F9CC21B}"/>
              </a:ext>
            </a:extLst>
          </p:cNvPr>
          <p:cNvCxnSpPr>
            <a:cxnSpLocks/>
          </p:cNvCxnSpPr>
          <p:nvPr/>
        </p:nvCxnSpPr>
        <p:spPr>
          <a:xfrm flipH="1">
            <a:off x="8473645" y="5339757"/>
            <a:ext cx="528885" cy="0"/>
          </a:xfrm>
          <a:prstGeom prst="straightConnector1">
            <a:avLst/>
          </a:prstGeom>
          <a:ln w="63500">
            <a:solidFill>
              <a:srgbClr val="FFC000">
                <a:alpha val="50000"/>
              </a:srgbClr>
            </a:solidFill>
            <a:tailEnd type="arrow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A92A31A8-8CA7-650F-8D50-DB0CEF19897F}"/>
              </a:ext>
            </a:extLst>
          </p:cNvPr>
          <p:cNvCxnSpPr>
            <a:cxnSpLocks/>
          </p:cNvCxnSpPr>
          <p:nvPr/>
        </p:nvCxnSpPr>
        <p:spPr>
          <a:xfrm>
            <a:off x="7757300" y="2346331"/>
            <a:ext cx="493848" cy="0"/>
          </a:xfrm>
          <a:prstGeom prst="straightConnector1">
            <a:avLst/>
          </a:prstGeom>
          <a:ln w="63500">
            <a:solidFill>
              <a:srgbClr val="FFC000">
                <a:alpha val="50000"/>
              </a:srgbClr>
            </a:solidFill>
            <a:tailEnd type="arrow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7ABDB032-8B4D-757B-0191-09BC6BE22B6D}"/>
              </a:ext>
            </a:extLst>
          </p:cNvPr>
          <p:cNvCxnSpPr>
            <a:cxnSpLocks/>
          </p:cNvCxnSpPr>
          <p:nvPr/>
        </p:nvCxnSpPr>
        <p:spPr>
          <a:xfrm>
            <a:off x="7757300" y="2753199"/>
            <a:ext cx="493848" cy="0"/>
          </a:xfrm>
          <a:prstGeom prst="straightConnector1">
            <a:avLst/>
          </a:prstGeom>
          <a:ln w="63500">
            <a:solidFill>
              <a:srgbClr val="FFC000">
                <a:alpha val="50000"/>
              </a:srgbClr>
            </a:solidFill>
            <a:tailEnd type="arrow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EAD17BEE-F8AC-D89E-6E87-DBF006239B5E}"/>
              </a:ext>
            </a:extLst>
          </p:cNvPr>
          <p:cNvCxnSpPr>
            <a:cxnSpLocks/>
          </p:cNvCxnSpPr>
          <p:nvPr/>
        </p:nvCxnSpPr>
        <p:spPr>
          <a:xfrm>
            <a:off x="7757300" y="3153073"/>
            <a:ext cx="493848" cy="0"/>
          </a:xfrm>
          <a:prstGeom prst="straightConnector1">
            <a:avLst/>
          </a:prstGeom>
          <a:ln w="63500">
            <a:solidFill>
              <a:srgbClr val="FFC000">
                <a:alpha val="50000"/>
              </a:srgbClr>
            </a:solidFill>
            <a:tailEnd type="arrow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08162B5F-4A26-557B-54A8-210BE3B873AC}"/>
              </a:ext>
            </a:extLst>
          </p:cNvPr>
          <p:cNvCxnSpPr>
            <a:cxnSpLocks/>
          </p:cNvCxnSpPr>
          <p:nvPr/>
        </p:nvCxnSpPr>
        <p:spPr>
          <a:xfrm>
            <a:off x="7757300" y="3542070"/>
            <a:ext cx="493848" cy="0"/>
          </a:xfrm>
          <a:prstGeom prst="straightConnector1">
            <a:avLst/>
          </a:prstGeom>
          <a:ln w="63500">
            <a:solidFill>
              <a:srgbClr val="FFC000">
                <a:alpha val="50000"/>
              </a:srgbClr>
            </a:solidFill>
            <a:tailEnd type="arrow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AF85F959-0D10-B17F-C8A9-032800EFBD98}"/>
              </a:ext>
            </a:extLst>
          </p:cNvPr>
          <p:cNvCxnSpPr>
            <a:cxnSpLocks/>
          </p:cNvCxnSpPr>
          <p:nvPr/>
        </p:nvCxnSpPr>
        <p:spPr>
          <a:xfrm>
            <a:off x="7757300" y="3941638"/>
            <a:ext cx="493848" cy="0"/>
          </a:xfrm>
          <a:prstGeom prst="straightConnector1">
            <a:avLst/>
          </a:prstGeom>
          <a:ln w="63500">
            <a:solidFill>
              <a:srgbClr val="FFC000">
                <a:alpha val="50000"/>
              </a:srgbClr>
            </a:solidFill>
            <a:tailEnd type="arrow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CD70B0A3-B773-58DE-7041-7D53DA9E938C}"/>
              </a:ext>
            </a:extLst>
          </p:cNvPr>
          <p:cNvCxnSpPr>
            <a:cxnSpLocks/>
          </p:cNvCxnSpPr>
          <p:nvPr/>
        </p:nvCxnSpPr>
        <p:spPr>
          <a:xfrm>
            <a:off x="7757300" y="4333079"/>
            <a:ext cx="493848" cy="0"/>
          </a:xfrm>
          <a:prstGeom prst="straightConnector1">
            <a:avLst/>
          </a:prstGeom>
          <a:ln w="63500">
            <a:solidFill>
              <a:srgbClr val="FFC000">
                <a:alpha val="50000"/>
              </a:srgbClr>
            </a:solidFill>
            <a:tailEnd type="arrow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F9A1CA35-3DAF-6F57-36A2-A8D01FF6001C}"/>
              </a:ext>
            </a:extLst>
          </p:cNvPr>
          <p:cNvCxnSpPr>
            <a:cxnSpLocks/>
          </p:cNvCxnSpPr>
          <p:nvPr/>
        </p:nvCxnSpPr>
        <p:spPr>
          <a:xfrm>
            <a:off x="7757300" y="4748379"/>
            <a:ext cx="493848" cy="0"/>
          </a:xfrm>
          <a:prstGeom prst="straightConnector1">
            <a:avLst/>
          </a:prstGeom>
          <a:ln w="63500">
            <a:solidFill>
              <a:srgbClr val="FFC000">
                <a:alpha val="50000"/>
              </a:srgbClr>
            </a:solidFill>
            <a:tailEnd type="arrow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1078A368-941E-2C0E-8AC6-DD1809331966}"/>
              </a:ext>
            </a:extLst>
          </p:cNvPr>
          <p:cNvCxnSpPr>
            <a:cxnSpLocks/>
          </p:cNvCxnSpPr>
          <p:nvPr/>
        </p:nvCxnSpPr>
        <p:spPr>
          <a:xfrm>
            <a:off x="7757300" y="5144060"/>
            <a:ext cx="493848" cy="0"/>
          </a:xfrm>
          <a:prstGeom prst="straightConnector1">
            <a:avLst/>
          </a:prstGeom>
          <a:ln w="63500">
            <a:solidFill>
              <a:srgbClr val="FFC000">
                <a:alpha val="50000"/>
              </a:srgbClr>
            </a:solidFill>
            <a:tailEnd type="arrow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57CD3374-3E81-8E2D-B611-16D06F187220}"/>
              </a:ext>
            </a:extLst>
          </p:cNvPr>
          <p:cNvCxnSpPr>
            <a:cxnSpLocks/>
          </p:cNvCxnSpPr>
          <p:nvPr/>
        </p:nvCxnSpPr>
        <p:spPr>
          <a:xfrm>
            <a:off x="7757300" y="5546731"/>
            <a:ext cx="493848" cy="0"/>
          </a:xfrm>
          <a:prstGeom prst="straightConnector1">
            <a:avLst/>
          </a:prstGeom>
          <a:ln w="63500">
            <a:solidFill>
              <a:srgbClr val="FFC000">
                <a:alpha val="50000"/>
              </a:srgbClr>
            </a:solidFill>
            <a:tailEnd type="arrow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9EECBB21-AF36-37C0-0FAE-C9FD67BF174C}"/>
              </a:ext>
            </a:extLst>
          </p:cNvPr>
          <p:cNvSpPr txBox="1"/>
          <p:nvPr/>
        </p:nvSpPr>
        <p:spPr>
          <a:xfrm>
            <a:off x="9042979" y="1991110"/>
            <a:ext cx="543739" cy="307777"/>
          </a:xfrm>
          <a:prstGeom prst="rect">
            <a:avLst/>
          </a:prstGeom>
          <a:noFill/>
          <a:ln w="25400">
            <a:solidFill>
              <a:srgbClr val="FFC000">
                <a:alpha val="50000"/>
              </a:srgb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zh-TW" altLang="en-US" sz="1400" b="1"/>
              <a:t>選取</a:t>
            </a:r>
            <a:endParaRPr lang="en-US" sz="1400" b="1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27B56E2-06F3-A72A-8A52-1D65E57931E4}"/>
              </a:ext>
            </a:extLst>
          </p:cNvPr>
          <p:cNvSpPr txBox="1"/>
          <p:nvPr/>
        </p:nvSpPr>
        <p:spPr>
          <a:xfrm>
            <a:off x="9148670" y="2377350"/>
            <a:ext cx="902811" cy="307777"/>
          </a:xfrm>
          <a:prstGeom prst="rect">
            <a:avLst/>
          </a:prstGeom>
          <a:noFill/>
          <a:ln w="25400">
            <a:solidFill>
              <a:srgbClr val="FFC000">
                <a:alpha val="50000"/>
              </a:srgb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zh-TW" altLang="en-US" sz="1400" b="1"/>
              <a:t>放置符號</a:t>
            </a:r>
            <a:endParaRPr lang="en-US" sz="1400" b="1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6E50C26-F303-0E18-A754-0B3DE7375561}"/>
              </a:ext>
            </a:extLst>
          </p:cNvPr>
          <p:cNvSpPr txBox="1"/>
          <p:nvPr/>
        </p:nvSpPr>
        <p:spPr>
          <a:xfrm>
            <a:off x="9041633" y="2771979"/>
            <a:ext cx="902811" cy="307777"/>
          </a:xfrm>
          <a:prstGeom prst="rect">
            <a:avLst/>
          </a:prstGeom>
          <a:noFill/>
          <a:ln w="25400">
            <a:solidFill>
              <a:srgbClr val="FFC000">
                <a:alpha val="50000"/>
              </a:srgb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zh-TW" altLang="en-US" sz="1400" b="1"/>
              <a:t>放置導線</a:t>
            </a:r>
            <a:endParaRPr lang="en-US" sz="1400" b="1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72D9205-A505-48EC-5E4F-D04C29E801D4}"/>
              </a:ext>
            </a:extLst>
          </p:cNvPr>
          <p:cNvSpPr txBox="1"/>
          <p:nvPr/>
        </p:nvSpPr>
        <p:spPr>
          <a:xfrm>
            <a:off x="8707727" y="3181728"/>
            <a:ext cx="1620958" cy="307777"/>
          </a:xfrm>
          <a:prstGeom prst="rect">
            <a:avLst/>
          </a:prstGeom>
          <a:noFill/>
          <a:ln w="25400">
            <a:solidFill>
              <a:srgbClr val="FFC000">
                <a:alpha val="50000"/>
              </a:srgb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zh-TW" altLang="en-US" sz="1400" b="1"/>
              <a:t>導線連接到匯流排</a:t>
            </a:r>
            <a:endParaRPr lang="en-US" sz="1400" b="1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F372EF3-C11B-6073-E13C-D7596C36C7C9}"/>
              </a:ext>
            </a:extLst>
          </p:cNvPr>
          <p:cNvSpPr txBox="1"/>
          <p:nvPr/>
        </p:nvSpPr>
        <p:spPr>
          <a:xfrm>
            <a:off x="9288692" y="3594292"/>
            <a:ext cx="1082348" cy="307777"/>
          </a:xfrm>
          <a:prstGeom prst="rect">
            <a:avLst/>
          </a:prstGeom>
          <a:noFill/>
          <a:ln w="25400">
            <a:solidFill>
              <a:srgbClr val="FFC000">
                <a:alpha val="50000"/>
              </a:srgb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zh-TW" altLang="en-US" sz="1400" b="1"/>
              <a:t>未連接旗標</a:t>
            </a:r>
            <a:endParaRPr lang="en-US" sz="1400" b="1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E53C09F-782E-5E48-8DA1-D3362793C254}"/>
              </a:ext>
            </a:extLst>
          </p:cNvPr>
          <p:cNvSpPr txBox="1"/>
          <p:nvPr/>
        </p:nvSpPr>
        <p:spPr>
          <a:xfrm>
            <a:off x="9003706" y="3988921"/>
            <a:ext cx="902811" cy="307777"/>
          </a:xfrm>
          <a:prstGeom prst="rect">
            <a:avLst/>
          </a:prstGeom>
          <a:noFill/>
          <a:ln w="25400">
            <a:solidFill>
              <a:srgbClr val="FFC000">
                <a:alpha val="50000"/>
              </a:srgb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zh-TW" altLang="en-US" sz="1400" b="1"/>
              <a:t>網路標籤</a:t>
            </a:r>
            <a:endParaRPr lang="en-US" sz="1400" b="1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0BB188C-EB7F-1002-288E-9CB725B9F32F}"/>
              </a:ext>
            </a:extLst>
          </p:cNvPr>
          <p:cNvSpPr txBox="1"/>
          <p:nvPr/>
        </p:nvSpPr>
        <p:spPr>
          <a:xfrm>
            <a:off x="9316355" y="4394552"/>
            <a:ext cx="902811" cy="307777"/>
          </a:xfrm>
          <a:prstGeom prst="rect">
            <a:avLst/>
          </a:prstGeom>
          <a:noFill/>
          <a:ln w="25400">
            <a:solidFill>
              <a:srgbClr val="FFC000">
                <a:alpha val="50000"/>
              </a:srgb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zh-TW" altLang="en-US" sz="1400" b="1"/>
              <a:t>階層標籤</a:t>
            </a:r>
            <a:endParaRPr lang="en-US" sz="1400" b="1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FDE8722-2705-44A2-250C-199300D5AF27}"/>
              </a:ext>
            </a:extLst>
          </p:cNvPr>
          <p:cNvSpPr txBox="1"/>
          <p:nvPr/>
        </p:nvSpPr>
        <p:spPr>
          <a:xfrm>
            <a:off x="9323516" y="4799162"/>
            <a:ext cx="1261884" cy="307777"/>
          </a:xfrm>
          <a:prstGeom prst="rect">
            <a:avLst/>
          </a:prstGeom>
          <a:noFill/>
          <a:ln w="25400">
            <a:solidFill>
              <a:srgbClr val="FFC000">
                <a:alpha val="50000"/>
              </a:srgb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zh-TW" altLang="en-US" sz="1400" b="1"/>
              <a:t>匯入階層腳位</a:t>
            </a:r>
            <a:endParaRPr lang="en-US" sz="1400" b="1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2276B2C-5227-4BA8-5F96-CE52DD587A45}"/>
              </a:ext>
            </a:extLst>
          </p:cNvPr>
          <p:cNvSpPr txBox="1"/>
          <p:nvPr/>
        </p:nvSpPr>
        <p:spPr>
          <a:xfrm>
            <a:off x="9158460" y="5203772"/>
            <a:ext cx="902811" cy="307777"/>
          </a:xfrm>
          <a:prstGeom prst="rect">
            <a:avLst/>
          </a:prstGeom>
          <a:noFill/>
          <a:ln w="25400">
            <a:solidFill>
              <a:srgbClr val="FFC000">
                <a:alpha val="50000"/>
              </a:srgb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zh-TW" altLang="en-US" sz="1400" b="1"/>
              <a:t>圖形線條</a:t>
            </a:r>
            <a:endParaRPr lang="en-US" sz="1400" b="1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1A8F0E3-EE90-5D5F-CA10-90C358370487}"/>
              </a:ext>
            </a:extLst>
          </p:cNvPr>
          <p:cNvSpPr txBox="1"/>
          <p:nvPr/>
        </p:nvSpPr>
        <p:spPr>
          <a:xfrm>
            <a:off x="6718047" y="2200053"/>
            <a:ext cx="902811" cy="307777"/>
          </a:xfrm>
          <a:prstGeom prst="rect">
            <a:avLst/>
          </a:prstGeom>
          <a:solidFill>
            <a:schemeClr val="bg1">
              <a:alpha val="50000"/>
            </a:schemeClr>
          </a:solidFill>
          <a:ln w="50800">
            <a:solidFill>
              <a:srgbClr val="FFC000">
                <a:alpha val="50000"/>
              </a:srgb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zh-TW" altLang="en-US" sz="1400" b="1"/>
              <a:t>高亮網路</a:t>
            </a:r>
            <a:endParaRPr lang="en-US" sz="1400" b="1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08EFE81-15C0-044D-1B54-2BA568125E4D}"/>
              </a:ext>
            </a:extLst>
          </p:cNvPr>
          <p:cNvSpPr txBox="1"/>
          <p:nvPr/>
        </p:nvSpPr>
        <p:spPr>
          <a:xfrm>
            <a:off x="6900083" y="2599310"/>
            <a:ext cx="723275" cy="307777"/>
          </a:xfrm>
          <a:prstGeom prst="rect">
            <a:avLst/>
          </a:prstGeom>
          <a:solidFill>
            <a:schemeClr val="bg1">
              <a:alpha val="50000"/>
            </a:schemeClr>
          </a:solidFill>
          <a:ln w="50800">
            <a:solidFill>
              <a:srgbClr val="FFC000">
                <a:alpha val="50000"/>
              </a:srgb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zh-TW" altLang="en-US" sz="1400" b="1"/>
              <a:t>電源埠</a:t>
            </a:r>
            <a:endParaRPr lang="en-US" sz="1400" b="1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F0CC0AA-BD06-3E0D-2C21-3FD392AC2178}"/>
              </a:ext>
            </a:extLst>
          </p:cNvPr>
          <p:cNvSpPr txBox="1"/>
          <p:nvPr/>
        </p:nvSpPr>
        <p:spPr>
          <a:xfrm>
            <a:off x="6745087" y="2994179"/>
            <a:ext cx="1082348" cy="307777"/>
          </a:xfrm>
          <a:prstGeom prst="rect">
            <a:avLst/>
          </a:prstGeom>
          <a:solidFill>
            <a:schemeClr val="bg1">
              <a:alpha val="50000"/>
            </a:schemeClr>
          </a:solidFill>
          <a:ln w="50800">
            <a:solidFill>
              <a:srgbClr val="FFC000">
                <a:alpha val="50000"/>
              </a:srgb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zh-TW" altLang="en-US" sz="1400" b="1"/>
              <a:t>放置匯流排</a:t>
            </a:r>
            <a:endParaRPr lang="en-US" sz="1400" b="1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D6BF691-7CCA-709C-69AB-968AB6A03A6C}"/>
              </a:ext>
            </a:extLst>
          </p:cNvPr>
          <p:cNvSpPr txBox="1"/>
          <p:nvPr/>
        </p:nvSpPr>
        <p:spPr>
          <a:xfrm>
            <a:off x="6531996" y="3381843"/>
            <a:ext cx="1441421" cy="307777"/>
          </a:xfrm>
          <a:prstGeom prst="rect">
            <a:avLst/>
          </a:prstGeom>
          <a:solidFill>
            <a:schemeClr val="bg1">
              <a:alpha val="50000"/>
            </a:schemeClr>
          </a:solidFill>
          <a:ln w="50800">
            <a:solidFill>
              <a:srgbClr val="FFC000">
                <a:alpha val="50000"/>
              </a:srgb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zh-TW" altLang="en-US" sz="1400" b="1"/>
              <a:t>匯流排對匯流排</a:t>
            </a:r>
            <a:endParaRPr lang="en-US" sz="1400" b="1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775BAA5-16A9-FD2F-4386-C6B12D9D3ED6}"/>
              </a:ext>
            </a:extLst>
          </p:cNvPr>
          <p:cNvSpPr txBox="1"/>
          <p:nvPr/>
        </p:nvSpPr>
        <p:spPr>
          <a:xfrm>
            <a:off x="7059806" y="3787749"/>
            <a:ext cx="543739" cy="307777"/>
          </a:xfrm>
          <a:prstGeom prst="rect">
            <a:avLst/>
          </a:prstGeom>
          <a:solidFill>
            <a:schemeClr val="bg1">
              <a:alpha val="50000"/>
            </a:schemeClr>
          </a:solidFill>
          <a:ln w="50800">
            <a:solidFill>
              <a:srgbClr val="FFC000">
                <a:alpha val="50000"/>
              </a:srgb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zh-TW" altLang="en-US" sz="1400" b="1"/>
              <a:t>接點</a:t>
            </a:r>
            <a:endParaRPr lang="en-US" sz="1400" b="1" dirty="0"/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ABC1731C-B86E-AD65-AC4B-659D6ADFEECC}"/>
              </a:ext>
            </a:extLst>
          </p:cNvPr>
          <p:cNvCxnSpPr>
            <a:cxnSpLocks/>
            <a:stCxn id="61" idx="0"/>
          </p:cNvCxnSpPr>
          <p:nvPr/>
        </p:nvCxnSpPr>
        <p:spPr>
          <a:xfrm flipV="1">
            <a:off x="1629970" y="3195834"/>
            <a:ext cx="800369" cy="485397"/>
          </a:xfrm>
          <a:prstGeom prst="straightConnector1">
            <a:avLst/>
          </a:prstGeom>
          <a:ln w="63500">
            <a:solidFill>
              <a:srgbClr val="92D050">
                <a:alpha val="50000"/>
              </a:srgbClr>
            </a:solidFill>
            <a:tailEnd type="arrow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608B7F94-3C6E-6EF0-DD11-0CBEFF15F9CA}"/>
              </a:ext>
            </a:extLst>
          </p:cNvPr>
          <p:cNvSpPr txBox="1"/>
          <p:nvPr/>
        </p:nvSpPr>
        <p:spPr>
          <a:xfrm>
            <a:off x="1358100" y="3681231"/>
            <a:ext cx="543739" cy="523220"/>
          </a:xfrm>
          <a:prstGeom prst="rect">
            <a:avLst/>
          </a:prstGeom>
          <a:noFill/>
          <a:ln w="25400">
            <a:solidFill>
              <a:srgbClr val="92D050">
                <a:alpha val="50000"/>
              </a:srgb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zh-TW" altLang="en-US" sz="1400" b="1"/>
              <a:t>選項
切換</a:t>
            </a:r>
            <a:endParaRPr lang="en-US" sz="1400" b="1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317C486-5085-DCD7-2F7B-F2BB08777B98}"/>
              </a:ext>
            </a:extLst>
          </p:cNvPr>
          <p:cNvSpPr txBox="1"/>
          <p:nvPr/>
        </p:nvSpPr>
        <p:spPr>
          <a:xfrm>
            <a:off x="6716075" y="4175413"/>
            <a:ext cx="902811" cy="307777"/>
          </a:xfrm>
          <a:prstGeom prst="rect">
            <a:avLst/>
          </a:prstGeom>
          <a:solidFill>
            <a:schemeClr val="bg1">
              <a:alpha val="50000"/>
            </a:schemeClr>
          </a:solidFill>
          <a:ln w="50800">
            <a:solidFill>
              <a:srgbClr val="FFC000">
                <a:alpha val="50000"/>
              </a:srgb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zh-TW" altLang="en-US" sz="1400" b="1"/>
              <a:t>全域標籤</a:t>
            </a:r>
            <a:endParaRPr lang="en-US" sz="1400" b="1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98F4F24-F7B4-4E3A-42B3-E72B69DE408E}"/>
              </a:ext>
            </a:extLst>
          </p:cNvPr>
          <p:cNvSpPr txBox="1"/>
          <p:nvPr/>
        </p:nvSpPr>
        <p:spPr>
          <a:xfrm>
            <a:off x="5926301" y="4583877"/>
            <a:ext cx="1620957" cy="307777"/>
          </a:xfrm>
          <a:prstGeom prst="rect">
            <a:avLst/>
          </a:prstGeom>
          <a:solidFill>
            <a:schemeClr val="bg1">
              <a:alpha val="50000"/>
            </a:schemeClr>
          </a:solidFill>
          <a:ln w="50800">
            <a:solidFill>
              <a:srgbClr val="FFC000">
                <a:alpha val="50000"/>
              </a:srgb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zh-TW" altLang="en-US" sz="1400" b="1"/>
              <a:t>建立階層式工作表</a:t>
            </a:r>
            <a:endParaRPr lang="en-US" sz="1400" b="1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5ECC876-654E-8481-38D1-EDB533AE83B6}"/>
              </a:ext>
            </a:extLst>
          </p:cNvPr>
          <p:cNvSpPr txBox="1"/>
          <p:nvPr/>
        </p:nvSpPr>
        <p:spPr>
          <a:xfrm>
            <a:off x="6158849" y="4992341"/>
            <a:ext cx="1261884" cy="307777"/>
          </a:xfrm>
          <a:prstGeom prst="rect">
            <a:avLst/>
          </a:prstGeom>
          <a:solidFill>
            <a:schemeClr val="bg1">
              <a:alpha val="50000"/>
            </a:schemeClr>
          </a:solidFill>
          <a:ln w="50800">
            <a:solidFill>
              <a:srgbClr val="FFC000">
                <a:alpha val="50000"/>
              </a:srgb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zh-TW" altLang="en-US" sz="1400" b="1"/>
              <a:t>建立階層腳位</a:t>
            </a:r>
            <a:endParaRPr lang="en-US" sz="1400" b="1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AD783F3-B70F-525F-D19D-F0FB33BB1233}"/>
              </a:ext>
            </a:extLst>
          </p:cNvPr>
          <p:cNvSpPr txBox="1"/>
          <p:nvPr/>
        </p:nvSpPr>
        <p:spPr>
          <a:xfrm>
            <a:off x="6822595" y="5392842"/>
            <a:ext cx="930511" cy="307777"/>
          </a:xfrm>
          <a:prstGeom prst="rect">
            <a:avLst/>
          </a:prstGeom>
          <a:solidFill>
            <a:schemeClr val="bg1">
              <a:alpha val="50000"/>
            </a:schemeClr>
          </a:solidFill>
          <a:ln w="50800">
            <a:solidFill>
              <a:srgbClr val="FFC000">
                <a:alpha val="50000"/>
              </a:srgb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zh-TW" altLang="en-US" sz="1400" b="1"/>
              <a:t>放置文字</a:t>
            </a:r>
            <a:endParaRPr lang="en-US" sz="1400" b="1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11AFD57-5E9B-1F15-A619-CC30A7AE0871}"/>
              </a:ext>
            </a:extLst>
          </p:cNvPr>
          <p:cNvSpPr txBox="1"/>
          <p:nvPr/>
        </p:nvSpPr>
        <p:spPr>
          <a:xfrm>
            <a:off x="4738231" y="3044021"/>
            <a:ext cx="723275" cy="738664"/>
          </a:xfrm>
          <a:prstGeom prst="rect">
            <a:avLst/>
          </a:prstGeom>
          <a:solidFill>
            <a:schemeClr val="bg1">
              <a:alpha val="50000"/>
            </a:schemeClr>
          </a:solidFill>
          <a:ln w="50800">
            <a:solidFill>
              <a:srgbClr val="00B0F0">
                <a:alpha val="50000"/>
              </a:srgb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zh-TW" altLang="en-US" sz="1400" b="1"/>
              <a:t>開啟
封裝
編輯器</a:t>
            </a:r>
            <a:endParaRPr lang="en-US" sz="1400" b="1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36AF3D7-E270-43F8-5060-7C5AE7F2FF5F}"/>
              </a:ext>
            </a:extLst>
          </p:cNvPr>
          <p:cNvSpPr txBox="1"/>
          <p:nvPr/>
        </p:nvSpPr>
        <p:spPr>
          <a:xfrm>
            <a:off x="3861455" y="3042833"/>
            <a:ext cx="742511" cy="738664"/>
          </a:xfrm>
          <a:prstGeom prst="rect">
            <a:avLst/>
          </a:prstGeom>
          <a:solidFill>
            <a:schemeClr val="bg1">
              <a:alpha val="50000"/>
            </a:schemeClr>
          </a:solidFill>
          <a:ln w="50800">
            <a:solidFill>
              <a:srgbClr val="00B0F0">
                <a:alpha val="50000"/>
              </a:srgb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zh-TW" altLang="en-US" sz="1400" b="1"/>
              <a:t>開啟
符號
編輯器</a:t>
            </a:r>
            <a:endParaRPr lang="en-US" sz="1400" b="1" dirty="0"/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6BC47A78-BD31-64A5-0436-4B5D739E1C8C}"/>
              </a:ext>
            </a:extLst>
          </p:cNvPr>
          <p:cNvCxnSpPr>
            <a:cxnSpLocks/>
            <a:stCxn id="66" idx="0"/>
          </p:cNvCxnSpPr>
          <p:nvPr/>
        </p:nvCxnSpPr>
        <p:spPr>
          <a:xfrm flipV="1">
            <a:off x="5099869" y="1928576"/>
            <a:ext cx="1469456" cy="1115445"/>
          </a:xfrm>
          <a:prstGeom prst="straightConnector1">
            <a:avLst/>
          </a:prstGeom>
          <a:ln w="63500">
            <a:solidFill>
              <a:srgbClr val="00B0F0">
                <a:alpha val="50000"/>
              </a:srgbClr>
            </a:solidFill>
            <a:tailEnd type="arrow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4351DF16-6572-A06B-393A-EE0C9B0F4803}"/>
              </a:ext>
            </a:extLst>
          </p:cNvPr>
          <p:cNvCxnSpPr>
            <a:cxnSpLocks/>
            <a:stCxn id="67" idx="0"/>
          </p:cNvCxnSpPr>
          <p:nvPr/>
        </p:nvCxnSpPr>
        <p:spPr>
          <a:xfrm flipV="1">
            <a:off x="4232711" y="1928576"/>
            <a:ext cx="1918223" cy="1114257"/>
          </a:xfrm>
          <a:prstGeom prst="straightConnector1">
            <a:avLst/>
          </a:prstGeom>
          <a:ln w="63500">
            <a:solidFill>
              <a:srgbClr val="00B0F0">
                <a:alpha val="50000"/>
              </a:srgbClr>
            </a:solidFill>
            <a:tailEnd type="arrow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8C26CC43-5B17-746D-052C-B0BB951C7121}"/>
              </a:ext>
            </a:extLst>
          </p:cNvPr>
          <p:cNvSpPr txBox="1"/>
          <p:nvPr/>
        </p:nvSpPr>
        <p:spPr>
          <a:xfrm>
            <a:off x="5656526" y="3044106"/>
            <a:ext cx="734625" cy="523220"/>
          </a:xfrm>
          <a:prstGeom prst="rect">
            <a:avLst/>
          </a:prstGeom>
          <a:solidFill>
            <a:schemeClr val="bg1">
              <a:alpha val="50000"/>
            </a:schemeClr>
          </a:solidFill>
          <a:ln w="50800">
            <a:solidFill>
              <a:srgbClr val="00B0F0">
                <a:alpha val="50000"/>
              </a:srgb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zh-TW" altLang="en-US" sz="1400" b="1"/>
              <a:t>產生
</a:t>
            </a:r>
            <a:r>
              <a:rPr lang="en-US" sz="1400" b="1"/>
              <a:t>Netlist</a:t>
            </a:r>
            <a:endParaRPr lang="en-US" sz="1400" b="1" dirty="0"/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02A2EB6E-2562-4E29-5252-972C09ABBEB4}"/>
              </a:ext>
            </a:extLst>
          </p:cNvPr>
          <p:cNvCxnSpPr>
            <a:cxnSpLocks/>
            <a:stCxn id="70" idx="0"/>
          </p:cNvCxnSpPr>
          <p:nvPr/>
        </p:nvCxnSpPr>
        <p:spPr>
          <a:xfrm flipV="1">
            <a:off x="6023839" y="1955214"/>
            <a:ext cx="1400241" cy="1088892"/>
          </a:xfrm>
          <a:prstGeom prst="straightConnector1">
            <a:avLst/>
          </a:prstGeom>
          <a:ln w="63500">
            <a:solidFill>
              <a:srgbClr val="00B0F0">
                <a:alpha val="50000"/>
              </a:srgbClr>
            </a:solidFill>
            <a:tailEnd type="arrow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CBE12E76-BE77-4054-4116-5E5EB5F6EEE6}"/>
              </a:ext>
            </a:extLst>
          </p:cNvPr>
          <p:cNvSpPr txBox="1"/>
          <p:nvPr/>
        </p:nvSpPr>
        <p:spPr>
          <a:xfrm>
            <a:off x="7518855" y="1136126"/>
            <a:ext cx="1620957" cy="307777"/>
          </a:xfrm>
          <a:prstGeom prst="rect">
            <a:avLst/>
          </a:prstGeom>
          <a:noFill/>
          <a:ln w="25400">
            <a:solidFill>
              <a:srgbClr val="00B0F0">
                <a:alpha val="50000"/>
              </a:srgb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zh-TW" altLang="en-US" sz="1400" b="1"/>
              <a:t>將封裝指派給符號</a:t>
            </a:r>
            <a:endParaRPr lang="en-US" sz="1400" b="1" dirty="0"/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A7C88981-E20B-7D77-CE4F-726DEC141FC7}"/>
              </a:ext>
            </a:extLst>
          </p:cNvPr>
          <p:cNvCxnSpPr>
            <a:cxnSpLocks/>
          </p:cNvCxnSpPr>
          <p:nvPr/>
        </p:nvCxnSpPr>
        <p:spPr>
          <a:xfrm flipH="1">
            <a:off x="7252706" y="1446240"/>
            <a:ext cx="384439" cy="408287"/>
          </a:xfrm>
          <a:prstGeom prst="straightConnector1">
            <a:avLst/>
          </a:prstGeom>
          <a:ln w="63500">
            <a:solidFill>
              <a:srgbClr val="00B0F0">
                <a:alpha val="50000"/>
              </a:srgbClr>
            </a:solidFill>
            <a:tailEnd type="arrow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DDD9F9FB-6337-63E9-3410-A2BCD80B6AD9}"/>
              </a:ext>
            </a:extLst>
          </p:cNvPr>
          <p:cNvSpPr txBox="1"/>
          <p:nvPr/>
        </p:nvSpPr>
        <p:spPr>
          <a:xfrm>
            <a:off x="5584969" y="1137939"/>
            <a:ext cx="1261884" cy="307777"/>
          </a:xfrm>
          <a:prstGeom prst="rect">
            <a:avLst/>
          </a:prstGeom>
          <a:noFill/>
          <a:ln w="25400">
            <a:solidFill>
              <a:srgbClr val="00B0F0">
                <a:alpha val="50000"/>
              </a:srgb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zh-TW" altLang="en-US" sz="1400" b="1"/>
              <a:t>電氣規則檢查</a:t>
            </a:r>
            <a:endParaRPr lang="en-US" sz="1400" b="1" dirty="0"/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2778FDC0-12C2-0F26-FC00-0BBDF12D50B1}"/>
              </a:ext>
            </a:extLst>
          </p:cNvPr>
          <p:cNvCxnSpPr>
            <a:cxnSpLocks/>
          </p:cNvCxnSpPr>
          <p:nvPr/>
        </p:nvCxnSpPr>
        <p:spPr>
          <a:xfrm>
            <a:off x="6657962" y="1436483"/>
            <a:ext cx="356627" cy="418044"/>
          </a:xfrm>
          <a:prstGeom prst="straightConnector1">
            <a:avLst/>
          </a:prstGeom>
          <a:ln w="63500">
            <a:solidFill>
              <a:srgbClr val="00B0F0">
                <a:alpha val="50000"/>
              </a:srgbClr>
            </a:solidFill>
            <a:tailEnd type="arrow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94997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943735F-8CD2-CDAA-DA1D-E2FF8393AA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50680"/>
            <a:ext cx="9905998" cy="766399"/>
          </a:xfrm>
        </p:spPr>
        <p:txBody>
          <a:bodyPr>
            <a:normAutofit/>
          </a:bodyPr>
          <a:lstStyle/>
          <a:p>
            <a:pPr algn="ctr"/>
            <a:r>
              <a:rPr lang="zh-TW" altLang="en-US" sz="4000" b="1" cap="none">
                <a:effectLst>
                  <a:outerShdw blurRad="50800" dist="38100" dir="2700000" algn="tl" rotWithShape="0">
                    <a:schemeClr val="tx1">
                      <a:alpha val="40000"/>
                    </a:schemeClr>
                  </a:outerShdw>
                </a:effectLst>
              </a:rPr>
              <a:t>原理圖佈局編輯器</a:t>
            </a:r>
            <a:endParaRPr lang="en-US" sz="4000" b="1" cap="none" dirty="0">
              <a:effectLst>
                <a:outerShdw blurRad="50800" dist="38100" dir="2700000" algn="tl" rotWithShape="0">
                  <a:schemeClr val="tx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906EE5A3-D312-F170-D448-03D652FDF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828" y="992672"/>
            <a:ext cx="7877805" cy="5714648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70000"/>
              </a:lnSpc>
            </a:pPr>
            <a:r>
              <a:rPr lang="zh-TW" altLang="en-US" sz="2400"/>
              <a:t>若要在原理圖中放置新的符號，請點選 放置 </a:t>
            </a:r>
            <a:r>
              <a:rPr lang="en-US" altLang="zh-TW" sz="2400"/>
              <a:t>Symbol </a:t>
            </a:r>
            <a:r>
              <a:rPr lang="zh-TW" altLang="en-US" sz="2400"/>
              <a:t>工具，再點一下原理圖頁面。系統會提示你從可用的元件庫中選擇符號。
若要移動或旋轉已放置的符號，請在其上按右鍵，並選擇移動或方向選單。
若要連接符號，請選擇導線或匯流排工具，再點選要連接的符號腳位。
若要編輯符號的參考編號，直接雙擊該編號。
若要編輯符號的所有屬性，請按右鍵並選擇 </a:t>
            </a:r>
            <a:r>
              <a:rPr lang="en-US" altLang="zh-TW" sz="2400"/>
              <a:t>Edit Properties </a:t>
            </a:r>
            <a:r>
              <a:rPr lang="zh-TW" altLang="en-US" sz="2400"/>
              <a:t>選單。</a:t>
            </a:r>
            <a:endParaRPr lang="en-US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7713EBA-8C23-4B8A-CACB-AE55DA70C2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3420" y="992672"/>
            <a:ext cx="2619924" cy="16532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5A97696-14DC-60CB-9BC5-5480EED729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3420" y="2612223"/>
            <a:ext cx="2612544" cy="13634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41AEAD7-4CB6-AE3A-4075-686D2727A5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3420" y="3975640"/>
            <a:ext cx="2730330" cy="10002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E409597-D3DE-C2B3-9ECF-0F6D63EB2E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3420" y="5193099"/>
            <a:ext cx="2612544" cy="1164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1730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5BA614-EC86-7FA3-9CBE-935B741DA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5">
            <a:extLst>
              <a:ext uri="{FF2B5EF4-FFF2-40B4-BE49-F238E27FC236}">
                <a16:creationId xmlns:a16="http://schemas.microsoft.com/office/drawing/2014/main" id="{99BD5351-4E09-AFAD-C797-73EAFBC3BC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4361" y="897039"/>
            <a:ext cx="7546956" cy="575883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TW" altLang="en-US" sz="2200"/>
              <a:t>若要在編輯屬性中為符號加入額外資訊，請點選 </a:t>
            </a:r>
            <a:r>
              <a:rPr lang="en-US" altLang="zh-TW" sz="2200"/>
              <a:t>+ add field</a:t>
            </a:r>
            <a:r>
              <a:rPr lang="zh-TW" altLang="en-US" sz="2200"/>
              <a:t>，輸入文字並選擇是否顯示。
若要放置標籤，請點選 </a:t>
            </a:r>
            <a:r>
              <a:rPr lang="en-US" altLang="zh-TW" sz="2200"/>
              <a:t>global label </a:t>
            </a:r>
            <a:r>
              <a:rPr lang="zh-TW" altLang="en-US" sz="2200"/>
              <a:t>工具並在原理圖上點一下。系統會提示你輸入標籤與其他設定，例如方向。
全域標籤可用來在原理圖中連接不同導線網路，而不必讓導線彼此交叉。
請確認所有符號都已關聯到對應封裝，方法是按下 </a:t>
            </a:r>
            <a:r>
              <a:rPr lang="en-US" altLang="zh-TW" sz="2200"/>
              <a:t>Assign Footprints </a:t>
            </a:r>
            <a:r>
              <a:rPr lang="zh-TW" altLang="en-US" sz="2200"/>
              <a:t>按鈕，並為需要的符號選擇封裝。
完成後按下 產生 </a:t>
            </a:r>
            <a:r>
              <a:rPr lang="en-US" altLang="zh-TW" sz="2200"/>
              <a:t>Netlist </a:t>
            </a:r>
            <a:r>
              <a:rPr lang="zh-TW" altLang="en-US" sz="2200"/>
              <a:t>按鈕，以建立稍後匯入 </a:t>
            </a:r>
            <a:r>
              <a:rPr lang="en-US" altLang="zh-TW" sz="2200"/>
              <a:t>Pcbnew </a:t>
            </a:r>
            <a:r>
              <a:rPr lang="zh-TW" altLang="en-US" sz="2200"/>
              <a:t>的檔案。</a:t>
            </a:r>
            <a:endParaRPr lang="en-US" sz="22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715F6BF1-7B58-B4D4-587A-F65195EC79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7258" y="1209492"/>
            <a:ext cx="2236251" cy="1516288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05E3C8A8-CDEF-43C0-5081-8D9BDF55F1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7809" y="1906630"/>
            <a:ext cx="800100" cy="81915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DFD5CB6-29D2-0B45-F7A4-495B5515D2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7258" y="2767418"/>
            <a:ext cx="2236251" cy="140017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5B3EB9E3-54C5-1FD8-CF26-3BC0E162DF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48390" y="3268861"/>
            <a:ext cx="2103938" cy="1284065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0FCB5258-02F3-5FCE-8FE8-FC8A4792E6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57258" y="4598051"/>
            <a:ext cx="3295070" cy="1206038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F0850B6C-2CC2-A31C-41B1-54C4DB925E3F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b="24032"/>
          <a:stretch/>
        </p:blipFill>
        <p:spPr>
          <a:xfrm>
            <a:off x="8257258" y="5853721"/>
            <a:ext cx="1832059" cy="791473"/>
          </a:xfrm>
          <a:prstGeom prst="rect">
            <a:avLst/>
          </a:prstGeom>
        </p:spPr>
      </p:pic>
      <p:sp>
        <p:nvSpPr>
          <p:cNvPr id="28" name="Title 1">
            <a:extLst>
              <a:ext uri="{FF2B5EF4-FFF2-40B4-BE49-F238E27FC236}">
                <a16:creationId xmlns:a16="http://schemas.microsoft.com/office/drawing/2014/main" id="{4E22B99E-763B-8E6F-CAEC-FB9449D56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130640"/>
            <a:ext cx="9905998" cy="766399"/>
          </a:xfrm>
        </p:spPr>
        <p:txBody>
          <a:bodyPr>
            <a:normAutofit/>
          </a:bodyPr>
          <a:lstStyle/>
          <a:p>
            <a:pPr algn="ctr"/>
            <a:r>
              <a:rPr lang="zh-TW" altLang="en-US" sz="4000" b="1" cap="none">
                <a:effectLst>
                  <a:outerShdw blurRad="50800" dist="38100" dir="2700000" algn="tl" rotWithShape="0">
                    <a:schemeClr val="tx1">
                      <a:alpha val="40000"/>
                    </a:schemeClr>
                  </a:outerShdw>
                </a:effectLst>
              </a:rPr>
              <a:t>原理圖佈局編輯器</a:t>
            </a:r>
            <a:endParaRPr lang="en-US" sz="4000" b="1" cap="none" dirty="0">
              <a:effectLst>
                <a:outerShdw blurRad="50800" dist="38100" dir="2700000" algn="tl" rotWithShape="0">
                  <a:schemeClr val="tx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1300974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A4D1CC-DD94-0F0E-CCBE-CF0613517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08FDF53A-B352-07BC-07DD-E446DB22F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0"/>
            <a:ext cx="9905998" cy="766399"/>
          </a:xfrm>
        </p:spPr>
        <p:txBody>
          <a:bodyPr>
            <a:normAutofit/>
          </a:bodyPr>
          <a:lstStyle/>
          <a:p>
            <a:pPr algn="ctr"/>
            <a:r>
              <a:rPr lang="zh-TW" altLang="en-US" sz="4000" b="1" cap="none">
                <a:effectLst>
                  <a:outerShdw blurRad="50800" dist="38100" dir="2700000" algn="tl" rotWithShape="0">
                    <a:schemeClr val="tx1">
                      <a:alpha val="40000"/>
                    </a:schemeClr>
                  </a:outerShdw>
                </a:effectLst>
              </a:rPr>
              <a:t>符號編輯器</a:t>
            </a:r>
            <a:endParaRPr lang="en-US" sz="4000" b="1" cap="none" dirty="0">
              <a:effectLst>
                <a:outerShdw blurRad="50800" dist="38100" dir="2700000" algn="tl" rotWithShape="0">
                  <a:schemeClr val="tx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30147C6F-F83B-D32C-B70E-E54FC6D206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24781"/>
            <a:ext cx="6302477" cy="3608438"/>
          </a:xfrm>
        </p:spPr>
        <p:txBody>
          <a:bodyPr>
            <a:noAutofit/>
          </a:bodyPr>
          <a:lstStyle/>
          <a:p>
            <a:pPr>
              <a:lnSpc>
                <a:spcPct val="170000"/>
              </a:lnSpc>
            </a:pPr>
            <a:r>
              <a:rPr lang="zh-TW" altLang="en-US" sz="2000"/>
              <a:t>符號編輯器的操作方式與原理圖佈局編輯器非常相似，最大的差別在於你一次只會處理元件庫中的一個符號。
你可以複製符號，製作不同文字內容或封裝指派的變化版本。
這些符號會儲存在可供 </a:t>
            </a:r>
            <a:r>
              <a:rPr lang="en-US" altLang="zh-TW" sz="2000"/>
              <a:t>Schematic </a:t>
            </a:r>
            <a:r>
              <a:rPr lang="zh-TW" altLang="en-US" sz="2000"/>
              <a:t>使用的元件庫中。</a:t>
            </a:r>
            <a:endParaRPr lang="en-US" sz="2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61236A5-BB57-0631-8F80-78334AAF67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7113" y="1309288"/>
            <a:ext cx="5398168" cy="4080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1802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38C725D-8618-DC4B-0572-A20CE0459B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3865" y="1318650"/>
            <a:ext cx="7403724" cy="4748109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0DD83BA-614F-2F17-6A53-38323939D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5553"/>
            <a:ext cx="9905998" cy="766399"/>
          </a:xfrm>
        </p:spPr>
        <p:txBody>
          <a:bodyPr>
            <a:normAutofit/>
          </a:bodyPr>
          <a:lstStyle/>
          <a:p>
            <a:pPr algn="ctr"/>
            <a:r>
              <a:rPr lang="en-US" sz="4000" b="1" cap="none">
                <a:effectLst>
                  <a:outerShdw blurRad="50800" dist="38100" dir="2700000" algn="tl" rotWithShape="0">
                    <a:schemeClr val="tx1">
                      <a:alpha val="40000"/>
                    </a:schemeClr>
                  </a:outerShdw>
                </a:effectLst>
              </a:rPr>
              <a:t>PCB </a:t>
            </a:r>
            <a:r>
              <a:rPr lang="zh-TW" altLang="en-US" sz="4000" b="1" cap="none">
                <a:effectLst>
                  <a:outerShdw blurRad="50800" dist="38100" dir="2700000" algn="tl" rotWithShape="0">
                    <a:schemeClr val="tx1">
                      <a:alpha val="40000"/>
                    </a:schemeClr>
                  </a:outerShdw>
                </a:effectLst>
              </a:rPr>
              <a:t>佈局編輯器</a:t>
            </a:r>
            <a:endParaRPr lang="en-US" sz="4000" b="1" cap="none" dirty="0">
              <a:effectLst>
                <a:outerShdw blurRad="50800" dist="38100" dir="2700000" algn="tl" rotWithShape="0">
                  <a:schemeClr val="tx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324636-3343-C3BE-54A4-AD8EE9620427}"/>
              </a:ext>
            </a:extLst>
          </p:cNvPr>
          <p:cNvSpPr txBox="1"/>
          <p:nvPr/>
        </p:nvSpPr>
        <p:spPr>
          <a:xfrm>
            <a:off x="440800" y="1709629"/>
            <a:ext cx="1441420" cy="523220"/>
          </a:xfrm>
          <a:prstGeom prst="rect">
            <a:avLst/>
          </a:prstGeom>
          <a:noFill/>
          <a:ln w="25400">
            <a:solidFill>
              <a:srgbClr val="92D050">
                <a:alpha val="50000"/>
              </a:srgb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zh-TW" altLang="en-US" sz="1400" b="1"/>
              <a:t>變更走線、
過孔與格線設定</a:t>
            </a:r>
            <a:endParaRPr lang="en-US" sz="1400" b="1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1FA70AD-5593-1016-867C-6F71E4FFBCF4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1882220" y="1971239"/>
            <a:ext cx="563013" cy="0"/>
          </a:xfrm>
          <a:prstGeom prst="straightConnector1">
            <a:avLst/>
          </a:prstGeom>
          <a:ln w="63500">
            <a:solidFill>
              <a:srgbClr val="92D050">
                <a:alpha val="50000"/>
              </a:srgbClr>
            </a:solidFill>
            <a:tailEnd type="arrow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9D79900-DCBD-8AC0-4866-2F0120222C7D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7938741" y="2259470"/>
            <a:ext cx="555815" cy="0"/>
          </a:xfrm>
          <a:prstGeom prst="straightConnector1">
            <a:avLst/>
          </a:prstGeom>
          <a:ln w="63500">
            <a:solidFill>
              <a:srgbClr val="FF00FF">
                <a:alpha val="50000"/>
              </a:srgbClr>
            </a:solidFill>
            <a:tailEnd type="arrow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66AD4850-21BC-72AC-A515-541004464F04}"/>
              </a:ext>
            </a:extLst>
          </p:cNvPr>
          <p:cNvSpPr txBox="1"/>
          <p:nvPr/>
        </p:nvSpPr>
        <p:spPr>
          <a:xfrm>
            <a:off x="7395002" y="2105581"/>
            <a:ext cx="543739" cy="307777"/>
          </a:xfrm>
          <a:prstGeom prst="rect">
            <a:avLst/>
          </a:prstGeom>
          <a:solidFill>
            <a:schemeClr val="bg1">
              <a:alpha val="50000"/>
            </a:schemeClr>
          </a:solidFill>
          <a:ln w="50800">
            <a:solidFill>
              <a:srgbClr val="FF00FF">
                <a:alpha val="50000"/>
              </a:srgb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zh-TW" altLang="en-US" sz="1400" b="1"/>
              <a:t>選取</a:t>
            </a:r>
            <a:endParaRPr lang="en-US" sz="1400" b="1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F165918-FDA7-5DF7-1C93-1C90BC93035C}"/>
              </a:ext>
            </a:extLst>
          </p:cNvPr>
          <p:cNvCxnSpPr>
            <a:cxnSpLocks/>
            <a:stCxn id="12" idx="0"/>
          </p:cNvCxnSpPr>
          <p:nvPr/>
        </p:nvCxnSpPr>
        <p:spPr>
          <a:xfrm flipV="1">
            <a:off x="1084511" y="3582009"/>
            <a:ext cx="1220965" cy="485397"/>
          </a:xfrm>
          <a:prstGeom prst="straightConnector1">
            <a:avLst/>
          </a:prstGeom>
          <a:ln w="63500">
            <a:solidFill>
              <a:srgbClr val="92D050">
                <a:alpha val="50000"/>
              </a:srgbClr>
            </a:solidFill>
            <a:tailEnd type="arrow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881575F3-92A1-2E06-5976-306651D19D2F}"/>
              </a:ext>
            </a:extLst>
          </p:cNvPr>
          <p:cNvSpPr txBox="1"/>
          <p:nvPr/>
        </p:nvSpPr>
        <p:spPr>
          <a:xfrm>
            <a:off x="287722" y="4067406"/>
            <a:ext cx="1593578" cy="523220"/>
          </a:xfrm>
          <a:prstGeom prst="rect">
            <a:avLst/>
          </a:prstGeom>
          <a:noFill/>
          <a:ln w="25400">
            <a:solidFill>
              <a:srgbClr val="92D050">
                <a:alpha val="50000"/>
              </a:srgb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400" b="1"/>
              <a:t>選項
切換</a:t>
            </a:r>
            <a:endParaRPr lang="en-US" sz="14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491B532-6D6C-693A-7753-2BF1E9567F68}"/>
              </a:ext>
            </a:extLst>
          </p:cNvPr>
          <p:cNvSpPr txBox="1"/>
          <p:nvPr/>
        </p:nvSpPr>
        <p:spPr>
          <a:xfrm>
            <a:off x="3773592" y="2921089"/>
            <a:ext cx="723275" cy="738664"/>
          </a:xfrm>
          <a:prstGeom prst="rect">
            <a:avLst/>
          </a:prstGeom>
          <a:solidFill>
            <a:schemeClr val="bg1">
              <a:alpha val="50000"/>
            </a:schemeClr>
          </a:solidFill>
          <a:ln w="50800">
            <a:solidFill>
              <a:srgbClr val="00B0F0">
                <a:alpha val="50000"/>
              </a:srgb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zh-TW" altLang="en-US" sz="1400" b="1"/>
              <a:t>開啟
封裝
編輯器</a:t>
            </a:r>
            <a:endParaRPr lang="en-US" sz="1400" b="1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FB9857D-663D-9217-E37E-A0A2A9DDCC7F}"/>
              </a:ext>
            </a:extLst>
          </p:cNvPr>
          <p:cNvCxnSpPr>
            <a:cxnSpLocks/>
            <a:stCxn id="13" idx="0"/>
          </p:cNvCxnSpPr>
          <p:nvPr/>
        </p:nvCxnSpPr>
        <p:spPr>
          <a:xfrm flipV="1">
            <a:off x="4135230" y="1805644"/>
            <a:ext cx="1469456" cy="1115445"/>
          </a:xfrm>
          <a:prstGeom prst="straightConnector1">
            <a:avLst/>
          </a:prstGeom>
          <a:ln w="63500">
            <a:solidFill>
              <a:srgbClr val="00B0F0">
                <a:alpha val="50000"/>
              </a:srgbClr>
            </a:solidFill>
            <a:tailEnd type="arrow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AE14EAE-8AF3-18D9-FCA7-63876FF94006}"/>
              </a:ext>
            </a:extLst>
          </p:cNvPr>
          <p:cNvSpPr txBox="1"/>
          <p:nvPr/>
        </p:nvSpPr>
        <p:spPr>
          <a:xfrm>
            <a:off x="4691887" y="2921174"/>
            <a:ext cx="734625" cy="523220"/>
          </a:xfrm>
          <a:prstGeom prst="rect">
            <a:avLst/>
          </a:prstGeom>
          <a:solidFill>
            <a:schemeClr val="bg1">
              <a:alpha val="50000"/>
            </a:schemeClr>
          </a:solidFill>
          <a:ln w="50800">
            <a:solidFill>
              <a:srgbClr val="00B0F0">
                <a:alpha val="50000"/>
              </a:srgb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zh-TW" altLang="en-US" sz="1400" b="1"/>
              <a:t>載入
</a:t>
            </a:r>
            <a:r>
              <a:rPr lang="en-US" sz="1400" b="1"/>
              <a:t>Netlist</a:t>
            </a:r>
            <a:endParaRPr lang="en-US" sz="1400" b="1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329D24A-5B3A-BBDB-AF88-A2866476653E}"/>
              </a:ext>
            </a:extLst>
          </p:cNvPr>
          <p:cNvCxnSpPr>
            <a:cxnSpLocks/>
            <a:stCxn id="15" idx="0"/>
          </p:cNvCxnSpPr>
          <p:nvPr/>
        </p:nvCxnSpPr>
        <p:spPr>
          <a:xfrm flipV="1">
            <a:off x="5059200" y="1805559"/>
            <a:ext cx="1051642" cy="1115615"/>
          </a:xfrm>
          <a:prstGeom prst="straightConnector1">
            <a:avLst/>
          </a:prstGeom>
          <a:ln w="63500">
            <a:solidFill>
              <a:srgbClr val="00B0F0">
                <a:alpha val="50000"/>
              </a:srgbClr>
            </a:solidFill>
            <a:tailEnd type="arrow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4D9D8FB-0FAC-D105-8E17-A9173DB78E48}"/>
              </a:ext>
            </a:extLst>
          </p:cNvPr>
          <p:cNvSpPr txBox="1"/>
          <p:nvPr/>
        </p:nvSpPr>
        <p:spPr>
          <a:xfrm>
            <a:off x="7795461" y="955919"/>
            <a:ext cx="1082348" cy="307777"/>
          </a:xfrm>
          <a:prstGeom prst="rect">
            <a:avLst/>
          </a:prstGeom>
          <a:noFill/>
          <a:ln w="25400">
            <a:solidFill>
              <a:srgbClr val="00B0F0">
                <a:alpha val="50000"/>
              </a:srgb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zh-TW" altLang="en-US" sz="1400" b="1"/>
              <a:t>選擇工作層</a:t>
            </a:r>
            <a:endParaRPr lang="en-US" sz="1400" b="1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253C74B-832E-DAEB-09C8-0C28D4AA2C80}"/>
              </a:ext>
            </a:extLst>
          </p:cNvPr>
          <p:cNvCxnSpPr>
            <a:cxnSpLocks/>
          </p:cNvCxnSpPr>
          <p:nvPr/>
        </p:nvCxnSpPr>
        <p:spPr>
          <a:xfrm flipH="1">
            <a:off x="7260005" y="1266033"/>
            <a:ext cx="384439" cy="408287"/>
          </a:xfrm>
          <a:prstGeom prst="straightConnector1">
            <a:avLst/>
          </a:prstGeom>
          <a:ln w="63500">
            <a:solidFill>
              <a:srgbClr val="00B0F0">
                <a:alpha val="50000"/>
              </a:srgbClr>
            </a:solidFill>
            <a:tailEnd type="arrow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F882E6C0-DA94-E6DB-F717-2DCD1CA0C1AA}"/>
              </a:ext>
            </a:extLst>
          </p:cNvPr>
          <p:cNvSpPr txBox="1"/>
          <p:nvPr/>
        </p:nvSpPr>
        <p:spPr>
          <a:xfrm>
            <a:off x="1854760" y="950027"/>
            <a:ext cx="1540807" cy="307777"/>
          </a:xfrm>
          <a:prstGeom prst="rect">
            <a:avLst/>
          </a:prstGeom>
          <a:noFill/>
          <a:ln w="25400">
            <a:solidFill>
              <a:srgbClr val="00B0F0">
                <a:alpha val="50000"/>
              </a:srgb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zh-TW" altLang="en-US" sz="1400" b="1"/>
              <a:t>輸出 </a:t>
            </a:r>
            <a:r>
              <a:rPr lang="en-US" sz="1400" b="1"/>
              <a:t>Gerber </a:t>
            </a:r>
            <a:r>
              <a:rPr lang="zh-TW" altLang="en-US" sz="1400" b="1"/>
              <a:t>檔案</a:t>
            </a:r>
            <a:endParaRPr lang="en-US" sz="1400" b="1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D2BD454-A7BD-205C-7176-EE5E99AFEF4A}"/>
              </a:ext>
            </a:extLst>
          </p:cNvPr>
          <p:cNvCxnSpPr>
            <a:cxnSpLocks/>
          </p:cNvCxnSpPr>
          <p:nvPr/>
        </p:nvCxnSpPr>
        <p:spPr>
          <a:xfrm>
            <a:off x="3067210" y="1248571"/>
            <a:ext cx="356627" cy="418044"/>
          </a:xfrm>
          <a:prstGeom prst="straightConnector1">
            <a:avLst/>
          </a:prstGeom>
          <a:ln w="63500">
            <a:solidFill>
              <a:srgbClr val="00B0F0">
                <a:alpha val="50000"/>
              </a:srgbClr>
            </a:solidFill>
            <a:tailEnd type="arrow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8E8F2871-4889-0A1B-9D07-60E472CF2D06}"/>
              </a:ext>
            </a:extLst>
          </p:cNvPr>
          <p:cNvSpPr txBox="1"/>
          <p:nvPr/>
        </p:nvSpPr>
        <p:spPr>
          <a:xfrm>
            <a:off x="969727" y="1330197"/>
            <a:ext cx="902811" cy="307777"/>
          </a:xfrm>
          <a:prstGeom prst="rect">
            <a:avLst/>
          </a:prstGeom>
          <a:noFill/>
          <a:ln w="25400">
            <a:solidFill>
              <a:srgbClr val="92D050">
                <a:alpha val="50000"/>
              </a:srgb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zh-TW" altLang="en-US" sz="1400" b="1"/>
              <a:t>板子設定</a:t>
            </a:r>
            <a:endParaRPr lang="en-US" sz="1400" b="1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CE4DCA3-70C3-1A34-82B9-34669FFF3470}"/>
              </a:ext>
            </a:extLst>
          </p:cNvPr>
          <p:cNvCxnSpPr>
            <a:cxnSpLocks/>
            <a:stCxn id="21" idx="3"/>
          </p:cNvCxnSpPr>
          <p:nvPr/>
        </p:nvCxnSpPr>
        <p:spPr>
          <a:xfrm>
            <a:off x="1872538" y="1484086"/>
            <a:ext cx="839106" cy="266660"/>
          </a:xfrm>
          <a:prstGeom prst="straightConnector1">
            <a:avLst/>
          </a:prstGeom>
          <a:ln w="63500">
            <a:solidFill>
              <a:srgbClr val="92D050">
                <a:alpha val="50000"/>
              </a:srgbClr>
            </a:solidFill>
            <a:tailEnd type="arrow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32202978-7C82-2AA8-D92B-1ACD7289EA41}"/>
              </a:ext>
            </a:extLst>
          </p:cNvPr>
          <p:cNvSpPr txBox="1"/>
          <p:nvPr/>
        </p:nvSpPr>
        <p:spPr>
          <a:xfrm>
            <a:off x="9800449" y="2364745"/>
            <a:ext cx="1653670" cy="307777"/>
          </a:xfrm>
          <a:prstGeom prst="rect">
            <a:avLst/>
          </a:prstGeom>
          <a:solidFill>
            <a:schemeClr val="bg1">
              <a:alpha val="50000"/>
            </a:schemeClr>
          </a:solidFill>
          <a:ln w="50800">
            <a:solidFill>
              <a:srgbClr val="FF00FF">
                <a:alpha val="50000"/>
              </a:srgb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400" b="1"/>
              <a:t>高亮網路</a:t>
            </a:r>
            <a:endParaRPr lang="en-US" sz="1400" b="1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1390442-FBA7-742F-39DB-D2E713A51109}"/>
              </a:ext>
            </a:extLst>
          </p:cNvPr>
          <p:cNvCxnSpPr>
            <a:cxnSpLocks/>
            <a:stCxn id="23" idx="1"/>
          </p:cNvCxnSpPr>
          <p:nvPr/>
        </p:nvCxnSpPr>
        <p:spPr>
          <a:xfrm flipH="1">
            <a:off x="8638309" y="2518634"/>
            <a:ext cx="1162140" cy="0"/>
          </a:xfrm>
          <a:prstGeom prst="straightConnector1">
            <a:avLst/>
          </a:prstGeom>
          <a:ln w="63500">
            <a:solidFill>
              <a:srgbClr val="FF00FF">
                <a:alpha val="50000"/>
              </a:srgbClr>
            </a:solidFill>
            <a:tailEnd type="arrow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2977730-3410-FC6A-3716-A8D551EBA4BB}"/>
              </a:ext>
            </a:extLst>
          </p:cNvPr>
          <p:cNvCxnSpPr>
            <a:cxnSpLocks/>
            <a:stCxn id="26" idx="3"/>
          </p:cNvCxnSpPr>
          <p:nvPr/>
        </p:nvCxnSpPr>
        <p:spPr>
          <a:xfrm>
            <a:off x="7927584" y="2729879"/>
            <a:ext cx="566972" cy="0"/>
          </a:xfrm>
          <a:prstGeom prst="straightConnector1">
            <a:avLst/>
          </a:prstGeom>
          <a:ln w="63500">
            <a:solidFill>
              <a:srgbClr val="FF00FF">
                <a:alpha val="50000"/>
              </a:srgbClr>
            </a:solidFill>
            <a:tailEnd type="arrow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88279F5E-E193-8213-5509-2AB507CD2C32}"/>
              </a:ext>
            </a:extLst>
          </p:cNvPr>
          <p:cNvSpPr txBox="1"/>
          <p:nvPr/>
        </p:nvSpPr>
        <p:spPr>
          <a:xfrm>
            <a:off x="7204309" y="2575990"/>
            <a:ext cx="723275" cy="307777"/>
          </a:xfrm>
          <a:prstGeom prst="rect">
            <a:avLst/>
          </a:prstGeom>
          <a:solidFill>
            <a:schemeClr val="bg1">
              <a:alpha val="50000"/>
            </a:schemeClr>
          </a:solidFill>
          <a:ln w="50800">
            <a:solidFill>
              <a:srgbClr val="FF00FF">
                <a:alpha val="50000"/>
              </a:srgb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zh-TW" altLang="en-US" sz="1400" b="1"/>
              <a:t>飛線網</a:t>
            </a:r>
            <a:endParaRPr lang="en-US" sz="14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3B8372D-8EDF-DF63-05BB-67DFE8140E57}"/>
              </a:ext>
            </a:extLst>
          </p:cNvPr>
          <p:cNvSpPr txBox="1"/>
          <p:nvPr/>
        </p:nvSpPr>
        <p:spPr>
          <a:xfrm>
            <a:off x="9778498" y="2840516"/>
            <a:ext cx="1675621" cy="307777"/>
          </a:xfrm>
          <a:prstGeom prst="rect">
            <a:avLst/>
          </a:prstGeom>
          <a:solidFill>
            <a:schemeClr val="bg1">
              <a:alpha val="50000"/>
            </a:schemeClr>
          </a:solidFill>
          <a:ln w="50800">
            <a:solidFill>
              <a:srgbClr val="FF00FF">
                <a:alpha val="50000"/>
              </a:srgb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400" b="1"/>
              <a:t>新增封裝</a:t>
            </a:r>
            <a:endParaRPr lang="en-US" sz="1400" b="1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F38AF1C-BC9A-A406-6C36-D3A1A9885AF8}"/>
              </a:ext>
            </a:extLst>
          </p:cNvPr>
          <p:cNvCxnSpPr>
            <a:cxnSpLocks/>
            <a:stCxn id="27" idx="1"/>
          </p:cNvCxnSpPr>
          <p:nvPr/>
        </p:nvCxnSpPr>
        <p:spPr>
          <a:xfrm flipH="1">
            <a:off x="8632939" y="2994405"/>
            <a:ext cx="1145559" cy="0"/>
          </a:xfrm>
          <a:prstGeom prst="straightConnector1">
            <a:avLst/>
          </a:prstGeom>
          <a:ln w="63500">
            <a:solidFill>
              <a:srgbClr val="FF00FF">
                <a:alpha val="50000"/>
              </a:srgbClr>
            </a:solidFill>
            <a:tailEnd type="arrow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7637A42-C2D7-CDA7-DEE5-048791543D3C}"/>
              </a:ext>
            </a:extLst>
          </p:cNvPr>
          <p:cNvCxnSpPr>
            <a:cxnSpLocks/>
            <a:stCxn id="30" idx="3"/>
          </p:cNvCxnSpPr>
          <p:nvPr/>
        </p:nvCxnSpPr>
        <p:spPr>
          <a:xfrm>
            <a:off x="7682930" y="3200288"/>
            <a:ext cx="811626" cy="0"/>
          </a:xfrm>
          <a:prstGeom prst="straightConnector1">
            <a:avLst/>
          </a:prstGeom>
          <a:ln w="63500">
            <a:solidFill>
              <a:srgbClr val="FF00FF">
                <a:alpha val="50000"/>
              </a:srgbClr>
            </a:solidFill>
            <a:tailEnd type="arrow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EECEF602-B295-96BF-D11B-4D8D6CB30580}"/>
              </a:ext>
            </a:extLst>
          </p:cNvPr>
          <p:cNvSpPr txBox="1"/>
          <p:nvPr/>
        </p:nvSpPr>
        <p:spPr>
          <a:xfrm>
            <a:off x="7139191" y="3046399"/>
            <a:ext cx="543739" cy="307777"/>
          </a:xfrm>
          <a:prstGeom prst="rect">
            <a:avLst/>
          </a:prstGeom>
          <a:solidFill>
            <a:schemeClr val="bg1">
              <a:alpha val="50000"/>
            </a:schemeClr>
          </a:solidFill>
          <a:ln w="50800">
            <a:solidFill>
              <a:srgbClr val="FF00FF">
                <a:alpha val="50000"/>
              </a:srgb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zh-TW" altLang="en-US" sz="1400" b="1"/>
              <a:t>走線</a:t>
            </a:r>
            <a:endParaRPr lang="en-US" sz="1400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6AF6CF6-7A3F-E854-AE44-48F71BB37E2F}"/>
              </a:ext>
            </a:extLst>
          </p:cNvPr>
          <p:cNvSpPr txBox="1"/>
          <p:nvPr/>
        </p:nvSpPr>
        <p:spPr>
          <a:xfrm>
            <a:off x="9792478" y="3265843"/>
            <a:ext cx="1675622" cy="307777"/>
          </a:xfrm>
          <a:prstGeom prst="rect">
            <a:avLst/>
          </a:prstGeom>
          <a:solidFill>
            <a:schemeClr val="bg1">
              <a:alpha val="50000"/>
            </a:schemeClr>
          </a:solidFill>
          <a:ln w="50800">
            <a:solidFill>
              <a:srgbClr val="FF00FF">
                <a:alpha val="50000"/>
              </a:srgb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400" b="1"/>
              <a:t>新增過孔</a:t>
            </a:r>
            <a:endParaRPr lang="en-US" sz="1400" b="1" dirty="0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85DF227-920B-750B-9FAC-D5736F50504C}"/>
              </a:ext>
            </a:extLst>
          </p:cNvPr>
          <p:cNvCxnSpPr>
            <a:cxnSpLocks/>
            <a:stCxn id="31" idx="1"/>
          </p:cNvCxnSpPr>
          <p:nvPr/>
        </p:nvCxnSpPr>
        <p:spPr>
          <a:xfrm flipH="1">
            <a:off x="8632940" y="3419732"/>
            <a:ext cx="1159538" cy="25275"/>
          </a:xfrm>
          <a:prstGeom prst="straightConnector1">
            <a:avLst/>
          </a:prstGeom>
          <a:ln w="63500">
            <a:solidFill>
              <a:srgbClr val="FF00FF">
                <a:alpha val="50000"/>
              </a:srgbClr>
            </a:solidFill>
            <a:tailEnd type="arrow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7DB5EE2-0B01-6466-047F-D4A71D9E3FBB}"/>
              </a:ext>
            </a:extLst>
          </p:cNvPr>
          <p:cNvCxnSpPr>
            <a:cxnSpLocks/>
            <a:stCxn id="34" idx="3"/>
          </p:cNvCxnSpPr>
          <p:nvPr/>
        </p:nvCxnSpPr>
        <p:spPr>
          <a:xfrm flipV="1">
            <a:off x="7873019" y="3659753"/>
            <a:ext cx="621537" cy="2201"/>
          </a:xfrm>
          <a:prstGeom prst="straightConnector1">
            <a:avLst/>
          </a:prstGeom>
          <a:ln w="63500">
            <a:solidFill>
              <a:srgbClr val="FF00FF">
                <a:alpha val="50000"/>
              </a:srgbClr>
            </a:solidFill>
            <a:tailEnd type="arrow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37B927AB-B08D-7108-6B76-8A04E9863D31}"/>
              </a:ext>
            </a:extLst>
          </p:cNvPr>
          <p:cNvSpPr txBox="1"/>
          <p:nvPr/>
        </p:nvSpPr>
        <p:spPr>
          <a:xfrm>
            <a:off x="6611135" y="3508065"/>
            <a:ext cx="1261884" cy="307777"/>
          </a:xfrm>
          <a:prstGeom prst="rect">
            <a:avLst/>
          </a:prstGeom>
          <a:solidFill>
            <a:schemeClr val="bg1">
              <a:alpha val="50000"/>
            </a:schemeClr>
          </a:solidFill>
          <a:ln w="50800">
            <a:solidFill>
              <a:srgbClr val="FF00FF">
                <a:alpha val="50000"/>
              </a:srgb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zh-TW" altLang="en-US" sz="1400" b="1"/>
              <a:t>新增填充區域</a:t>
            </a:r>
            <a:endParaRPr lang="en-US" sz="1400" b="1" dirty="0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4A0A176E-DF97-632B-82C0-B59BF7E38FF1}"/>
              </a:ext>
            </a:extLst>
          </p:cNvPr>
          <p:cNvCxnSpPr>
            <a:cxnSpLocks/>
            <a:stCxn id="36" idx="1"/>
          </p:cNvCxnSpPr>
          <p:nvPr/>
        </p:nvCxnSpPr>
        <p:spPr>
          <a:xfrm flipH="1">
            <a:off x="8978570" y="1723106"/>
            <a:ext cx="835786" cy="582967"/>
          </a:xfrm>
          <a:prstGeom prst="straightConnector1">
            <a:avLst/>
          </a:prstGeom>
          <a:ln w="63500">
            <a:solidFill>
              <a:srgbClr val="92D050">
                <a:alpha val="50000"/>
              </a:srgbClr>
            </a:solidFill>
            <a:tailEnd type="arrow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BD05B316-10DC-7AAF-F755-4D0A76073F8F}"/>
              </a:ext>
            </a:extLst>
          </p:cNvPr>
          <p:cNvSpPr txBox="1"/>
          <p:nvPr/>
        </p:nvSpPr>
        <p:spPr>
          <a:xfrm>
            <a:off x="9814356" y="1353774"/>
            <a:ext cx="1639763" cy="738664"/>
          </a:xfrm>
          <a:prstGeom prst="rect">
            <a:avLst/>
          </a:prstGeom>
          <a:noFill/>
          <a:ln w="25400">
            <a:solidFill>
              <a:srgbClr val="92D050">
                <a:alpha val="50000"/>
              </a:srgb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400" b="1"/>
              <a:t>選擇
可見
圖層</a:t>
            </a:r>
            <a:endParaRPr lang="en-US" sz="1400" b="1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8C0C1A0-7B09-E32C-1DB6-E4BBAD4F2EA8}"/>
              </a:ext>
            </a:extLst>
          </p:cNvPr>
          <p:cNvSpPr txBox="1"/>
          <p:nvPr/>
        </p:nvSpPr>
        <p:spPr>
          <a:xfrm>
            <a:off x="9800449" y="3710930"/>
            <a:ext cx="1667651" cy="307777"/>
          </a:xfrm>
          <a:prstGeom prst="rect">
            <a:avLst/>
          </a:prstGeom>
          <a:solidFill>
            <a:schemeClr val="bg1">
              <a:alpha val="50000"/>
            </a:schemeClr>
          </a:solidFill>
          <a:ln w="50800">
            <a:solidFill>
              <a:srgbClr val="FF00FF">
                <a:alpha val="50000"/>
              </a:srgb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400" b="1"/>
              <a:t>禁止佈線區</a:t>
            </a:r>
            <a:endParaRPr lang="en-US" sz="1400" b="1" dirty="0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6065990B-4C66-DBCA-DE69-BDA9CD8490AD}"/>
              </a:ext>
            </a:extLst>
          </p:cNvPr>
          <p:cNvCxnSpPr>
            <a:cxnSpLocks/>
            <a:stCxn id="37" idx="1"/>
          </p:cNvCxnSpPr>
          <p:nvPr/>
        </p:nvCxnSpPr>
        <p:spPr>
          <a:xfrm flipH="1">
            <a:off x="8641331" y="3864819"/>
            <a:ext cx="1159118" cy="0"/>
          </a:xfrm>
          <a:prstGeom prst="straightConnector1">
            <a:avLst/>
          </a:prstGeom>
          <a:ln w="63500">
            <a:solidFill>
              <a:srgbClr val="FF00FF">
                <a:alpha val="50000"/>
              </a:srgbClr>
            </a:solidFill>
            <a:tailEnd type="arrow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4615D47D-0990-C780-062F-4EAFFAE09CFC}"/>
              </a:ext>
            </a:extLst>
          </p:cNvPr>
          <p:cNvCxnSpPr>
            <a:cxnSpLocks/>
            <a:stCxn id="40" idx="3"/>
          </p:cNvCxnSpPr>
          <p:nvPr/>
        </p:nvCxnSpPr>
        <p:spPr>
          <a:xfrm flipV="1">
            <a:off x="7970801" y="4130518"/>
            <a:ext cx="541683" cy="2200"/>
          </a:xfrm>
          <a:prstGeom prst="straightConnector1">
            <a:avLst/>
          </a:prstGeom>
          <a:ln w="63500">
            <a:solidFill>
              <a:srgbClr val="FF00FF">
                <a:alpha val="50000"/>
              </a:srgbClr>
            </a:solidFill>
            <a:tailEnd type="arrow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BAF4AD0C-9414-38FC-1300-131790751F1E}"/>
              </a:ext>
            </a:extLst>
          </p:cNvPr>
          <p:cNvSpPr txBox="1"/>
          <p:nvPr/>
        </p:nvSpPr>
        <p:spPr>
          <a:xfrm>
            <a:off x="6747096" y="3978829"/>
            <a:ext cx="1223705" cy="307777"/>
          </a:xfrm>
          <a:prstGeom prst="rect">
            <a:avLst/>
          </a:prstGeom>
          <a:solidFill>
            <a:schemeClr val="bg1">
              <a:alpha val="50000"/>
            </a:schemeClr>
          </a:solidFill>
          <a:ln w="50800">
            <a:solidFill>
              <a:srgbClr val="FF00FF">
                <a:alpha val="50000"/>
              </a:srgb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400" b="1"/>
              <a:t>圖形線條</a:t>
            </a:r>
            <a:endParaRPr lang="en-US" sz="1400" b="1" dirty="0"/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20E82776-37AD-217C-D108-A879BADEACB9}"/>
              </a:ext>
            </a:extLst>
          </p:cNvPr>
          <p:cNvCxnSpPr>
            <a:cxnSpLocks/>
            <a:stCxn id="42" idx="3"/>
          </p:cNvCxnSpPr>
          <p:nvPr/>
        </p:nvCxnSpPr>
        <p:spPr>
          <a:xfrm flipV="1">
            <a:off x="7952873" y="4571648"/>
            <a:ext cx="541683" cy="2200"/>
          </a:xfrm>
          <a:prstGeom prst="straightConnector1">
            <a:avLst/>
          </a:prstGeom>
          <a:ln w="63500">
            <a:solidFill>
              <a:srgbClr val="FF00FF">
                <a:alpha val="50000"/>
              </a:srgbClr>
            </a:solidFill>
            <a:tailEnd type="arrow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FAD5DBA3-EE2D-30C8-FAEF-AA9A921A8A2D}"/>
              </a:ext>
            </a:extLst>
          </p:cNvPr>
          <p:cNvSpPr txBox="1"/>
          <p:nvPr/>
        </p:nvSpPr>
        <p:spPr>
          <a:xfrm>
            <a:off x="6729168" y="4419959"/>
            <a:ext cx="1223705" cy="307777"/>
          </a:xfrm>
          <a:prstGeom prst="rect">
            <a:avLst/>
          </a:prstGeom>
          <a:solidFill>
            <a:schemeClr val="bg1">
              <a:alpha val="50000"/>
            </a:schemeClr>
          </a:solidFill>
          <a:ln w="50800">
            <a:solidFill>
              <a:srgbClr val="FF00FF">
                <a:alpha val="50000"/>
              </a:srgb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400" b="1"/>
              <a:t>圖形圓弧</a:t>
            </a:r>
            <a:endParaRPr lang="en-US" sz="1400" b="1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D8BE731-362A-55A1-592A-1997B47C94D9}"/>
              </a:ext>
            </a:extLst>
          </p:cNvPr>
          <p:cNvSpPr txBox="1"/>
          <p:nvPr/>
        </p:nvSpPr>
        <p:spPr>
          <a:xfrm>
            <a:off x="9814355" y="4197579"/>
            <a:ext cx="1653745" cy="307777"/>
          </a:xfrm>
          <a:prstGeom prst="rect">
            <a:avLst/>
          </a:prstGeom>
          <a:solidFill>
            <a:schemeClr val="bg1">
              <a:alpha val="50000"/>
            </a:schemeClr>
          </a:solidFill>
          <a:ln w="50800">
            <a:solidFill>
              <a:srgbClr val="FF00FF">
                <a:alpha val="50000"/>
              </a:srgb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400" b="1"/>
              <a:t>圖形圓形</a:t>
            </a:r>
            <a:endParaRPr lang="en-US" sz="1400" b="1" dirty="0"/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27D2EFE-4000-3A38-E66B-5F89E9FF2834}"/>
              </a:ext>
            </a:extLst>
          </p:cNvPr>
          <p:cNvCxnSpPr>
            <a:cxnSpLocks/>
            <a:stCxn id="43" idx="1"/>
          </p:cNvCxnSpPr>
          <p:nvPr/>
        </p:nvCxnSpPr>
        <p:spPr>
          <a:xfrm flipH="1">
            <a:off x="8655237" y="4351468"/>
            <a:ext cx="1159118" cy="0"/>
          </a:xfrm>
          <a:prstGeom prst="straightConnector1">
            <a:avLst/>
          </a:prstGeom>
          <a:ln w="63500">
            <a:solidFill>
              <a:srgbClr val="FF00FF">
                <a:alpha val="50000"/>
              </a:srgbClr>
            </a:solidFill>
            <a:tailEnd type="arrow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B8D43F35-9354-D37A-88D4-3B55DA8B70E9}"/>
              </a:ext>
            </a:extLst>
          </p:cNvPr>
          <p:cNvSpPr txBox="1"/>
          <p:nvPr/>
        </p:nvSpPr>
        <p:spPr>
          <a:xfrm>
            <a:off x="9800449" y="4667218"/>
            <a:ext cx="1653745" cy="307777"/>
          </a:xfrm>
          <a:prstGeom prst="rect">
            <a:avLst/>
          </a:prstGeom>
          <a:solidFill>
            <a:schemeClr val="bg1">
              <a:alpha val="50000"/>
            </a:schemeClr>
          </a:solidFill>
          <a:ln w="50800">
            <a:solidFill>
              <a:srgbClr val="FF00FF">
                <a:alpha val="50000"/>
              </a:srgb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400" b="1"/>
              <a:t>圖形多邊形</a:t>
            </a:r>
            <a:endParaRPr lang="en-US" sz="1400" b="1" dirty="0"/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05AB40B6-1A12-2088-CEC7-4CDDD503B4DD}"/>
              </a:ext>
            </a:extLst>
          </p:cNvPr>
          <p:cNvCxnSpPr>
            <a:cxnSpLocks/>
            <a:stCxn id="45" idx="1"/>
          </p:cNvCxnSpPr>
          <p:nvPr/>
        </p:nvCxnSpPr>
        <p:spPr>
          <a:xfrm flipH="1">
            <a:off x="8641331" y="4821107"/>
            <a:ext cx="1159118" cy="0"/>
          </a:xfrm>
          <a:prstGeom prst="straightConnector1">
            <a:avLst/>
          </a:prstGeom>
          <a:ln w="63500">
            <a:solidFill>
              <a:srgbClr val="FF00FF">
                <a:alpha val="50000"/>
              </a:srgbClr>
            </a:solidFill>
            <a:tailEnd type="arrow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DB9AAD08-1C55-1C1B-06CF-113DCEDD6439}"/>
              </a:ext>
            </a:extLst>
          </p:cNvPr>
          <p:cNvCxnSpPr>
            <a:cxnSpLocks/>
            <a:stCxn id="48" idx="3"/>
          </p:cNvCxnSpPr>
          <p:nvPr/>
        </p:nvCxnSpPr>
        <p:spPr>
          <a:xfrm flipV="1">
            <a:off x="7952873" y="5000467"/>
            <a:ext cx="541683" cy="109921"/>
          </a:xfrm>
          <a:prstGeom prst="straightConnector1">
            <a:avLst/>
          </a:prstGeom>
          <a:ln w="63500">
            <a:solidFill>
              <a:srgbClr val="FF00FF">
                <a:alpha val="50000"/>
              </a:srgbClr>
            </a:solidFill>
            <a:tailEnd type="arrow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AE3F51F8-6BA6-C95A-73E7-0A52DCF9A095}"/>
              </a:ext>
            </a:extLst>
          </p:cNvPr>
          <p:cNvSpPr txBox="1"/>
          <p:nvPr/>
        </p:nvSpPr>
        <p:spPr>
          <a:xfrm>
            <a:off x="7082656" y="4848778"/>
            <a:ext cx="870217" cy="523220"/>
          </a:xfrm>
          <a:prstGeom prst="rect">
            <a:avLst/>
          </a:prstGeom>
          <a:solidFill>
            <a:schemeClr val="bg1">
              <a:alpha val="50000"/>
            </a:schemeClr>
          </a:solidFill>
          <a:ln w="50800">
            <a:solidFill>
              <a:srgbClr val="FF00FF">
                <a:alpha val="50000"/>
              </a:srgb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400" b="1"/>
              <a:t>新增文字</a:t>
            </a:r>
            <a:endParaRPr lang="en-US" sz="1400" b="1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B35EC28-8914-7393-98C5-06E4C20952A5}"/>
              </a:ext>
            </a:extLst>
          </p:cNvPr>
          <p:cNvSpPr txBox="1"/>
          <p:nvPr/>
        </p:nvSpPr>
        <p:spPr>
          <a:xfrm>
            <a:off x="9814355" y="5177315"/>
            <a:ext cx="1653745" cy="307777"/>
          </a:xfrm>
          <a:prstGeom prst="rect">
            <a:avLst/>
          </a:prstGeom>
          <a:solidFill>
            <a:schemeClr val="bg1">
              <a:alpha val="50000"/>
            </a:schemeClr>
          </a:solidFill>
          <a:ln w="50800">
            <a:solidFill>
              <a:srgbClr val="FF00FF">
                <a:alpha val="50000"/>
              </a:srgb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400" b="1"/>
              <a:t>新增尺寸</a:t>
            </a:r>
            <a:endParaRPr lang="en-US" sz="1400" b="1" dirty="0"/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ABFF8568-DD91-A3A7-5F96-439BB3A9869C}"/>
              </a:ext>
            </a:extLst>
          </p:cNvPr>
          <p:cNvCxnSpPr>
            <a:cxnSpLocks/>
            <a:stCxn id="49" idx="1"/>
          </p:cNvCxnSpPr>
          <p:nvPr/>
        </p:nvCxnSpPr>
        <p:spPr>
          <a:xfrm flipH="1">
            <a:off x="8655237" y="5331204"/>
            <a:ext cx="1159118" cy="0"/>
          </a:xfrm>
          <a:prstGeom prst="straightConnector1">
            <a:avLst/>
          </a:prstGeom>
          <a:ln w="63500">
            <a:solidFill>
              <a:srgbClr val="FF00FF">
                <a:alpha val="50000"/>
              </a:srgbClr>
            </a:solidFill>
            <a:tailEnd type="arrow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E6FCE469-EE54-3DEE-C0CA-1516AAB77C16}"/>
              </a:ext>
            </a:extLst>
          </p:cNvPr>
          <p:cNvCxnSpPr>
            <a:cxnSpLocks/>
            <a:stCxn id="52" idx="3"/>
          </p:cNvCxnSpPr>
          <p:nvPr/>
        </p:nvCxnSpPr>
        <p:spPr>
          <a:xfrm flipV="1">
            <a:off x="7952873" y="5459935"/>
            <a:ext cx="541683" cy="2198"/>
          </a:xfrm>
          <a:prstGeom prst="straightConnector1">
            <a:avLst/>
          </a:prstGeom>
          <a:ln w="63500">
            <a:solidFill>
              <a:srgbClr val="FF00FF">
                <a:alpha val="50000"/>
              </a:srgbClr>
            </a:solidFill>
            <a:tailEnd type="arrow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F7D88B68-64B2-D54A-28C8-0259E15D5392}"/>
              </a:ext>
            </a:extLst>
          </p:cNvPr>
          <p:cNvSpPr txBox="1"/>
          <p:nvPr/>
        </p:nvSpPr>
        <p:spPr>
          <a:xfrm>
            <a:off x="6393180" y="5308244"/>
            <a:ext cx="1559693" cy="307777"/>
          </a:xfrm>
          <a:prstGeom prst="rect">
            <a:avLst/>
          </a:prstGeom>
          <a:solidFill>
            <a:schemeClr val="bg1">
              <a:alpha val="50000"/>
            </a:schemeClr>
          </a:solidFill>
          <a:ln w="50800">
            <a:solidFill>
              <a:srgbClr val="FF00FF">
                <a:alpha val="50000"/>
              </a:srgb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TW" altLang="en-US" sz="1400" b="1"/>
              <a:t>圖層對齊</a:t>
            </a:r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22302493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E1F35B2D-46DB-CBF4-D56A-37DAF33F17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707923"/>
            <a:ext cx="8423257" cy="6150077"/>
          </a:xfrm>
        </p:spPr>
        <p:txBody>
          <a:bodyPr>
            <a:normAutofit fontScale="92500"/>
          </a:bodyPr>
          <a:lstStyle/>
          <a:p>
            <a:pPr algn="just">
              <a:lnSpc>
                <a:spcPct val="150000"/>
              </a:lnSpc>
            </a:pPr>
            <a:r>
              <a:rPr lang="zh-TW" altLang="en-US" sz="2200"/>
              <a:t>當你開始新的佈局，或因原理圖變更而要更新佈局時，請點選 載入 </a:t>
            </a:r>
            <a:r>
              <a:rPr lang="en-US" altLang="zh-TW" sz="2200"/>
              <a:t>Netlist </a:t>
            </a:r>
            <a:r>
              <a:rPr lang="zh-TW" altLang="en-US" sz="2200"/>
              <a:t>按鈕以載入所有原理圖元件。系統會要求你選擇檔案，以及如何處理現有封裝。
這會載入或更新佈局中的封裝，並顯示它們之間需要佈線的連接線。
使用選取工具與屬性設定來移動封裝，並調整其方向到板上的適當位置。
選擇某一個銅層作為作用圖層，然後點選 </a:t>
            </a:r>
            <a:r>
              <a:rPr lang="en-US" altLang="zh-TW" sz="2200"/>
              <a:t>route tracks</a:t>
            </a:r>
            <a:r>
              <a:rPr lang="zh-TW" altLang="en-US" sz="2200"/>
              <a:t>，在封裝焊盤之間進行佈線。
若要在板上加入絲印文字，請選擇 </a:t>
            </a:r>
            <a:r>
              <a:rPr lang="en-US" altLang="zh-TW" sz="2200"/>
              <a:t>front silk </a:t>
            </a:r>
            <a:r>
              <a:rPr lang="zh-TW" altLang="en-US" sz="2200"/>
              <a:t>作為作用圖層，按下 </a:t>
            </a:r>
            <a:r>
              <a:rPr lang="en-US" altLang="zh-TW" sz="2200"/>
              <a:t>add text </a:t>
            </a:r>
            <a:r>
              <a:rPr lang="zh-TW" altLang="en-US" sz="2200"/>
              <a:t>按鈕後再點一下電路板。系統會提示你輸入文字與設定，建立後也可以再依需要移動位置。</a:t>
            </a:r>
            <a:endParaRPr lang="en-US" sz="2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84926BE-06B8-F5CB-4285-AF05242567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3257" y="1050707"/>
            <a:ext cx="2876401" cy="20415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DCA434D-988F-7203-F19F-A40C213C79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2360" y="2444477"/>
            <a:ext cx="1539291" cy="110335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9F15CDD-7A35-B571-16F1-79FB99AB3C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0029" y="2996153"/>
            <a:ext cx="1405559" cy="147812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DA364B2-FA13-2126-D6F8-1FAA584B32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02360" y="3735217"/>
            <a:ext cx="1534148" cy="158816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4FAF057-700D-4C09-03B3-DE698BD6DB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3257" y="5115083"/>
            <a:ext cx="1779103" cy="138689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4D23D57-96EA-AD6D-EF35-C675BC066D7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31483" y="5819930"/>
            <a:ext cx="2105025" cy="86369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26ABAAD5-CF9D-0DF8-3D8D-060C0CC15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4593"/>
            <a:ext cx="9905998" cy="766399"/>
          </a:xfrm>
        </p:spPr>
        <p:txBody>
          <a:bodyPr>
            <a:normAutofit/>
          </a:bodyPr>
          <a:lstStyle/>
          <a:p>
            <a:pPr algn="ctr"/>
            <a:r>
              <a:rPr lang="en-US" sz="4000" b="1" cap="none">
                <a:effectLst>
                  <a:outerShdw blurRad="50800" dist="38100" dir="2700000" algn="tl" rotWithShape="0">
                    <a:schemeClr val="tx1">
                      <a:alpha val="40000"/>
                    </a:schemeClr>
                  </a:outerShdw>
                </a:effectLst>
              </a:rPr>
              <a:t>PCB </a:t>
            </a:r>
            <a:r>
              <a:rPr lang="zh-TW" altLang="en-US" sz="4000" b="1" cap="none">
                <a:effectLst>
                  <a:outerShdw blurRad="50800" dist="38100" dir="2700000" algn="tl" rotWithShape="0">
                    <a:schemeClr val="tx1">
                      <a:alpha val="40000"/>
                    </a:schemeClr>
                  </a:outerShdw>
                </a:effectLst>
              </a:rPr>
              <a:t>佈局編輯器</a:t>
            </a:r>
            <a:endParaRPr lang="en-US" sz="4000" b="1" cap="none" dirty="0">
              <a:effectLst>
                <a:outerShdw blurRad="50800" dist="38100" dir="2700000" algn="tl" rotWithShape="0">
                  <a:schemeClr val="tx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29462886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7E5EC8A-8AA5-3A1F-EB9B-6C0FF05DD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053" y="51620"/>
            <a:ext cx="9905998" cy="766399"/>
          </a:xfrm>
        </p:spPr>
        <p:txBody>
          <a:bodyPr>
            <a:normAutofit/>
          </a:bodyPr>
          <a:lstStyle/>
          <a:p>
            <a:pPr algn="ctr"/>
            <a:r>
              <a:rPr lang="en-US" sz="4000" b="1" cap="none">
                <a:effectLst>
                  <a:outerShdw blurRad="50800" dist="38100" dir="2700000" algn="tl" rotWithShape="0">
                    <a:schemeClr val="tx1">
                      <a:alpha val="40000"/>
                    </a:schemeClr>
                  </a:outerShdw>
                </a:effectLst>
              </a:rPr>
              <a:t>Pcbnew PCB </a:t>
            </a:r>
            <a:r>
              <a:rPr lang="zh-TW" altLang="en-US" sz="4000" b="1" cap="none">
                <a:effectLst>
                  <a:outerShdw blurRad="50800" dist="38100" dir="2700000" algn="tl" rotWithShape="0">
                    <a:schemeClr val="tx1">
                      <a:alpha val="40000"/>
                    </a:schemeClr>
                  </a:outerShdw>
                </a:effectLst>
              </a:rPr>
              <a:t>佈局編輯器</a:t>
            </a:r>
            <a:endParaRPr lang="en-US" sz="4000" b="1" cap="none" dirty="0">
              <a:effectLst>
                <a:outerShdw blurRad="50800" dist="38100" dir="2700000" algn="tl" rotWithShape="0">
                  <a:schemeClr val="tx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073C4F9D-A856-1166-D1C1-4E13DE134F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22020"/>
            <a:ext cx="7758713" cy="5935979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zh-TW" altLang="en-US" sz="2200"/>
              <a:t>若要設定 </a:t>
            </a:r>
            <a:r>
              <a:rPr lang="en-US" altLang="zh-TW" sz="2200"/>
              <a:t>PCB </a:t>
            </a:r>
            <a:r>
              <a:rPr lang="zh-TW" altLang="en-US" sz="2200"/>
              <a:t>尺寸，你需要在 </a:t>
            </a:r>
            <a:r>
              <a:rPr lang="en-US" altLang="zh-TW" sz="2200"/>
              <a:t>Edge Cuts </a:t>
            </a:r>
            <a:r>
              <a:rPr lang="zh-TW" altLang="en-US" sz="2200"/>
              <a:t>圖層上畫出外框。選擇 </a:t>
            </a:r>
            <a:r>
              <a:rPr lang="en-US" altLang="zh-TW" sz="2200"/>
              <a:t>Edge Cuts </a:t>
            </a:r>
            <a:r>
              <a:rPr lang="zh-TW" altLang="en-US" sz="2200"/>
              <a:t>作為作用圖層，點選 新增 </a:t>
            </a:r>
            <a:r>
              <a:rPr lang="en-US" altLang="zh-TW" sz="2200"/>
              <a:t>Graphic Lines </a:t>
            </a:r>
            <a:r>
              <a:rPr lang="zh-TW" altLang="en-US" sz="2200"/>
              <a:t>工具，然後繪製包圍元件封裝的板框。
</a:t>
            </a:r>
            <a:r>
              <a:rPr lang="en-US" altLang="zh-TW" sz="2200"/>
              <a:t>Edge Cuts </a:t>
            </a:r>
            <a:r>
              <a:rPr lang="zh-TW" altLang="en-US" sz="2200"/>
              <a:t>圖層也可以用來定義 </a:t>
            </a:r>
            <a:r>
              <a:rPr lang="en-US" altLang="zh-TW" sz="2200"/>
              <a:t>PCB </a:t>
            </a:r>
            <a:r>
              <a:rPr lang="zh-TW" altLang="en-US" sz="2200"/>
              <a:t>的挖空區域。
若要目視檢查設計，可在 </a:t>
            </a:r>
            <a:r>
              <a:rPr lang="en-US" altLang="zh-TW" sz="2200"/>
              <a:t>view </a:t>
            </a:r>
            <a:r>
              <a:rPr lang="zh-TW" altLang="en-US" sz="2200"/>
              <a:t>選單中開啟 </a:t>
            </a:r>
            <a:r>
              <a:rPr lang="en-US" altLang="zh-TW" sz="2200"/>
              <a:t>3D viewer</a:t>
            </a:r>
            <a:r>
              <a:rPr lang="zh-TW" altLang="en-US" sz="2200"/>
              <a:t>。
它會提供你的 </a:t>
            </a:r>
            <a:r>
              <a:rPr lang="en-US" altLang="zh-TW" sz="2200"/>
              <a:t>PCB </a:t>
            </a:r>
            <a:r>
              <a:rPr lang="zh-TW" altLang="en-US" sz="2200"/>
              <a:t>互動式 </a:t>
            </a:r>
            <a:r>
              <a:rPr lang="en-US" altLang="zh-TW" sz="2200"/>
              <a:t>3D </a:t>
            </a:r>
            <a:r>
              <a:rPr lang="zh-TW" altLang="en-US" sz="2200"/>
              <a:t>渲染畫面。
完成後，點選 </a:t>
            </a:r>
            <a:r>
              <a:rPr lang="en-US" altLang="zh-TW" sz="2200"/>
              <a:t>Plot </a:t>
            </a:r>
            <a:r>
              <a:rPr lang="zh-TW" altLang="en-US" sz="2200"/>
              <a:t>以產生製造用的 </a:t>
            </a:r>
            <a:r>
              <a:rPr lang="en-US" altLang="zh-TW" sz="2200"/>
              <a:t>Gerber </a:t>
            </a:r>
            <a:r>
              <a:rPr lang="zh-TW" altLang="en-US" sz="2200"/>
              <a:t>檔案。這裡的選項會依你計畫使用的製造商而定。
除了 </a:t>
            </a:r>
            <a:r>
              <a:rPr lang="en-US" altLang="zh-TW" sz="2200"/>
              <a:t>Gerber </a:t>
            </a:r>
            <a:r>
              <a:rPr lang="zh-TW" altLang="en-US" sz="2200"/>
              <a:t>格式的設計檔外，通常也需要另外產生鑽孔檔。你可以在 </a:t>
            </a:r>
            <a:r>
              <a:rPr lang="en-US" altLang="zh-TW" sz="2200"/>
              <a:t>plot </a:t>
            </a:r>
            <a:r>
              <a:rPr lang="zh-TW" altLang="en-US" sz="2200"/>
              <a:t>選單中按下 產生 </a:t>
            </a:r>
            <a:r>
              <a:rPr lang="en-US" altLang="zh-TW" sz="2200"/>
              <a:t>Drill Files </a:t>
            </a:r>
            <a:r>
              <a:rPr lang="zh-TW" altLang="en-US" sz="2200"/>
              <a:t>按鈕來完成。</a:t>
            </a:r>
            <a:endParaRPr lang="en-US" sz="2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B0C57A5-F5DF-1299-8CFC-5BA9D0C71B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46463" y="815162"/>
            <a:ext cx="2243546" cy="213801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D3E97C6-16F4-B7C1-2725-149D9A6A65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4392" y="2507782"/>
            <a:ext cx="2269501" cy="223336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21A07EA-5BD7-99C8-E19D-F754AFF493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58713" y="3804409"/>
            <a:ext cx="2002106" cy="16407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62EA17A-21D9-6B55-452F-3F9F4CBD7DBC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15349" b="28471"/>
          <a:stretch/>
        </p:blipFill>
        <p:spPr>
          <a:xfrm>
            <a:off x="9430468" y="5484687"/>
            <a:ext cx="1817348" cy="116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58454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D80EC63-4054-8DEE-2853-BEF88A7C3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0"/>
            <a:ext cx="9905998" cy="766399"/>
          </a:xfrm>
        </p:spPr>
        <p:txBody>
          <a:bodyPr>
            <a:normAutofit/>
          </a:bodyPr>
          <a:lstStyle/>
          <a:p>
            <a:pPr algn="ctr"/>
            <a:r>
              <a:rPr lang="zh-TW" altLang="en-US" sz="4000" b="1" cap="none">
                <a:effectLst>
                  <a:outerShdw blurRad="50800" dist="38100" dir="2700000" algn="tl" rotWithShape="0">
                    <a:schemeClr val="tx1">
                      <a:alpha val="40000"/>
                    </a:schemeClr>
                  </a:outerShdw>
                </a:effectLst>
              </a:rPr>
              <a:t>封裝編輯器</a:t>
            </a:r>
            <a:endParaRPr lang="en-US" sz="4000" b="1" cap="none" dirty="0">
              <a:effectLst>
                <a:outerShdw blurRad="50800" dist="38100" dir="2700000" algn="tl" rotWithShape="0">
                  <a:schemeClr val="tx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25FE359C-7893-B341-6F14-F19AA732F1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697573"/>
            <a:ext cx="12191999" cy="1738849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zh-TW" altLang="en-US" sz="2200"/>
              <a:t>封裝編輯器的操作方式與 </a:t>
            </a:r>
            <a:r>
              <a:rPr lang="en-US" altLang="zh-TW" sz="2200"/>
              <a:t>Pcbnew PCB </a:t>
            </a:r>
            <a:r>
              <a:rPr lang="zh-TW" altLang="en-US" sz="2200"/>
              <a:t>佈局編輯器非常相似，最大的差別在於你一次只會處理元件庫中的一個封裝。
你可以複製封裝，製作不同文字內容或 </a:t>
            </a:r>
            <a:r>
              <a:rPr lang="en-US" altLang="zh-TW" sz="2200"/>
              <a:t>3D </a:t>
            </a:r>
            <a:r>
              <a:rPr lang="zh-TW" altLang="en-US" sz="2200"/>
              <a:t>模型指派的變化版本。
這些封裝會儲存在可供 </a:t>
            </a:r>
            <a:r>
              <a:rPr lang="en-US" altLang="zh-TW" sz="2200"/>
              <a:t>Pcbnew </a:t>
            </a:r>
            <a:r>
              <a:rPr lang="zh-TW" altLang="en-US" sz="2200"/>
              <a:t>使用的元件庫中。</a:t>
            </a:r>
            <a:endParaRPr lang="en-US" sz="2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16E46B1-4CBC-4025-D875-D707410AD2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1214" y="2614866"/>
            <a:ext cx="6325024" cy="4044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53826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D46F76F-CE4D-12BD-0739-A9756242F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0"/>
            <a:ext cx="9905998" cy="766399"/>
          </a:xfrm>
        </p:spPr>
        <p:txBody>
          <a:bodyPr>
            <a:normAutofit/>
          </a:bodyPr>
          <a:lstStyle/>
          <a:p>
            <a:pPr algn="ctr"/>
            <a:r>
              <a:rPr lang="en-US" sz="4000" b="1" cap="none">
                <a:effectLst>
                  <a:outerShdw blurRad="50800" dist="38100" dir="2700000" algn="tl" rotWithShape="0">
                    <a:schemeClr val="tx1">
                      <a:alpha val="40000"/>
                    </a:schemeClr>
                  </a:outerShdw>
                </a:effectLst>
              </a:rPr>
              <a:t>Gerber </a:t>
            </a:r>
            <a:r>
              <a:rPr lang="zh-TW" altLang="en-US" sz="4000" b="1" cap="none">
                <a:effectLst>
                  <a:outerShdw blurRad="50800" dist="38100" dir="2700000" algn="tl" rotWithShape="0">
                    <a:schemeClr val="tx1">
                      <a:alpha val="40000"/>
                    </a:schemeClr>
                  </a:outerShdw>
                </a:effectLst>
              </a:rPr>
              <a:t>檔案檢視器</a:t>
            </a:r>
            <a:endParaRPr lang="en-US" sz="4000" b="1" cap="none" dirty="0">
              <a:effectLst>
                <a:outerShdw blurRad="50800" dist="38100" dir="2700000" algn="tl" rotWithShape="0">
                  <a:schemeClr val="tx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B23441E5-8C29-B07B-0FAC-38EF6927A3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19433"/>
            <a:ext cx="12192000" cy="188581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TW" sz="2200"/>
              <a:t>Gerber </a:t>
            </a:r>
            <a:r>
              <a:rPr lang="zh-TW" altLang="en-US" sz="2200"/>
              <a:t>檔案檢視器可讓你載入 </a:t>
            </a:r>
            <a:r>
              <a:rPr lang="en-US" altLang="zh-TW" sz="2200"/>
              <a:t>Gerber </a:t>
            </a:r>
            <a:r>
              <a:rPr lang="zh-TW" altLang="en-US" sz="2200"/>
              <a:t>格式的設計檔進行檢視。
這些檔案可以是你自己建立的，也可以是從其他專案下載而來。
設計中的每一層都會有獨立的 </a:t>
            </a:r>
            <a:r>
              <a:rPr lang="en-US" altLang="zh-TW" sz="2200"/>
              <a:t>Gerber </a:t>
            </a:r>
            <a:r>
              <a:rPr lang="zh-TW" altLang="en-US" sz="2200"/>
              <a:t>檔案，你可以同時開啟多個檔案來疊加檢視整個 </a:t>
            </a:r>
            <a:r>
              <a:rPr lang="en-US" altLang="zh-TW" sz="2200"/>
              <a:t>PCB </a:t>
            </a:r>
            <a:r>
              <a:rPr lang="zh-TW" altLang="en-US" sz="2200"/>
              <a:t>設計。</a:t>
            </a:r>
            <a:endParaRPr lang="en-US" sz="2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000A8FE-AD31-547D-063D-AF6E7C4596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3036" y="2650239"/>
            <a:ext cx="5142749" cy="4100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96091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A9277C4-6211-9506-04EE-831536322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50680"/>
            <a:ext cx="9905998" cy="766399"/>
          </a:xfrm>
        </p:spPr>
        <p:txBody>
          <a:bodyPr>
            <a:normAutofit/>
          </a:bodyPr>
          <a:lstStyle/>
          <a:p>
            <a:pPr algn="ctr"/>
            <a:r>
              <a:rPr lang="zh-TW" altLang="en-US" sz="4000" b="1" cap="none">
                <a:effectLst>
                  <a:outerShdw blurRad="50800" dist="38100" dir="2700000" algn="tl" rotWithShape="0">
                    <a:schemeClr val="tx1">
                      <a:alpha val="40000"/>
                    </a:schemeClr>
                  </a:outerShdw>
                </a:effectLst>
              </a:rPr>
              <a:t>點陣圖轉元件轉換器</a:t>
            </a:r>
            <a:endParaRPr lang="en-US" sz="4000" b="1" cap="none" dirty="0">
              <a:effectLst>
                <a:outerShdw blurRad="50800" dist="38100" dir="2700000" algn="tl" rotWithShape="0">
                  <a:schemeClr val="tx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CA1C650D-CC2E-3891-27EB-9C89454F87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490" y="917079"/>
            <a:ext cx="10304629" cy="1987498"/>
          </a:xfrm>
        </p:spPr>
        <p:txBody>
          <a:bodyPr>
            <a:noAutofit/>
          </a:bodyPr>
          <a:lstStyle/>
          <a:p>
            <a:r>
              <a:rPr lang="zh-TW" altLang="en-US"/>
              <a:t>這個工具可將點陣圖影像轉換成封裝檔案。
它很適合把 </a:t>
            </a:r>
            <a:r>
              <a:rPr lang="en-US" altLang="zh-TW"/>
              <a:t>logo </a:t>
            </a:r>
            <a:r>
              <a:rPr lang="zh-TW" altLang="en-US"/>
              <a:t>匯入到絲印層。
對於在繪圖軟體中建立的複雜填充區域或板框切割圖形也很有幫助。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94B5CA-2AE5-C750-F1F9-42DC33832F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2886" y="2709046"/>
            <a:ext cx="5021680" cy="3998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7101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8AF4F7C-BC2F-A02D-902B-E28DB764B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50680"/>
            <a:ext cx="9905998" cy="766399"/>
          </a:xfrm>
        </p:spPr>
        <p:txBody>
          <a:bodyPr>
            <a:normAutofit/>
          </a:bodyPr>
          <a:lstStyle/>
          <a:p>
            <a:pPr algn="ctr"/>
            <a:r>
              <a:rPr lang="en-US" sz="4000" b="1" cap="none">
                <a:effectLst>
                  <a:outerShdw blurRad="50800" dist="38100" dir="2700000" algn="tl" rotWithShape="0">
                    <a:schemeClr val="tx1">
                      <a:alpha val="40000"/>
                    </a:schemeClr>
                  </a:outerShdw>
                </a:effectLst>
              </a:rPr>
              <a:t>PCB </a:t>
            </a:r>
            <a:r>
              <a:rPr lang="zh-TW" altLang="en-US" sz="4000" b="1" cap="none">
                <a:effectLst>
                  <a:outerShdw blurRad="50800" dist="38100" dir="2700000" algn="tl" rotWithShape="0">
                    <a:schemeClr val="tx1">
                      <a:alpha val="40000"/>
                    </a:schemeClr>
                  </a:outerShdw>
                </a:effectLst>
              </a:rPr>
              <a:t>計算器</a:t>
            </a:r>
            <a:endParaRPr lang="en-US" sz="4000" b="1" cap="none" dirty="0">
              <a:effectLst>
                <a:outerShdw blurRad="50800" dist="38100" dir="2700000" algn="tl" rotWithShape="0">
                  <a:schemeClr val="tx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78B1C3A7-3D34-705C-C910-BF3EBDC31E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876018"/>
            <a:ext cx="10304629" cy="766399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zh-TW" altLang="en-US"/>
              <a:t>這個工具整合了多種實用的計算與參考項目。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67955E2-18F1-6AEE-E5AC-B7B94FBF9F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7054" y="1493389"/>
            <a:ext cx="3922387" cy="24303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D05CB33-EF69-DB4D-13D3-93F61C523D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1786" y="1493389"/>
            <a:ext cx="3861909" cy="243037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E73B8AC-6E04-109B-F82B-97E77F3496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7054" y="4152533"/>
            <a:ext cx="3922387" cy="242415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0924B8A-D846-93E7-2EB4-732D1D60E5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1786" y="4152533"/>
            <a:ext cx="3861909" cy="2427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4345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D5399C7-F4C9-8B7E-3AE9-ABBE1F4BED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0"/>
            <a:ext cx="9905998" cy="766399"/>
          </a:xfrm>
        </p:spPr>
        <p:txBody>
          <a:bodyPr>
            <a:normAutofit/>
          </a:bodyPr>
          <a:lstStyle/>
          <a:p>
            <a:pPr algn="ctr"/>
            <a:r>
              <a:rPr lang="zh-TW" altLang="en-US" sz="4000" b="1" cap="none">
                <a:effectLst>
                  <a:outerShdw blurRad="50800" dist="38100" dir="2700000" algn="tl" rotWithShape="0">
                    <a:schemeClr val="tx1">
                      <a:alpha val="40000"/>
                    </a:schemeClr>
                  </a:outerShdw>
                </a:effectLst>
              </a:rPr>
              <a:t>頁面版面配置編輯器</a:t>
            </a:r>
            <a:endParaRPr lang="en-US" sz="4000" b="1" cap="none" dirty="0">
              <a:effectLst>
                <a:outerShdw blurRad="50800" dist="38100" dir="2700000" algn="tl" rotWithShape="0">
                  <a:schemeClr val="tx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1109D88D-D494-5FFE-72E3-5955E799E4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69541"/>
            <a:ext cx="12192000" cy="639961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zh-TW" altLang="en-US"/>
              <a:t>這個工具可讓你修改列印設計頁面的預設外觀。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502BBD2-90A2-AEAC-66B0-8878E1EF86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3727" y="1366243"/>
            <a:ext cx="8141367" cy="5208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22573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2A579FF-C835-7860-1F32-DB2153EE8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387690"/>
            <a:ext cx="9905998" cy="642112"/>
          </a:xfrm>
        </p:spPr>
        <p:txBody>
          <a:bodyPr>
            <a:normAutofit/>
          </a:bodyPr>
          <a:lstStyle/>
          <a:p>
            <a:pPr algn="ctr"/>
            <a:r>
              <a:rPr lang="en-US" sz="4000" b="1" cap="none">
                <a:effectLst>
                  <a:outerShdw blurRad="50800" dist="38100" dir="2700000" algn="tl" rotWithShape="0">
                    <a:schemeClr val="tx1">
                      <a:alpha val="40000"/>
                    </a:schemeClr>
                  </a:outerShdw>
                </a:effectLst>
              </a:rPr>
              <a:t>PCB </a:t>
            </a:r>
            <a:r>
              <a:rPr lang="zh-TW" altLang="en-US" sz="4000" b="1" cap="none">
                <a:effectLst>
                  <a:outerShdw blurRad="50800" dist="38100" dir="2700000" algn="tl" rotWithShape="0">
                    <a:schemeClr val="tx1">
                      <a:alpha val="40000"/>
                    </a:schemeClr>
                  </a:outerShdw>
                </a:effectLst>
              </a:rPr>
              <a:t>製造</a:t>
            </a:r>
            <a:endParaRPr lang="en-US" sz="4000" b="1" cap="none" dirty="0">
              <a:effectLst>
                <a:outerShdw blurRad="50800" dist="38100" dir="2700000" algn="tl" rotWithShape="0">
                  <a:schemeClr val="tx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2D01AA5-A8F8-6022-145E-525C8FF8CE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57300"/>
            <a:ext cx="12192000" cy="5694469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TW" altLang="en-US" sz="2200"/>
              <a:t>當你完成設計後，就可以把檔案送去製造了。
選擇 </a:t>
            </a:r>
            <a:r>
              <a:rPr lang="en-US" altLang="zh-TW" sz="2200"/>
              <a:t>PCB </a:t>
            </a:r>
            <a:r>
              <a:rPr lang="zh-TW" altLang="en-US" sz="2200"/>
              <a:t>製造商時需要考量多個因素。成本通常是最重要的因素，但交期、地點與品質也同樣重要。最便宜的製造商可能交貨很久，或品質不佳。
建議查看客戶評價，並先做一些小型打樣，以確認是否符合需求。可選擇的 </a:t>
            </a:r>
            <a:r>
              <a:rPr lang="en-US" altLang="zh-TW" sz="2200"/>
              <a:t>PCB </a:t>
            </a:r>
            <a:r>
              <a:rPr lang="zh-TW" altLang="en-US" sz="2200"/>
              <a:t>製造商很多。
以下是幾個例子：
</a:t>
            </a:r>
            <a:r>
              <a:rPr lang="en-US" altLang="zh-TW" sz="2200"/>
              <a:t>• https://pcbshopper.com/    </a:t>
            </a:r>
            <a:r>
              <a:rPr lang="zh-TW" altLang="en-US" sz="2200"/>
              <a:t>類似 </a:t>
            </a:r>
            <a:r>
              <a:rPr lang="en-US" altLang="zh-TW" sz="2200"/>
              <a:t>Travelocity </a:t>
            </a:r>
            <a:r>
              <a:rPr lang="zh-TW" altLang="en-US" sz="2200"/>
              <a:t>的 </a:t>
            </a:r>
            <a:r>
              <a:rPr lang="en-US" altLang="zh-TW" sz="2200"/>
              <a:t>PCB </a:t>
            </a:r>
            <a:r>
              <a:rPr lang="zh-TW" altLang="en-US" sz="2200"/>
              <a:t>製造商比較網站。
</a:t>
            </a:r>
            <a:r>
              <a:rPr lang="en-US" altLang="zh-TW" sz="2200"/>
              <a:t>• https://jlcpcb.com/       </a:t>
            </a:r>
            <a:r>
              <a:rPr lang="zh-TW" altLang="en-US" sz="2200"/>
              <a:t>價格非常便宜，但有一些限制。
</a:t>
            </a:r>
            <a:r>
              <a:rPr lang="en-US" altLang="zh-TW" sz="2200"/>
              <a:t>• https://pcbway.com/       </a:t>
            </a:r>
            <a:r>
              <a:rPr lang="zh-TW" altLang="en-US" sz="2200"/>
              <a:t>價格實惠且出貨快速。
</a:t>
            </a:r>
            <a:r>
              <a:rPr lang="en-US" altLang="zh-TW" sz="2200"/>
              <a:t>• https://oshpark.com/      </a:t>
            </a:r>
            <a:r>
              <a:rPr lang="zh-TW" altLang="en-US" sz="2200"/>
              <a:t>品質漂亮、高品質、美國製造。</a:t>
            </a:r>
            <a:endParaRPr lang="en-US" sz="2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16871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</TotalTime>
  <Words>3157</Words>
  <Application>Microsoft Office PowerPoint</Application>
  <PresentationFormat>Widescreen</PresentationFormat>
  <Paragraphs>221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2" baseType="lpstr">
      <vt:lpstr>Aptos</vt:lpstr>
      <vt:lpstr>Aptos Display</vt:lpstr>
      <vt:lpstr>Arial</vt:lpstr>
      <vt:lpstr>Courier New</vt:lpstr>
      <vt:lpstr>Office Theme</vt:lpstr>
      <vt:lpstr>使用 KiCad 進行 PCB 設計</vt:lpstr>
      <vt:lpstr>課程說明：</vt:lpstr>
      <vt:lpstr>1: PCB 簡介與 KiCad 介面</vt:lpstr>
      <vt:lpstr>1: PCB 簡介與 KiCad 介面</vt:lpstr>
      <vt:lpstr>PCB 有多少種類型？</vt:lpstr>
      <vt:lpstr>PowerPoint Presentation</vt:lpstr>
      <vt:lpstr>PowerPoint Presentation</vt:lpstr>
      <vt:lpstr>PowerPoint Presentation</vt:lpstr>
      <vt:lpstr>2: PCB 設計流程</vt:lpstr>
      <vt:lpstr>3: 與 PCB 相關的環境與健康問題</vt:lpstr>
      <vt:lpstr>3: 與 PCB 相關的環境與健康問題</vt:lpstr>
      <vt:lpstr>3: 與 PCB 相關的環境與健康問題</vt:lpstr>
      <vt:lpstr>4：PCB 設計簡介</vt:lpstr>
      <vt:lpstr>4：PCB 設計簡介</vt:lpstr>
      <vt:lpstr>4：PCB 設計簡介</vt:lpstr>
      <vt:lpstr>4：PCB 設計簡介</vt:lpstr>
      <vt:lpstr>4：PCB 設計簡介</vt:lpstr>
      <vt:lpstr>4：PCB 設計簡介</vt:lpstr>
      <vt:lpstr>4：PCB 設計簡介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原理圖佈局編輯器</vt:lpstr>
      <vt:lpstr>原理圖佈局編輯器</vt:lpstr>
      <vt:lpstr>符號編輯器</vt:lpstr>
      <vt:lpstr>PCB 佈局編輯器</vt:lpstr>
      <vt:lpstr>PCB 佈局編輯器</vt:lpstr>
      <vt:lpstr>Pcbnew PCB 佈局編輯器</vt:lpstr>
      <vt:lpstr>封裝編輯器</vt:lpstr>
      <vt:lpstr>Gerber 檔案檢視器</vt:lpstr>
      <vt:lpstr>點陣圖轉元件轉換器</vt:lpstr>
      <vt:lpstr>PCB 計算器</vt:lpstr>
      <vt:lpstr>頁面版面配置編輯器</vt:lpstr>
      <vt:lpstr>PCB 製造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阮黎孝</dc:creator>
  <cp:lastModifiedBy>阮黎孝</cp:lastModifiedBy>
  <cp:revision>12</cp:revision>
  <dcterms:created xsi:type="dcterms:W3CDTF">2026-03-12T15:29:37Z</dcterms:created>
  <dcterms:modified xsi:type="dcterms:W3CDTF">2026-04-04T16:30:50Z</dcterms:modified>
</cp:coreProperties>
</file>