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4" r:id="rId3"/>
    <p:sldId id="347" r:id="rId4"/>
    <p:sldId id="348" r:id="rId5"/>
    <p:sldId id="349" r:id="rId6"/>
    <p:sldId id="350" r:id="rId7"/>
    <p:sldId id="351" r:id="rId8"/>
    <p:sldId id="352" r:id="rId9"/>
    <p:sldId id="430" r:id="rId10"/>
    <p:sldId id="353" r:id="rId11"/>
    <p:sldId id="287" r:id="rId12"/>
    <p:sldId id="288" r:id="rId13"/>
    <p:sldId id="289" r:id="rId14"/>
    <p:sldId id="291" r:id="rId15"/>
    <p:sldId id="290" r:id="rId16"/>
    <p:sldId id="292" r:id="rId17"/>
    <p:sldId id="293" r:id="rId18"/>
    <p:sldId id="295" r:id="rId19"/>
    <p:sldId id="294" r:id="rId20"/>
    <p:sldId id="296" r:id="rId21"/>
    <p:sldId id="297" r:id="rId22"/>
    <p:sldId id="427" r:id="rId23"/>
    <p:sldId id="429" r:id="rId24"/>
    <p:sldId id="428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6" r:id="rId33"/>
    <p:sldId id="308" r:id="rId34"/>
    <p:sldId id="426" r:id="rId35"/>
    <p:sldId id="307" r:id="rId36"/>
    <p:sldId id="309" r:id="rId37"/>
    <p:sldId id="310" r:id="rId38"/>
    <p:sldId id="311" r:id="rId39"/>
    <p:sldId id="432" r:id="rId40"/>
    <p:sldId id="43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5E8F-CF0B-ABBA-D65A-1B5498FC3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D400E-57B4-C484-491A-5D9448049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22FE-DA6F-5812-1CEA-14BD9CD6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3554-2291-0B2B-B457-06D0C867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F982-335C-F75F-A0CB-572BD68E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1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00F4-A459-C5FC-DBB1-2456B197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207F-B1EA-6495-1151-9AC4659F2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605A-3DD3-007A-A76A-8C61DF49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88C5D-7CF3-1EE2-560F-40BFC776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B22BB-2FC5-DF74-685A-7EC0DA3D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2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8EB5-0096-85A5-0C02-3E2B46F73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644D8-4A53-CDDA-4537-748B2069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BD16A-ABA1-9A12-D787-94C4D885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6C53-CAFD-737A-AE2F-AE016D25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F051A-D918-7310-1243-9EC6F9BC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8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33BD-ACAA-CB3A-B941-4EA478AE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D60E9-9286-A44E-600C-D2D9EC637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E76C7-0292-7436-EB07-FDCF5CD04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84584-D697-EDE7-7574-1B19641F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0FA5E-34E0-6224-8572-387222F7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597D6-A0B9-642D-4E12-178F0CAF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9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4C50-8094-ABE4-979A-C6C7D9D1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33D48-456C-99FE-D722-9B0990AFD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CE506-5949-4884-DF0D-A9EE86406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7EE08-40DF-8CBB-33B4-EDB8159F8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B29C5-EFC3-0771-E1AD-EE9685D3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191F4-37B1-8BE5-1FAC-68E0B5DE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44E26-4053-77DF-E47F-114DD6F8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99639-7285-FB88-69FF-3FB9F84D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0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D7AA-ED6C-DC70-FFC4-BC8AE9E3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F6596-4C6A-B489-3C65-4A0B69C2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44804-527E-C95F-2869-CDBBA272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A9CC2-9C28-6A71-5056-F9D1A447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8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BD632-5C2A-D10E-95EF-D51F2F44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AC2EE-A850-999E-5D51-88E5BE8B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939C9-3470-EE4D-B9F9-B23032A3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4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9FC6-A3A3-457D-54DB-A615999B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3C03F-CF4D-9052-A160-F4DA72F7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17203-F736-0521-CD49-3B7EBC9DD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E8B86-91A5-53C8-447A-59A72E97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A7788-1472-5A09-2227-77008877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8029D-AF33-F174-605D-1C92039D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3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39E7-2483-C563-0504-2D296D2F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D1210-34B3-12DF-3A06-B18518734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BE19E-AA49-435C-92DF-297C75EA7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42F4B-B3B3-4885-9EB8-019F42D1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0621E-A9B5-2ACA-6D55-A58050FB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9C094-FFB5-196D-F72C-591F4297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8DCE-2876-5A56-C284-F2BC24BB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F003F-60D0-40FF-8B5F-DC414EBE7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6C594-9D38-AB44-47DB-F2D91D30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39867-B1A9-5C5B-5EF1-72BDD081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39DFD-0D3B-D5D4-A047-0EF22AAE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7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49ECE-BF5E-EA2B-97A1-E2CFC6D97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47837-13B0-381E-4E89-DB2CFE88A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F989-EEBB-B82C-7FD5-80298029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E508-3891-14BC-FFC5-02366C74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8967-7C6D-36A8-C157-93AE4B26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1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75E80-C435-2EEF-0140-A833A787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0064D-BAF5-313E-8B7C-A956F95EB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6963C-81F6-D3E5-5806-ED43C5F84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F03EF-8962-4073-8106-C6D6F3D0CC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F9B4-1FEB-9666-475A-EC75663B3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1DEE-1147-7367-8FC1-BC48F9C50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C72E3-A1D1-4362-878D-0067C62B7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9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314-8104-A357-EB02-B8F831C7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934E-9FD9-C670-7D0B-6EEB71104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/>
              <a:t>學習如何準備 PCB 專案</a:t>
            </a:r>
          </a:p>
        </p:txBody>
      </p:sp>
    </p:spTree>
    <p:extLst>
      <p:ext uri="{BB962C8B-B14F-4D97-AF65-F5344CB8AC3E}">
        <p14:creationId xmlns:p14="http://schemas.microsoft.com/office/powerpoint/2010/main" val="20695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0586-8820-7C5D-5ACE-07E11CE0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7594-DBF4-AE69-D1AE-9847B1B7B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2886997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封裝類型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5207B1-C85D-E0B5-1969-92D60B1DF36F}"/>
              </a:ext>
            </a:extLst>
          </p:cNvPr>
          <p:cNvSpPr txBox="1">
            <a:spLocks/>
          </p:cNvSpPr>
          <p:nvPr/>
        </p:nvSpPr>
        <p:spPr>
          <a:xfrm>
            <a:off x="91440" y="3732571"/>
            <a:ext cx="12100560" cy="626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800"/>
              <a:t>如何選擇 封裝 for 元件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94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7C3-D839-99C0-CE08-0F3EEAEE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7BF8D4-7054-55E4-E982-20DB1269304F}"/>
              </a:ext>
            </a:extLst>
          </p:cNvPr>
          <p:cNvGraphicFramePr>
            <a:graphicFrameLocks noGrp="1"/>
          </p:cNvGraphicFramePr>
          <p:nvPr/>
        </p:nvGraphicFramePr>
        <p:xfrm>
          <a:off x="0" y="-1"/>
          <a:ext cx="12192000" cy="2635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07826585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100566975"/>
                    </a:ext>
                  </a:extLst>
                </a:gridCol>
              </a:tblGrid>
              <a:tr h="131752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SMT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Throught Hole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777727"/>
                  </a:ext>
                </a:extLst>
              </a:tr>
              <a:tr h="1317523">
                <a:tc>
                  <a:txBody>
                    <a:bodyPr/>
                    <a:lstStyle/>
                    <a:p>
                      <a:pPr algn="ctr"/>
                      <a:endParaRPr 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56735"/>
                  </a:ext>
                </a:extLst>
              </a:tr>
            </a:tbl>
          </a:graphicData>
        </a:graphic>
      </p:graphicFrame>
      <p:pic>
        <p:nvPicPr>
          <p:cNvPr id="2052" name="Picture 4" descr="Through-Hole Assembly Design Rules | Sierra Circuits">
            <a:extLst>
              <a:ext uri="{FF2B5EF4-FFF2-40B4-BE49-F238E27FC236}">
                <a16:creationId xmlns:a16="http://schemas.microsoft.com/office/drawing/2014/main" id="{15C9E41F-98D2-2E08-F886-97D5E32E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624" y="1175320"/>
            <a:ext cx="5436317" cy="344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56D546-9BFA-5C29-7C2E-D47C6D0FBE2B}"/>
              </a:ext>
            </a:extLst>
          </p:cNvPr>
          <p:cNvSpPr txBox="1"/>
          <p:nvPr/>
        </p:nvSpPr>
        <p:spPr>
          <a:xfrm>
            <a:off x="6202624" y="4796719"/>
            <a:ext cx="5436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Through-hole </a:t>
            </a:r>
            <a:r>
              <a:rPr lang="zh-TW" altLang="en-US"/>
              <a:t>組裝是將 </a:t>
            </a:r>
            <a:r>
              <a:rPr lang="en-US"/>
              <a:t>leaded </a:t>
            </a:r>
            <a:r>
              <a:rPr lang="zh-TW" altLang="en-US"/>
              <a:t>元件安裝到 </a:t>
            </a:r>
            <a:r>
              <a:rPr lang="en-US"/>
              <a:t>PCB </a:t>
            </a:r>
            <a:r>
              <a:rPr lang="zh-TW" altLang="en-US"/>
              <a:t>的過程，其中涉及鑽孔 </a:t>
            </a:r>
            <a:r>
              <a:rPr lang="en-US" altLang="zh-TW"/>
              <a:t>(</a:t>
            </a:r>
            <a:r>
              <a:rPr lang="en-US"/>
              <a:t>drilled through holes)</a:t>
            </a:r>
            <a:endParaRPr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973EA7-1D54-4C57-BE06-55732C2CE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70" y="1691949"/>
            <a:ext cx="5863107" cy="263504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EB2A04-C035-02AE-7BE3-A70AF498BA82}"/>
              </a:ext>
            </a:extLst>
          </p:cNvPr>
          <p:cNvSpPr/>
          <p:nvPr/>
        </p:nvSpPr>
        <p:spPr>
          <a:xfrm>
            <a:off x="126270" y="1175320"/>
            <a:ext cx="5774800" cy="34436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5EAC3-0463-110F-CCA9-CF63B780685E}"/>
              </a:ext>
            </a:extLst>
          </p:cNvPr>
          <p:cNvSpPr txBox="1"/>
          <p:nvPr/>
        </p:nvSpPr>
        <p:spPr>
          <a:xfrm>
            <a:off x="86960" y="4796719"/>
            <a:ext cx="58141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/>
              <a:t>表面黏著技術 </a:t>
            </a:r>
            <a:r>
              <a:rPr lang="en-US" altLang="zh-TW"/>
              <a:t>(</a:t>
            </a:r>
            <a:r>
              <a:rPr lang="en-US"/>
              <a:t>Surface Mount Technology, SMT) </a:t>
            </a:r>
            <a:r>
              <a:rPr lang="zh-TW" altLang="en-US"/>
              <a:t>元件直接安裝在印刷電路板 </a:t>
            </a:r>
            <a:r>
              <a:rPr lang="en-US" altLang="zh-TW"/>
              <a:t>(</a:t>
            </a:r>
            <a:r>
              <a:rPr lang="en-US"/>
              <a:t>PCBs) </a:t>
            </a:r>
            <a:r>
              <a:rPr lang="zh-TW" altLang="en-US"/>
              <a:t>的表面，無需將引腳穿過通孔 </a:t>
            </a:r>
            <a:r>
              <a:rPr lang="en-US" altLang="zh-TW"/>
              <a:t>(</a:t>
            </a:r>
            <a:r>
              <a:rPr lang="en-US"/>
              <a:t>holes)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5467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7117-BD66-FD21-2FE4-EB25BBEA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9442"/>
          </a:xfrm>
        </p:spPr>
        <p:txBody>
          <a:bodyPr>
            <a:normAutofit/>
          </a:bodyPr>
          <a:lstStyle/>
          <a:p>
            <a:r>
              <a:rPr sz="3000"/>
              <a:t>SMT 封裝類型</a:t>
            </a:r>
            <a:endParaRPr lang="en-US" sz="3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6A165-7248-A629-945D-211AD28A6717}"/>
              </a:ext>
            </a:extLst>
          </p:cNvPr>
          <p:cNvSpPr txBox="1"/>
          <p:nvPr/>
        </p:nvSpPr>
        <p:spPr>
          <a:xfrm>
            <a:off x="0" y="942657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SMT </a:t>
            </a:r>
            <a:r>
              <a:rPr lang="zh-TW" altLang="en-US" sz="2200"/>
              <a:t>封裝 </a:t>
            </a:r>
            <a:r>
              <a:rPr lang="en-US" altLang="zh-TW" sz="2200"/>
              <a:t>(</a:t>
            </a:r>
            <a:r>
              <a:rPr lang="en-US" sz="2200"/>
              <a:t>packages) </a:t>
            </a:r>
            <a:r>
              <a:rPr lang="zh-TW" altLang="en-US" sz="2200"/>
              <a:t>的演進是由對 </a:t>
            </a:r>
            <a:r>
              <a:rPr lang="en-US" sz="2200"/>
              <a:t>high-density integration </a:t>
            </a:r>
            <a:r>
              <a:rPr lang="zh-TW" altLang="en-US" sz="2200"/>
              <a:t>和卓越訊號完整性 </a:t>
            </a:r>
            <a:r>
              <a:rPr lang="en-US" altLang="zh-TW" sz="2200"/>
              <a:t>(</a:t>
            </a:r>
            <a:r>
              <a:rPr lang="en-US" sz="2200"/>
              <a:t>signal integrity) </a:t>
            </a:r>
            <a:r>
              <a:rPr lang="zh-TW" altLang="en-US" sz="2200"/>
              <a:t>的需求所推動的，從而使更多功能能夠封裝到日益緊湊的設備中</a:t>
            </a:r>
            <a:endParaRPr sz="2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4AB41C-D73B-B48F-652F-A6B3FDB7B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760" y="2480489"/>
            <a:ext cx="7701280" cy="42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7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6A90F-79FF-0B39-9276-BABEA2EE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0C7C-B769-5926-3994-56F60E88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/>
          <a:lstStyle/>
          <a:p>
            <a:r>
              <a:rPr sz="1800"/>
              <a:t>SMT 封裝類型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0A711-AEC2-CD76-0551-4A8A3315A8BA}"/>
              </a:ext>
            </a:extLst>
          </p:cNvPr>
          <p:cNvSpPr txBox="1"/>
          <p:nvPr/>
        </p:nvSpPr>
        <p:spPr>
          <a:xfrm>
            <a:off x="0" y="73742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例如：常見 </a:t>
            </a:r>
            <a:r>
              <a:rPr lang="en-US"/>
              <a:t>chip (smd) </a:t>
            </a:r>
            <a:r>
              <a:rPr lang="zh-TW" altLang="en-US"/>
              <a:t>封裝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7FE05-C957-2C87-B46F-D09EAE79D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728" y="1142999"/>
            <a:ext cx="5973009" cy="56967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2518773-CA4E-CA23-EF4E-F3E36095EAC9}"/>
              </a:ext>
            </a:extLst>
          </p:cNvPr>
          <p:cNvSpPr/>
          <p:nvPr/>
        </p:nvSpPr>
        <p:spPr>
          <a:xfrm>
            <a:off x="3215148" y="1986116"/>
            <a:ext cx="678426" cy="35396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05B1C2-0C2A-B0FC-F839-3FBB5B6BD8E3}"/>
              </a:ext>
            </a:extLst>
          </p:cNvPr>
          <p:cNvCxnSpPr>
            <a:cxnSpLocks/>
          </p:cNvCxnSpPr>
          <p:nvPr/>
        </p:nvCxnSpPr>
        <p:spPr>
          <a:xfrm flipH="1">
            <a:off x="2536722" y="2172929"/>
            <a:ext cx="6784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AA1F6A8-46A9-74B5-CB3E-A7E7BC4C0D4A}"/>
              </a:ext>
            </a:extLst>
          </p:cNvPr>
          <p:cNvSpPr txBox="1"/>
          <p:nvPr/>
        </p:nvSpPr>
        <p:spPr>
          <a:xfrm>
            <a:off x="307258" y="1711264"/>
            <a:ext cx="222946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0402 </a:t>
            </a:r>
            <a:r>
              <a:rPr lang="zh-TW" altLang="en-US"/>
              <a:t>意指 長度為 </a:t>
            </a:r>
            <a:r>
              <a:rPr lang="en-US" altLang="zh-TW"/>
              <a:t>0.040 </a:t>
            </a:r>
            <a:r>
              <a:rPr lang="zh-TW" altLang="en-US"/>
              <a:t>英吋，寬度為 </a:t>
            </a:r>
            <a:r>
              <a:rPr lang="en-US" altLang="zh-TW"/>
              <a:t>0.020 </a:t>
            </a:r>
            <a:r>
              <a:rPr lang="zh-TW" altLang="en-US"/>
              <a:t>英吋。</a:t>
            </a:r>
            <a:endParaRPr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39FAC8-F2CE-DF16-4CF7-5B056B195475}"/>
              </a:ext>
            </a:extLst>
          </p:cNvPr>
          <p:cNvSpPr/>
          <p:nvPr/>
        </p:nvSpPr>
        <p:spPr>
          <a:xfrm>
            <a:off x="6592529" y="4232787"/>
            <a:ext cx="678426" cy="35396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989660-F716-9623-E3B0-7FD800C57D3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7270955" y="4409767"/>
            <a:ext cx="10310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2DB295-8786-156B-4DC3-641F36E8181E}"/>
              </a:ext>
            </a:extLst>
          </p:cNvPr>
          <p:cNvSpPr txBox="1"/>
          <p:nvPr/>
        </p:nvSpPr>
        <p:spPr>
          <a:xfrm>
            <a:off x="8302048" y="3948103"/>
            <a:ext cx="276907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sz="1800"/>
              <a:t>Register value: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ECF6D6-441B-7D76-4D8A-F90C00ED61C8}"/>
                  </a:ext>
                </a:extLst>
              </p:cNvPr>
              <p:cNvSpPr txBox="1"/>
              <p:nvPr/>
            </p:nvSpPr>
            <p:spPr>
              <a:xfrm>
                <a:off x="9814288" y="3994269"/>
                <a:ext cx="1089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27∗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ECF6D6-441B-7D76-4D8A-F90C00ED6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288" y="3994269"/>
                <a:ext cx="1089978" cy="276999"/>
              </a:xfrm>
              <a:prstGeom prst="rect">
                <a:avLst/>
              </a:prstGeom>
              <a:blipFill>
                <a:blip r:embed="rId3"/>
                <a:stretch>
                  <a:fillRect l="-5028" t="-2174" r="-502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24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86132-9BC5-7752-7F24-D81CA049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B6B1-12DD-54AF-CF14-BF3A70EB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/>
          <a:lstStyle/>
          <a:p>
            <a:r>
              <a:rPr sz="1800"/>
              <a:t>SMT 封裝類型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CA6E0-D61A-E181-9FF9-7F9ECB45B5BA}"/>
              </a:ext>
            </a:extLst>
          </p:cNvPr>
          <p:cNvSpPr txBox="1"/>
          <p:nvPr/>
        </p:nvSpPr>
        <p:spPr>
          <a:xfrm>
            <a:off x="0" y="73742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例如</a:t>
            </a:r>
            <a:r>
              <a:rPr sz="1800"/>
              <a:t>: SOT 封裝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SOT-23 Component Package | mbedded.ninja">
            <a:extLst>
              <a:ext uri="{FF2B5EF4-FFF2-40B4-BE49-F238E27FC236}">
                <a16:creationId xmlns:a16="http://schemas.microsoft.com/office/drawing/2014/main" id="{775E9FA6-C7C3-11DC-B492-AEB42FD2B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6" y="3852478"/>
            <a:ext cx="3382702" cy="29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OT Package Types for Surface Mount Components - Free Online PCB CAD Library">
            <a:extLst>
              <a:ext uri="{FF2B5EF4-FFF2-40B4-BE49-F238E27FC236}">
                <a16:creationId xmlns:a16="http://schemas.microsoft.com/office/drawing/2014/main" id="{5FE4947B-BE17-75F2-A76D-1EC2B3AB1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436" y="968252"/>
            <a:ext cx="7045629" cy="307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FF8037-789C-3110-1967-7C69970F841E}"/>
              </a:ext>
            </a:extLst>
          </p:cNvPr>
          <p:cNvSpPr txBox="1"/>
          <p:nvPr/>
        </p:nvSpPr>
        <p:spPr>
          <a:xfrm>
            <a:off x="6312310" y="4286865"/>
            <a:ext cx="436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Footprint name dimension explaination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C0519-EAA0-DF7A-D37A-1AD78A6E3026}"/>
              </a:ext>
            </a:extLst>
          </p:cNvPr>
          <p:cNvSpPr txBox="1"/>
          <p:nvPr/>
        </p:nvSpPr>
        <p:spPr>
          <a:xfrm>
            <a:off x="3942332" y="6120580"/>
            <a:ext cx="436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A 封裝 example</a:t>
            </a:r>
          </a:p>
        </p:txBody>
      </p:sp>
    </p:spTree>
    <p:extLst>
      <p:ext uri="{BB962C8B-B14F-4D97-AF65-F5344CB8AC3E}">
        <p14:creationId xmlns:p14="http://schemas.microsoft.com/office/powerpoint/2010/main" val="70717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73AD-22FB-BF6D-FAC4-5387E811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5887-4BEE-5C55-B384-C679EA4E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/>
          <a:lstStyle/>
          <a:p>
            <a:r>
              <a:rPr sz="1800"/>
              <a:t>SMT 封裝類型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FFD99-C66E-D45B-C0F0-DA355714F04F}"/>
              </a:ext>
            </a:extLst>
          </p:cNvPr>
          <p:cNvSpPr txBox="1"/>
          <p:nvPr/>
        </p:nvSpPr>
        <p:spPr>
          <a:xfrm>
            <a:off x="0" y="73742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例如</a:t>
            </a:r>
            <a:r>
              <a:rPr sz="1800"/>
              <a:t>: Micro Controller Unit 封裝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895653-AB7F-655E-5A24-6177A340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7" y="1332507"/>
            <a:ext cx="11461897" cy="530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1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C89D-24B7-DD02-8ED2-5B967FCE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D93E-0914-0FA7-AFCA-1EBE9850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>
            <a:normAutofit/>
          </a:bodyPr>
          <a:lstStyle/>
          <a:p>
            <a:r>
              <a:rPr lang="zh-TW" altLang="en-US" sz="4000"/>
              <a:t>通孔 </a:t>
            </a:r>
            <a:r>
              <a:rPr lang="en-US" altLang="zh-TW" sz="4000"/>
              <a:t>(</a:t>
            </a:r>
            <a:r>
              <a:rPr lang="en-US" sz="4000"/>
              <a:t>Through-Hole) </a:t>
            </a:r>
            <a:r>
              <a:rPr lang="zh-TW" altLang="en-US" sz="4000"/>
              <a:t>封裝 類型</a:t>
            </a:r>
            <a:endParaRPr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39A5E-8C85-CF3C-348D-1AB0906099A2}"/>
              </a:ext>
            </a:extLst>
          </p:cNvPr>
          <p:cNvSpPr txBox="1"/>
          <p:nvPr/>
        </p:nvSpPr>
        <p:spPr>
          <a:xfrm>
            <a:off x="2355057" y="5370284"/>
            <a:ext cx="6727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通孔組裝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F0281-B588-39EE-188F-8DA4DFD5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57" y="737420"/>
            <a:ext cx="6811326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A0CD44-7681-52DC-9267-215A70BE3233}"/>
              </a:ext>
            </a:extLst>
          </p:cNvPr>
          <p:cNvSpPr txBox="1"/>
          <p:nvPr/>
        </p:nvSpPr>
        <p:spPr>
          <a:xfrm>
            <a:off x="0" y="5939808"/>
            <a:ext cx="12260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sz="2400">
                <a:latin typeface="+mj-ea"/>
                <a:ea typeface="+mj-ea"/>
              </a:rPr>
              <a:t>通孔組裝提供了卓越的物理耐久性與環境抗性，使其成為沉重或大體積元件的首選安裝方法</a:t>
            </a:r>
            <a:endParaRPr sz="22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5190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AECD-565D-88BA-D66F-94515FE5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40E9-B38E-AD2E-D1FB-A08827D7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/>
          <a:lstStyle/>
          <a:p>
            <a:r>
              <a:rPr sz="1800"/>
              <a:t>通孔元件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9649E-FB5C-13ED-99FC-14D39792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9" y="1848895"/>
            <a:ext cx="3160206" cy="3160206"/>
          </a:xfrm>
          <a:prstGeom prst="rect">
            <a:avLst/>
          </a:prstGeom>
        </p:spPr>
      </p:pic>
      <p:pic>
        <p:nvPicPr>
          <p:cNvPr id="1026" name="Picture 2" descr="Electrolytic Capacitors Through Hole, AC Electrolytic Capacitor, Ceramic  Electrolytic Capacitor, Dry Electrolytic Capacitor, इलेक्ट्रोलाइटिक  कैपेसिटर - Ecompass LLP, Faridabad | ID: 2853390373133">
            <a:extLst>
              <a:ext uri="{FF2B5EF4-FFF2-40B4-BE49-F238E27FC236}">
                <a16:creationId xmlns:a16="http://schemas.microsoft.com/office/drawing/2014/main" id="{8AAF51CB-4278-C9E1-D692-7A107DA00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277" y="1663000"/>
            <a:ext cx="3531995" cy="353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15FCA5-BDFD-66FA-2F6A-3F0CA536E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844" y="2050893"/>
            <a:ext cx="4393568" cy="275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E84F-FDAF-C17F-42BD-39B48EA1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54E8-3962-572E-6A2A-A0241AB9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19164"/>
          </a:xfrm>
        </p:spPr>
        <p:txBody>
          <a:bodyPr>
            <a:normAutofit/>
          </a:bodyPr>
          <a:lstStyle/>
          <a:p>
            <a:r>
              <a:rPr lang="zh-TW" altLang="en-US" sz="4000"/>
              <a:t>通孔 </a:t>
            </a:r>
            <a:r>
              <a:rPr lang="en-US" altLang="zh-TW" sz="4000"/>
              <a:t>(</a:t>
            </a:r>
            <a:r>
              <a:rPr lang="en-US" sz="4000"/>
              <a:t>Through-Hole) </a:t>
            </a:r>
            <a:r>
              <a:rPr lang="zh-TW" altLang="en-US" sz="4000"/>
              <a:t>封裝 類型</a:t>
            </a:r>
            <a:endParaRPr sz="4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62690-6E93-1173-E586-D34652A4AADC}"/>
              </a:ext>
            </a:extLst>
          </p:cNvPr>
          <p:cNvSpPr txBox="1"/>
          <p:nvPr/>
        </p:nvSpPr>
        <p:spPr>
          <a:xfrm>
            <a:off x="-34413" y="737420"/>
            <a:ext cx="12260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800"/>
              <a:t>範例:  </a:t>
            </a:r>
          </a:p>
        </p:txBody>
      </p:sp>
      <p:pic>
        <p:nvPicPr>
          <p:cNvPr id="5122" name="Picture 2" descr="48+ Thousand Circuit Transformer Royalty-Free Images, Stock Photos ...">
            <a:extLst>
              <a:ext uri="{FF2B5EF4-FFF2-40B4-BE49-F238E27FC236}">
                <a16:creationId xmlns:a16="http://schemas.microsoft.com/office/drawing/2014/main" id="{D94068CC-58B1-1309-5BCC-63EA50A85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38" y="2207771"/>
            <a:ext cx="37147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65DFB-DA8E-FBFF-3F1E-D849FD947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245" y="1354565"/>
            <a:ext cx="6985817" cy="43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1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7A42-3CEC-D8DF-C375-1A96E5A7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61" y="2766218"/>
            <a:ext cx="10515600" cy="1325563"/>
          </a:xfrm>
        </p:spPr>
        <p:txBody>
          <a:bodyPr/>
          <a:lstStyle/>
          <a:p>
            <a:r>
              <a:rPr sz="1800"/>
              <a:t>元件設計</a:t>
            </a:r>
          </a:p>
        </p:txBody>
      </p:sp>
    </p:spTree>
    <p:extLst>
      <p:ext uri="{BB962C8B-B14F-4D97-AF65-F5344CB8AC3E}">
        <p14:creationId xmlns:p14="http://schemas.microsoft.com/office/powerpoint/2010/main" val="213969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552E-F43D-220B-62E4-6AADD23D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AF8ED-2DD6-B5A7-1C20-D7B31327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1445"/>
          </a:xfrm>
        </p:spPr>
        <p:txBody>
          <a:bodyPr>
            <a:normAutofit/>
          </a:bodyPr>
          <a:lstStyle/>
          <a:p>
            <a:r>
              <a:rPr sz="4000">
                <a:latin typeface="PMingLiU" panose="02020500000000000000" pitchFamily="18" charset="-120"/>
                <a:ea typeface="PMingLiU" panose="02020500000000000000" pitchFamily="18" charset="-120"/>
              </a:rPr>
              <a:t>建立新元件</a:t>
            </a:r>
            <a:endParaRPr lang="en-US" sz="400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CA0AD-1D93-E5B6-90D7-49FC059BE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056" y="642780"/>
            <a:ext cx="7343246" cy="1417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51F4F59-6C80-D70B-F261-E8D0A156E13E}"/>
              </a:ext>
            </a:extLst>
          </p:cNvPr>
          <p:cNvSpPr/>
          <p:nvPr/>
        </p:nvSpPr>
        <p:spPr>
          <a:xfrm>
            <a:off x="6712974" y="1633380"/>
            <a:ext cx="4994701" cy="426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04F91-572A-DC49-55ED-050BC64B9BAD}"/>
              </a:ext>
            </a:extLst>
          </p:cNvPr>
          <p:cNvSpPr txBox="1"/>
          <p:nvPr/>
        </p:nvSpPr>
        <p:spPr>
          <a:xfrm>
            <a:off x="285750" y="1153579"/>
            <a:ext cx="391016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/>
              <a:t>開啟 “Symbol Editor”</a:t>
            </a:r>
            <a:br>
              <a:rPr/>
            </a:br>
            <a:r>
              <a:rPr lang="zh-TW" altLang="en-US"/>
              <a:t>左鍵點擊</a:t>
            </a:r>
            <a:r>
              <a:rPr sz="1800"/>
              <a:t> “File”</a:t>
            </a:r>
            <a:br>
              <a:rPr/>
            </a:br>
            <a:r>
              <a:rPr lang="zh-TW" altLang="en-US"/>
              <a:t>左鍵點擊</a:t>
            </a:r>
            <a:r>
              <a:rPr sz="1800"/>
              <a:t> “New Library”</a:t>
            </a:r>
            <a:br/>
            <a:r>
              <a:rPr sz="1800"/>
              <a:t>選擇 “Global”</a:t>
            </a:r>
            <a:br>
              <a:rPr/>
            </a:br>
            <a:r>
              <a:rPr lang="zh-TW" altLang="en-US"/>
              <a:t>左鍵點擊</a:t>
            </a:r>
            <a:r>
              <a:rPr sz="1800"/>
              <a:t> “OK”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01647-015B-4479-1029-59052DE36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056" y="2186751"/>
            <a:ext cx="7350619" cy="1728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835AC7-CD59-7586-7D09-52DAD6A11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056" y="3914935"/>
            <a:ext cx="2562583" cy="16956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6A8532-53AE-FAEF-5D3E-84331B7448C4}"/>
              </a:ext>
            </a:extLst>
          </p:cNvPr>
          <p:cNvSpPr/>
          <p:nvPr/>
        </p:nvSpPr>
        <p:spPr>
          <a:xfrm>
            <a:off x="5272548" y="5287297"/>
            <a:ext cx="781665" cy="250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0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D37B-F6CC-46CE-1970-9E3BF617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316AB1-7F89-8328-4CB3-C8C5D806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050" y="848030"/>
            <a:ext cx="7125694" cy="44392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24DA18-BFD7-78B0-7A5D-3F459A64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1445"/>
          </a:xfrm>
        </p:spPr>
        <p:txBody>
          <a:bodyPr>
            <a:normAutofit/>
          </a:bodyPr>
          <a:lstStyle/>
          <a:p>
            <a:r>
              <a:rPr sz="1800"/>
              <a:t>建立新元件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101C2-EBE1-E78A-63E7-713FDF901D7D}"/>
              </a:ext>
            </a:extLst>
          </p:cNvPr>
          <p:cNvSpPr/>
          <p:nvPr/>
        </p:nvSpPr>
        <p:spPr>
          <a:xfrm>
            <a:off x="4662948" y="3884166"/>
            <a:ext cx="5852652" cy="426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8BBA9-43FB-99BA-93BA-A3A40B0B7387}"/>
              </a:ext>
            </a:extLst>
          </p:cNvPr>
          <p:cNvSpPr txBox="1"/>
          <p:nvPr/>
        </p:nvSpPr>
        <p:spPr>
          <a:xfrm>
            <a:off x="848646" y="3641062"/>
            <a:ext cx="1734780" cy="8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/>
              <a:t>2: </a:t>
            </a:r>
            <a:r>
              <a:rPr lang="zh-TW" altLang="en-US"/>
              <a:t>輸入檔案名稱</a:t>
            </a:r>
            <a:endParaRPr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E768D7-8DF7-0E9D-79CD-DF2F67253FF8}"/>
              </a:ext>
            </a:extLst>
          </p:cNvPr>
          <p:cNvSpPr/>
          <p:nvPr/>
        </p:nvSpPr>
        <p:spPr>
          <a:xfrm>
            <a:off x="4748980" y="1153579"/>
            <a:ext cx="5766619" cy="426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65090B-E54C-42D5-90E7-46360402718B}"/>
              </a:ext>
            </a:extLst>
          </p:cNvPr>
          <p:cNvCxnSpPr>
            <a:cxnSpLocks/>
          </p:cNvCxnSpPr>
          <p:nvPr/>
        </p:nvCxnSpPr>
        <p:spPr>
          <a:xfrm flipV="1">
            <a:off x="2573594" y="3967316"/>
            <a:ext cx="1991032" cy="28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1BE00E5-A6A1-EE25-EC24-61B8034A6DC8}"/>
              </a:ext>
            </a:extLst>
          </p:cNvPr>
          <p:cNvSpPr txBox="1"/>
          <p:nvPr/>
        </p:nvSpPr>
        <p:spPr>
          <a:xfrm>
            <a:off x="848646" y="848030"/>
            <a:ext cx="1855225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/>
              <a:t>1:</a:t>
            </a:r>
            <a:r>
              <a:rPr lang="zh-TW" altLang="en-US"/>
              <a:t> 選擇檔案位置</a:t>
            </a:r>
            <a:endParaRPr sz="1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A9DE7B-52FE-B778-3D6C-7B560A75AFF3}"/>
              </a:ext>
            </a:extLst>
          </p:cNvPr>
          <p:cNvCxnSpPr>
            <a:cxnSpLocks/>
          </p:cNvCxnSpPr>
          <p:nvPr/>
        </p:nvCxnSpPr>
        <p:spPr>
          <a:xfrm flipV="1">
            <a:off x="2703871" y="1349302"/>
            <a:ext cx="1991032" cy="28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A14AB12-1DD6-3151-597B-FEB357349392}"/>
              </a:ext>
            </a:extLst>
          </p:cNvPr>
          <p:cNvSpPr txBox="1"/>
          <p:nvPr/>
        </p:nvSpPr>
        <p:spPr>
          <a:xfrm>
            <a:off x="848646" y="4830765"/>
            <a:ext cx="391016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/>
              <a:t>3: 按下 “Save”</a:t>
            </a:r>
            <a:endParaRPr lang="en-US" b="0" i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C10ACE-A2E8-AB73-759F-75A66DCFC55B}"/>
              </a:ext>
            </a:extLst>
          </p:cNvPr>
          <p:cNvCxnSpPr>
            <a:cxnSpLocks/>
          </p:cNvCxnSpPr>
          <p:nvPr/>
        </p:nvCxnSpPr>
        <p:spPr>
          <a:xfrm>
            <a:off x="2583426" y="5059032"/>
            <a:ext cx="588214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BD271A9-1D72-700C-6BC8-18B6E47449FB}"/>
              </a:ext>
            </a:extLst>
          </p:cNvPr>
          <p:cNvSpPr/>
          <p:nvPr/>
        </p:nvSpPr>
        <p:spPr>
          <a:xfrm>
            <a:off x="8546690" y="4737114"/>
            <a:ext cx="1015912" cy="426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0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088A-0FD0-6D44-E4F5-78AF7B43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AFCC70-07F7-BABB-92E9-E542B21A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61" y="2252621"/>
            <a:ext cx="7461716" cy="4170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0E5C6-AF15-F256-6BC1-BE61A6D7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899B1-28D6-D7D4-359B-EE81E2D42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194" y="626807"/>
            <a:ext cx="3600953" cy="1409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06073B-1578-C90F-05B0-85BA0FAF85A1}"/>
              </a:ext>
            </a:extLst>
          </p:cNvPr>
          <p:cNvSpPr txBox="1"/>
          <p:nvPr/>
        </p:nvSpPr>
        <p:spPr>
          <a:xfrm>
            <a:off x="250723" y="693174"/>
            <a:ext cx="429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1:</a:t>
            </a:r>
            <a:r>
              <a:rPr lang="zh-TW" altLang="en-US"/>
              <a:t>點選 </a:t>
            </a:r>
            <a:r>
              <a:rPr lang="en-US" altLang="zh-TW"/>
              <a:t>"</a:t>
            </a:r>
            <a:r>
              <a:rPr lang="en-US"/>
              <a:t>New Symbol" </a:t>
            </a:r>
            <a:r>
              <a:rPr lang="zh-TW" altLang="en-US"/>
              <a:t>按鈕</a:t>
            </a:r>
            <a:endParaRPr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A0106-E4B9-093C-0CC4-F91C9C817DC4}"/>
              </a:ext>
            </a:extLst>
          </p:cNvPr>
          <p:cNvSpPr txBox="1"/>
          <p:nvPr/>
        </p:nvSpPr>
        <p:spPr>
          <a:xfrm>
            <a:off x="250723" y="3721510"/>
            <a:ext cx="4439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2: </a:t>
            </a:r>
            <a:r>
              <a:rPr lang="zh-TW" altLang="en-US"/>
              <a:t>在 </a:t>
            </a:r>
            <a:r>
              <a:rPr lang="en-US" altLang="zh-TW"/>
              <a:t>"</a:t>
            </a:r>
            <a:r>
              <a:rPr lang="en-US"/>
              <a:t>New Symbol" </a:t>
            </a:r>
            <a:r>
              <a:rPr lang="zh-TW" altLang="en-US"/>
              <a:t>視窗中設定，然後點擊 </a:t>
            </a:r>
            <a:r>
              <a:rPr lang="en-US" altLang="zh-TW"/>
              <a:t>"</a:t>
            </a:r>
            <a:r>
              <a:rPr lang="en-US"/>
              <a:t>OK”</a:t>
            </a:r>
            <a:endParaRPr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F34F1D-1FD8-B4EB-C411-612D75D2B932}"/>
              </a:ext>
            </a:extLst>
          </p:cNvPr>
          <p:cNvSpPr/>
          <p:nvPr/>
        </p:nvSpPr>
        <p:spPr>
          <a:xfrm>
            <a:off x="6697981" y="2804159"/>
            <a:ext cx="1859280" cy="2020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D3C56-4FBB-8F27-D1CC-DE24014A9455}"/>
              </a:ext>
            </a:extLst>
          </p:cNvPr>
          <p:cNvSpPr/>
          <p:nvPr/>
        </p:nvSpPr>
        <p:spPr>
          <a:xfrm>
            <a:off x="6697982" y="3131157"/>
            <a:ext cx="1859280" cy="2020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4E101-7C19-1719-BBFD-EBABB7D0051F}"/>
              </a:ext>
            </a:extLst>
          </p:cNvPr>
          <p:cNvSpPr/>
          <p:nvPr/>
        </p:nvSpPr>
        <p:spPr>
          <a:xfrm>
            <a:off x="7566660" y="4710510"/>
            <a:ext cx="487680" cy="2020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95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ABE3-4A5D-C9B7-FE15-1C01B0D2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78DF-C7D8-8A62-CB2B-CC70BAA7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26200-5044-3BF4-1477-598783BB2B5A}"/>
              </a:ext>
            </a:extLst>
          </p:cNvPr>
          <p:cNvSpPr txBox="1"/>
          <p:nvPr/>
        </p:nvSpPr>
        <p:spPr>
          <a:xfrm>
            <a:off x="51620" y="626807"/>
            <a:ext cx="429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3: </a:t>
            </a:r>
            <a:r>
              <a:rPr lang="zh-TW" altLang="en-US"/>
              <a:t>進行設定配置</a:t>
            </a:r>
            <a:endParaRPr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B47F91-C665-4E91-310E-9BF49C3D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9112"/>
            <a:ext cx="8332916" cy="470045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1F618D-D318-C27A-FF1D-25DAD55EB29A}"/>
              </a:ext>
            </a:extLst>
          </p:cNvPr>
          <p:cNvSpPr/>
          <p:nvPr/>
        </p:nvSpPr>
        <p:spPr>
          <a:xfrm>
            <a:off x="6298324" y="5849007"/>
            <a:ext cx="1679028" cy="1405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6C3B51-A5FD-D94B-B92F-C31FB1110B4D}"/>
              </a:ext>
            </a:extLst>
          </p:cNvPr>
          <p:cNvSpPr/>
          <p:nvPr/>
        </p:nvSpPr>
        <p:spPr>
          <a:xfrm>
            <a:off x="4350773" y="2424922"/>
            <a:ext cx="272845" cy="6501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ED02F-C34D-8604-60E4-F535706E4C30}"/>
              </a:ext>
            </a:extLst>
          </p:cNvPr>
          <p:cNvSpPr txBox="1"/>
          <p:nvPr/>
        </p:nvSpPr>
        <p:spPr>
          <a:xfrm>
            <a:off x="4579374" y="2424922"/>
            <a:ext cx="1172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Changing Unit</a:t>
            </a:r>
          </a:p>
        </p:txBody>
      </p:sp>
    </p:spTree>
    <p:extLst>
      <p:ext uri="{BB962C8B-B14F-4D97-AF65-F5344CB8AC3E}">
        <p14:creationId xmlns:p14="http://schemas.microsoft.com/office/powerpoint/2010/main" val="199766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6682-28A8-C381-0DEC-3B201858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32F4-C251-9DE8-DA9A-832771DB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6DE59-C9D8-8440-5465-CD741B68762E}"/>
              </a:ext>
            </a:extLst>
          </p:cNvPr>
          <p:cNvSpPr txBox="1"/>
          <p:nvPr/>
        </p:nvSpPr>
        <p:spPr>
          <a:xfrm>
            <a:off x="250722" y="693174"/>
            <a:ext cx="1194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4: </a:t>
            </a:r>
            <a:r>
              <a:rPr lang="zh-TW" altLang="en-US"/>
              <a:t>點選右側欄的「繪製 </a:t>
            </a:r>
            <a:r>
              <a:rPr lang="en-US" altLang="zh-TW"/>
              <a:t>Pins (P)</a:t>
            </a:r>
            <a:r>
              <a:rPr lang="zh-TW" altLang="en-US"/>
              <a:t>」以新增元件 </a:t>
            </a:r>
            <a:r>
              <a:rPr lang="en-US" altLang="zh-TW"/>
              <a:t>pin</a:t>
            </a:r>
            <a:endParaRPr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20A30-EB21-5DE6-F007-5A28D92A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2414446"/>
            <a:ext cx="2038635" cy="20291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9D3340-F338-18AB-F70B-4B0EB8BD9238}"/>
              </a:ext>
            </a:extLst>
          </p:cNvPr>
          <p:cNvCxnSpPr>
            <a:cxnSpLocks/>
          </p:cNvCxnSpPr>
          <p:nvPr/>
        </p:nvCxnSpPr>
        <p:spPr>
          <a:xfrm>
            <a:off x="2927555" y="3370006"/>
            <a:ext cx="1755058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02D95D4-3DB9-FF74-F5AA-B04A8DE40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66" y="1221206"/>
            <a:ext cx="5439534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63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3EC8F-57D1-9C5C-DD9D-418CFC24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BFD2-99F5-FAFA-0843-61F5AB09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0A9518-8656-0B98-472B-5F94A688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9" y="3029787"/>
            <a:ext cx="5925361" cy="33884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F8451B-FAC0-5F8C-9630-AAFF2E50D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359" y="3029787"/>
            <a:ext cx="5478641" cy="33884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DF2837-7C9A-8BE4-30F8-CFCFB8E3B3F6}"/>
              </a:ext>
            </a:extLst>
          </p:cNvPr>
          <p:cNvSpPr txBox="1"/>
          <p:nvPr/>
        </p:nvSpPr>
        <p:spPr>
          <a:xfrm>
            <a:off x="169606" y="484749"/>
            <a:ext cx="11852787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800"/>
              <a:t>範例: </a:t>
            </a:r>
            <a:r>
              <a:rPr lang="zh-CN" altLang="en-US"/>
              <a:t>創造</a:t>
            </a:r>
            <a:r>
              <a:rPr sz="1800"/>
              <a:t> Buzzer </a:t>
            </a:r>
            <a:br/>
            <a:r>
              <a:rPr sz="1800"/>
              <a:t>Buzzer datasheet: https://www.alldatasheet.vn/datasheet-pdf/view/238280/CUI/CEM-1206S.html</a:t>
            </a:r>
            <a:br/>
            <a:r>
              <a:rPr sz="1800"/>
              <a:t>Buzzer 符號:</a:t>
            </a:r>
            <a:endParaRPr lang="en-US"/>
          </a:p>
        </p:txBody>
      </p:sp>
      <p:pic>
        <p:nvPicPr>
          <p:cNvPr id="1028" name="Picture 4" descr="The Symbol of Buzzer in Circuit Diagram - KELIKING-Micro SMD Buzzer and  Piezo ceramic transducer sensor manufacturer">
            <a:extLst>
              <a:ext uri="{FF2B5EF4-FFF2-40B4-BE49-F238E27FC236}">
                <a16:creationId xmlns:a16="http://schemas.microsoft.com/office/drawing/2014/main" id="{B00AE4D6-729B-3310-C197-22B3D8EE4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672" y="1356676"/>
            <a:ext cx="1472597" cy="115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EF096A-9D81-9CE8-3596-80A216F5E18E}"/>
              </a:ext>
            </a:extLst>
          </p:cNvPr>
          <p:cNvSpPr txBox="1"/>
          <p:nvPr/>
        </p:nvSpPr>
        <p:spPr>
          <a:xfrm>
            <a:off x="169606" y="2580968"/>
            <a:ext cx="3886200" cy="376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繪製 Buzzer 符號 on KiCad:</a:t>
            </a:r>
          </a:p>
        </p:txBody>
      </p:sp>
    </p:spTree>
    <p:extLst>
      <p:ext uri="{BB962C8B-B14F-4D97-AF65-F5344CB8AC3E}">
        <p14:creationId xmlns:p14="http://schemas.microsoft.com/office/powerpoint/2010/main" val="366048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FB5C-BC22-EC8D-862C-D773DE8B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E2E0-42A0-B08D-42C1-69CABA59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F0A68-C5AF-E65A-DC25-CE4EF7DC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66" y="1801462"/>
            <a:ext cx="4584370" cy="3255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920E45-C260-8A8F-DBE9-38A8E12A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313" y="1801463"/>
            <a:ext cx="4623229" cy="325507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38FF60-D156-F2C1-C4AF-A4574AA788FF}"/>
              </a:ext>
            </a:extLst>
          </p:cNvPr>
          <p:cNvCxnSpPr>
            <a:cxnSpLocks/>
          </p:cNvCxnSpPr>
          <p:nvPr/>
        </p:nvCxnSpPr>
        <p:spPr>
          <a:xfrm>
            <a:off x="5384043" y="3428998"/>
            <a:ext cx="11259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818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A753-FF54-ABCA-E30F-3744DE08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D82B-BBB5-BE51-E094-9D2AEBD3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34F5E-C1A7-E696-8F2C-BE731BCB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834" y="886115"/>
            <a:ext cx="8634034" cy="49024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5114FA-BE07-13C4-C0B9-89FBDE060F96}"/>
              </a:ext>
            </a:extLst>
          </p:cNvPr>
          <p:cNvSpPr/>
          <p:nvPr/>
        </p:nvSpPr>
        <p:spPr>
          <a:xfrm>
            <a:off x="3944203" y="3527946"/>
            <a:ext cx="288584" cy="2661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78495E-BC26-56B1-C84A-69871026FDA7}"/>
              </a:ext>
            </a:extLst>
          </p:cNvPr>
          <p:cNvSpPr txBox="1"/>
          <p:nvPr/>
        </p:nvSpPr>
        <p:spPr>
          <a:xfrm>
            <a:off x="1" y="1637694"/>
            <a:ext cx="1328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2: </a:t>
            </a:r>
            <a:r>
              <a:rPr lang="zh-TW" altLang="en-US"/>
              <a:t>設定圖示屬性</a:t>
            </a:r>
            <a:endParaRPr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2F48A-8BC7-ADD5-D18D-72552FF9CA38}"/>
              </a:ext>
            </a:extLst>
          </p:cNvPr>
          <p:cNvSpPr/>
          <p:nvPr/>
        </p:nvSpPr>
        <p:spPr>
          <a:xfrm>
            <a:off x="1328834" y="1822360"/>
            <a:ext cx="2542618" cy="21302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D14E5-BC5A-6B6D-EBF2-651878945C2F}"/>
              </a:ext>
            </a:extLst>
          </p:cNvPr>
          <p:cNvSpPr txBox="1"/>
          <p:nvPr/>
        </p:nvSpPr>
        <p:spPr>
          <a:xfrm>
            <a:off x="4232787" y="3476346"/>
            <a:ext cx="132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9292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A56D-8A02-0A0E-1187-5101315E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951110-44E5-F868-B423-1E853A5DE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91" y="1037463"/>
            <a:ext cx="8857400" cy="4972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8D3E8A-C4DC-0F67-B123-59FF6424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524DA0-A229-2226-2C4D-F6089DAEE6E2}"/>
              </a:ext>
            </a:extLst>
          </p:cNvPr>
          <p:cNvSpPr txBox="1"/>
          <p:nvPr/>
        </p:nvSpPr>
        <p:spPr>
          <a:xfrm>
            <a:off x="1" y="1637694"/>
            <a:ext cx="243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編輯「</a:t>
            </a:r>
            <a:r>
              <a:rPr lang="en-US" altLang="zh-TW"/>
              <a:t>Pins</a:t>
            </a:r>
            <a:r>
              <a:rPr lang="zh-TW" altLang="en-US"/>
              <a:t>」參數</a:t>
            </a:r>
            <a:endParaRPr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4E12C0-2F5F-6AF4-A13E-7B56BC3DB1EA}"/>
              </a:ext>
            </a:extLst>
          </p:cNvPr>
          <p:cNvSpPr/>
          <p:nvPr/>
        </p:nvSpPr>
        <p:spPr>
          <a:xfrm>
            <a:off x="2552951" y="3281516"/>
            <a:ext cx="2490998" cy="4055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4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217A-18AF-8B67-DBAA-96B60A26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92FB-67FE-3A7D-A118-A7A0461D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建立新符號：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CF174-C844-9C90-E578-20BB7B8D5751}"/>
              </a:ext>
            </a:extLst>
          </p:cNvPr>
          <p:cNvSpPr txBox="1"/>
          <p:nvPr/>
        </p:nvSpPr>
        <p:spPr>
          <a:xfrm>
            <a:off x="1" y="1637694"/>
            <a:ext cx="243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使符號清晰</a:t>
            </a:r>
            <a:endParaRPr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BB391-EE4D-CE8F-4FF3-9C002223C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91" y="905725"/>
            <a:ext cx="7744906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90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33B6-5704-F33C-5442-AEE2B9A9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B3C8-58E4-E422-C79A-9EA8DCEA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F725E5-3AD5-3389-8FC7-F45AD9906948}"/>
              </a:ext>
            </a:extLst>
          </p:cNvPr>
          <p:cNvSpPr txBox="1"/>
          <p:nvPr/>
        </p:nvSpPr>
        <p:spPr>
          <a:xfrm>
            <a:off x="0" y="56781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建立元件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A039A-6EAD-4318-ADE4-55FD04411AAB}"/>
              </a:ext>
            </a:extLst>
          </p:cNvPr>
          <p:cNvSpPr txBox="1"/>
          <p:nvPr/>
        </p:nvSpPr>
        <p:spPr>
          <a:xfrm>
            <a:off x="0" y="998702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https://www.lcsc.com/product-detail/C46528106.html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AC34D-4A4A-45A3-B5C6-D7D74C2A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299210"/>
            <a:ext cx="1105054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45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69EE-6DAF-DB98-7473-14E4FEE5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056B-2136-FD83-D7B6-9D895A03F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A77804-15AD-17C4-49D0-F6F4973CE6AF}"/>
              </a:ext>
            </a:extLst>
          </p:cNvPr>
          <p:cNvSpPr txBox="1"/>
          <p:nvPr/>
        </p:nvSpPr>
        <p:spPr>
          <a:xfrm>
            <a:off x="0" y="56781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建立元件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BB043-AAE7-8741-0720-0741BC8B68FB}"/>
              </a:ext>
            </a:extLst>
          </p:cNvPr>
          <p:cNvSpPr txBox="1"/>
          <p:nvPr/>
        </p:nvSpPr>
        <p:spPr>
          <a:xfrm>
            <a:off x="0" y="998702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https://www.lcsc.com/product-detail/C107374.html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70FC3-3F00-29EA-62B6-162E3F614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1368034"/>
            <a:ext cx="11002911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2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C136-93BC-5939-4A69-275329CD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7E47-BF81-2BA8-E6E5-836F79CA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0A187E-0340-5EBB-11F5-1AC0CE512A57}"/>
              </a:ext>
            </a:extLst>
          </p:cNvPr>
          <p:cNvSpPr txBox="1"/>
          <p:nvPr/>
        </p:nvSpPr>
        <p:spPr>
          <a:xfrm>
            <a:off x="0" y="56781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建立 IC 元件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956F4-3ABF-A88D-4E5E-BA6C3F0AF4FE}"/>
              </a:ext>
            </a:extLst>
          </p:cNvPr>
          <p:cNvSpPr txBox="1"/>
          <p:nvPr/>
        </p:nvSpPr>
        <p:spPr>
          <a:xfrm>
            <a:off x="-1" y="998702"/>
            <a:ext cx="8957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https://www.lcsc.com/product-detail/C33901.html?s_z=n_atmega328p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89893-7AE6-DD8B-645F-8583D0B9F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368034"/>
            <a:ext cx="1104101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87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ACFE-CDC1-E276-BA5E-141570C7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B738-4C65-468D-65F6-68EEEDF4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97CD8-519B-EC42-D085-9BB536607565}"/>
              </a:ext>
            </a:extLst>
          </p:cNvPr>
          <p:cNvSpPr txBox="1"/>
          <p:nvPr/>
        </p:nvSpPr>
        <p:spPr>
          <a:xfrm>
            <a:off x="0" y="715920"/>
            <a:ext cx="50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1: 檢查 datasheet ( Buzzer):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BA4DF-411E-E8CC-432B-8049B6F9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" y="1039085"/>
            <a:ext cx="6096000" cy="3830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F7D08-30E9-E48B-5043-ACC2B5665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134" y="313404"/>
            <a:ext cx="5950866" cy="3719292"/>
          </a:xfrm>
          <a:prstGeom prst="rect">
            <a:avLst/>
          </a:prstGeom>
        </p:spPr>
      </p:pic>
      <p:pic>
        <p:nvPicPr>
          <p:cNvPr id="2050" name="Picture 2" descr="Buzzer : Working, Types, Circuit, Advantages &amp; Disadvantages">
            <a:extLst>
              <a:ext uri="{FF2B5EF4-FFF2-40B4-BE49-F238E27FC236}">
                <a16:creationId xmlns:a16="http://schemas.microsoft.com/office/drawing/2014/main" id="{0253EAAC-E5D0-BF5D-79BD-9E68BA7BF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554" y="4346099"/>
            <a:ext cx="1858466" cy="204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688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0EE6-D508-733F-6768-29D567CD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A69E-8681-4CC9-33BE-72FA19EA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1D705-6ABE-DEBE-ABA7-64680D7FCCCD}"/>
              </a:ext>
            </a:extLst>
          </p:cNvPr>
          <p:cNvSpPr txBox="1"/>
          <p:nvPr/>
        </p:nvSpPr>
        <p:spPr>
          <a:xfrm>
            <a:off x="0" y="715920"/>
            <a:ext cx="50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2：建立封裝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334AD-E0B9-EA72-F8E1-8007B478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084" y="1164131"/>
            <a:ext cx="7353895" cy="524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61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6E58-B1F9-A5E4-C975-DDE6D25F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9A08-70B3-959A-0D14-F1A07DD5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6488C-7EE0-C725-BFE5-5920E30F145A}"/>
              </a:ext>
            </a:extLst>
          </p:cNvPr>
          <p:cNvSpPr txBox="1"/>
          <p:nvPr/>
        </p:nvSpPr>
        <p:spPr>
          <a:xfrm>
            <a:off x="0" y="626807"/>
            <a:ext cx="50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2：建立封裝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D2FCB-501B-3809-6548-61A83669D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77" y="1185270"/>
            <a:ext cx="9327720" cy="52320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47FBE4-ED17-FAEA-4D6D-5F90F6C508A6}"/>
              </a:ext>
            </a:extLst>
          </p:cNvPr>
          <p:cNvSpPr/>
          <p:nvPr/>
        </p:nvSpPr>
        <p:spPr>
          <a:xfrm>
            <a:off x="1369777" y="1575619"/>
            <a:ext cx="252300" cy="255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B1F6-9461-4AC3-51B8-E1F03353E8B1}"/>
              </a:ext>
            </a:extLst>
          </p:cNvPr>
          <p:cNvSpPr/>
          <p:nvPr/>
        </p:nvSpPr>
        <p:spPr>
          <a:xfrm>
            <a:off x="1644834" y="1575619"/>
            <a:ext cx="252300" cy="255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FB170A-E4F0-5CAC-620C-33A8AD326AE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179871" y="1703610"/>
            <a:ext cx="1899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91B50A-3B0A-F31F-B27B-09D279D3A865}"/>
              </a:ext>
            </a:extLst>
          </p:cNvPr>
          <p:cNvSpPr txBox="1"/>
          <p:nvPr/>
        </p:nvSpPr>
        <p:spPr>
          <a:xfrm>
            <a:off x="0" y="1273138"/>
            <a:ext cx="1347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建立 new 封裝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F005A2-DB47-BCF8-8CDC-DE3728B21283}"/>
              </a:ext>
            </a:extLst>
          </p:cNvPr>
          <p:cNvCxnSpPr/>
          <p:nvPr/>
        </p:nvCxnSpPr>
        <p:spPr>
          <a:xfrm flipV="1">
            <a:off x="1770984" y="1831601"/>
            <a:ext cx="0" cy="741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BAD3FE-B160-DBBC-266C-FAB4CB5F7D90}"/>
              </a:ext>
            </a:extLst>
          </p:cNvPr>
          <p:cNvCxnSpPr>
            <a:cxnSpLocks/>
          </p:cNvCxnSpPr>
          <p:nvPr/>
        </p:nvCxnSpPr>
        <p:spPr>
          <a:xfrm flipH="1">
            <a:off x="1290484" y="2573594"/>
            <a:ext cx="4878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66135E0-BABE-0159-6CDF-6631C2FF307F}"/>
              </a:ext>
            </a:extLst>
          </p:cNvPr>
          <p:cNvSpPr txBox="1"/>
          <p:nvPr/>
        </p:nvSpPr>
        <p:spPr>
          <a:xfrm>
            <a:off x="-1" y="2196468"/>
            <a:ext cx="164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Creat 封裝 based on template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E56393-0315-32F6-C8C6-E3C29EB56370}"/>
              </a:ext>
            </a:extLst>
          </p:cNvPr>
          <p:cNvSpPr/>
          <p:nvPr/>
        </p:nvSpPr>
        <p:spPr>
          <a:xfrm>
            <a:off x="9001820" y="1831601"/>
            <a:ext cx="1695675" cy="2563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227D68-3FCD-FA8C-0BDE-87C5AC109025}"/>
              </a:ext>
            </a:extLst>
          </p:cNvPr>
          <p:cNvSpPr txBox="1"/>
          <p:nvPr/>
        </p:nvSpPr>
        <p:spPr>
          <a:xfrm>
            <a:off x="10697495" y="1734803"/>
            <a:ext cx="1494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選擇 圖層 to draw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A18D3F-619A-F9DE-4308-3736F5FC5ECB}"/>
              </a:ext>
            </a:extLst>
          </p:cNvPr>
          <p:cNvSpPr/>
          <p:nvPr/>
        </p:nvSpPr>
        <p:spPr>
          <a:xfrm>
            <a:off x="8704012" y="2196468"/>
            <a:ext cx="305181" cy="281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05669-C64E-457B-D4EF-C3955A926905}"/>
              </a:ext>
            </a:extLst>
          </p:cNvPr>
          <p:cNvSpPr txBox="1"/>
          <p:nvPr/>
        </p:nvSpPr>
        <p:spPr>
          <a:xfrm>
            <a:off x="7956759" y="440646"/>
            <a:ext cx="1494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新增 copper path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9056A3-3F1A-EF5B-951D-BBC78F49143C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8704012" y="1086977"/>
            <a:ext cx="152591" cy="1109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202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CF3-F0CC-3F29-786E-FA50E160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3E09BB-82F9-8E7D-A169-EC427DDB3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095" y="1151467"/>
            <a:ext cx="9437809" cy="52914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6510EC-D261-E33C-8885-63A03AEF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F8BA6-E0DA-D4A3-E5F0-549A075164BF}"/>
              </a:ext>
            </a:extLst>
          </p:cNvPr>
          <p:cNvSpPr txBox="1"/>
          <p:nvPr/>
        </p:nvSpPr>
        <p:spPr>
          <a:xfrm>
            <a:off x="0" y="626807"/>
            <a:ext cx="50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步驟 1: 建立 “New Library…”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70CEF3-AC74-1528-BE8A-41B0B1C23B46}"/>
              </a:ext>
            </a:extLst>
          </p:cNvPr>
          <p:cNvSpPr/>
          <p:nvPr/>
        </p:nvSpPr>
        <p:spPr>
          <a:xfrm>
            <a:off x="1394023" y="1504335"/>
            <a:ext cx="1987693" cy="209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88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28C7-6CDD-204D-9733-0C5C4F01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6381DE-EFC3-9924-BC86-4DE46980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27" y="1273138"/>
            <a:ext cx="8071055" cy="5075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B9FBF9-8660-9541-AB94-62D0EB3D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5FA97-798C-6851-1564-4ABE10ABB500}"/>
              </a:ext>
            </a:extLst>
          </p:cNvPr>
          <p:cNvSpPr txBox="1"/>
          <p:nvPr/>
        </p:nvSpPr>
        <p:spPr>
          <a:xfrm>
            <a:off x="0" y="62680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：建立 </a:t>
            </a:r>
            <a:r>
              <a:rPr lang="en-US" altLang="zh-TW"/>
              <a:t>"</a:t>
            </a:r>
            <a:r>
              <a:rPr lang="en-US"/>
              <a:t>New Library..."，</a:t>
            </a:r>
            <a:r>
              <a:rPr lang="zh-TW" altLang="en-US"/>
              <a:t>選擇 </a:t>
            </a:r>
            <a:r>
              <a:rPr lang="en-US" altLang="zh-TW"/>
              <a:t>"</a:t>
            </a:r>
            <a:r>
              <a:rPr lang="en-US"/>
              <a:t>Global"，</a:t>
            </a:r>
            <a:r>
              <a:rPr lang="zh-TW" altLang="en-US"/>
              <a:t>點擊 </a:t>
            </a:r>
            <a:r>
              <a:rPr lang="en-US" altLang="zh-TW"/>
              <a:t>"</a:t>
            </a:r>
            <a:r>
              <a:rPr lang="en-US"/>
              <a:t>OK" </a:t>
            </a:r>
            <a:r>
              <a:rPr lang="zh-TW" altLang="en-US"/>
              <a:t>並 </a:t>
            </a:r>
            <a:r>
              <a:rPr lang="en-US" altLang="zh-TW"/>
              <a:t>"</a:t>
            </a:r>
            <a:r>
              <a:rPr lang="en-US"/>
              <a:t>Save"</a:t>
            </a:r>
            <a:endParaRPr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370E5-AEB5-22B9-7B51-28C29A341501}"/>
              </a:ext>
            </a:extLst>
          </p:cNvPr>
          <p:cNvSpPr/>
          <p:nvPr/>
        </p:nvSpPr>
        <p:spPr>
          <a:xfrm>
            <a:off x="7403690" y="5820696"/>
            <a:ext cx="1061303" cy="314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668A9-7A9A-B483-2343-7C3A9D8266D4}"/>
              </a:ext>
            </a:extLst>
          </p:cNvPr>
          <p:cNvSpPr/>
          <p:nvPr/>
        </p:nvSpPr>
        <p:spPr>
          <a:xfrm>
            <a:off x="3072581" y="1671484"/>
            <a:ext cx="4213122" cy="385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1ADF65-D40F-F0FC-ED4C-875CA9F955F3}"/>
              </a:ext>
            </a:extLst>
          </p:cNvPr>
          <p:cNvCxnSpPr>
            <a:cxnSpLocks/>
          </p:cNvCxnSpPr>
          <p:nvPr/>
        </p:nvCxnSpPr>
        <p:spPr>
          <a:xfrm>
            <a:off x="1425675" y="1779639"/>
            <a:ext cx="159282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56BEFD-F530-AC0A-CE40-45D01D551842}"/>
              </a:ext>
            </a:extLst>
          </p:cNvPr>
          <p:cNvSpPr txBox="1"/>
          <p:nvPr/>
        </p:nvSpPr>
        <p:spPr>
          <a:xfrm>
            <a:off x="250723" y="1594973"/>
            <a:ext cx="1081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檔案路徑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713A80-23F3-E2CB-E5CF-918E9FCF2DB9}"/>
              </a:ext>
            </a:extLst>
          </p:cNvPr>
          <p:cNvSpPr/>
          <p:nvPr/>
        </p:nvSpPr>
        <p:spPr>
          <a:xfrm>
            <a:off x="2959219" y="4672919"/>
            <a:ext cx="934355" cy="314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CC8E1-62F1-EEEB-392A-1C51CD7E3488}"/>
              </a:ext>
            </a:extLst>
          </p:cNvPr>
          <p:cNvCxnSpPr>
            <a:cxnSpLocks/>
          </p:cNvCxnSpPr>
          <p:nvPr/>
        </p:nvCxnSpPr>
        <p:spPr>
          <a:xfrm>
            <a:off x="1425678" y="4753897"/>
            <a:ext cx="149421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4EFBF8-51C0-E275-CE3A-986B7DB67A35}"/>
              </a:ext>
            </a:extLst>
          </p:cNvPr>
          <p:cNvSpPr txBox="1"/>
          <p:nvPr/>
        </p:nvSpPr>
        <p:spPr>
          <a:xfrm>
            <a:off x="262386" y="4569231"/>
            <a:ext cx="120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檔名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27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2E68-0AD4-7AE0-F398-E35B2BB4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7F5E7A5-81D6-BC50-88E7-5AA9F6CF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65" y="1130334"/>
            <a:ext cx="6908278" cy="5638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82B89-80E1-F5EB-3ABA-CF7D3CF4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F419B-0817-EB7A-70F4-7F5F9AD581AE}"/>
              </a:ext>
            </a:extLst>
          </p:cNvPr>
          <p:cNvSpPr txBox="1"/>
          <p:nvPr/>
        </p:nvSpPr>
        <p:spPr>
          <a:xfrm>
            <a:off x="0" y="52520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：右鍵點擊新的函式庫名稱 </a:t>
            </a:r>
            <a:r>
              <a:rPr lang="en-US" altLang="zh-TW"/>
              <a:t>(</a:t>
            </a:r>
            <a:r>
              <a:rPr lang="en-US"/>
              <a:t>library name)，</a:t>
            </a:r>
            <a:r>
              <a:rPr lang="zh-TW" altLang="en-US"/>
              <a:t>選擇「新建封裝」</a:t>
            </a:r>
            <a:r>
              <a:rPr lang="en-US" altLang="zh-TW"/>
              <a:t>(</a:t>
            </a:r>
            <a:r>
              <a:rPr lang="en-US"/>
              <a:t>New Footprint)，</a:t>
            </a:r>
            <a:r>
              <a:rPr lang="zh-TW" altLang="en-US"/>
              <a:t>點擊「封裝屬性」</a:t>
            </a:r>
            <a:r>
              <a:rPr lang="en-US" altLang="zh-TW"/>
              <a:t>(</a:t>
            </a:r>
            <a:r>
              <a:rPr lang="en-US"/>
              <a:t>Footprint Properties)，</a:t>
            </a:r>
            <a:r>
              <a:rPr lang="zh-TW" altLang="en-US"/>
              <a:t>新增「封裝名稱」</a:t>
            </a:r>
            <a:r>
              <a:rPr lang="en-US" altLang="zh-TW"/>
              <a:t>(</a:t>
            </a:r>
            <a:r>
              <a:rPr lang="en-US"/>
              <a:t>Footprint name) </a:t>
            </a:r>
            <a:r>
              <a:rPr lang="zh-TW" altLang="en-US"/>
              <a:t>並選擇「元件類型」</a:t>
            </a:r>
            <a:r>
              <a:rPr lang="en-US" altLang="zh-TW"/>
              <a:t>(</a:t>
            </a:r>
            <a:r>
              <a:rPr lang="en-US"/>
              <a:t>Component type)</a:t>
            </a:r>
            <a:endParaRPr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217914-498B-12B2-5219-09268F848442}"/>
              </a:ext>
            </a:extLst>
          </p:cNvPr>
          <p:cNvSpPr/>
          <p:nvPr/>
        </p:nvSpPr>
        <p:spPr>
          <a:xfrm>
            <a:off x="3038165" y="2113933"/>
            <a:ext cx="6213990" cy="235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22442E-CE63-39D3-0738-13BE26B065DE}"/>
              </a:ext>
            </a:extLst>
          </p:cNvPr>
          <p:cNvCxnSpPr>
            <a:cxnSpLocks/>
          </p:cNvCxnSpPr>
          <p:nvPr/>
        </p:nvCxnSpPr>
        <p:spPr>
          <a:xfrm>
            <a:off x="1425678" y="2202424"/>
            <a:ext cx="159282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859D8F-21F3-4A78-F183-E923253DA684}"/>
              </a:ext>
            </a:extLst>
          </p:cNvPr>
          <p:cNvSpPr txBox="1"/>
          <p:nvPr/>
        </p:nvSpPr>
        <p:spPr>
          <a:xfrm>
            <a:off x="188646" y="1929270"/>
            <a:ext cx="120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封裝名稱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DFFA6C-85BD-85E8-490B-A0E29E0A8297}"/>
              </a:ext>
            </a:extLst>
          </p:cNvPr>
          <p:cNvSpPr/>
          <p:nvPr/>
        </p:nvSpPr>
        <p:spPr>
          <a:xfrm>
            <a:off x="6833129" y="5164079"/>
            <a:ext cx="934355" cy="314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93200A-DA19-FEFD-0D12-8AD781D78FFA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7767484" y="5321396"/>
            <a:ext cx="183863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808AEF-39E1-41CC-3733-B419CC0B10E2}"/>
              </a:ext>
            </a:extLst>
          </p:cNvPr>
          <p:cNvSpPr txBox="1"/>
          <p:nvPr/>
        </p:nvSpPr>
        <p:spPr>
          <a:xfrm>
            <a:off x="9686750" y="4998230"/>
            <a:ext cx="170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元件類型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4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D040-FA38-29BA-B78E-00A0A3A21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971F-2AB6-1E5A-0CA7-A9606F59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E872A6-F515-7636-1312-DD67F083B42A}"/>
              </a:ext>
            </a:extLst>
          </p:cNvPr>
          <p:cNvSpPr txBox="1"/>
          <p:nvPr/>
        </p:nvSpPr>
        <p:spPr>
          <a:xfrm>
            <a:off x="0" y="62680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步驟 4: 繪製 Footprint, add “Pad”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1CEBC-C7C5-6C65-3060-ED89064D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35" y="1225229"/>
            <a:ext cx="9271765" cy="52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14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D56D0-B5F5-4115-807B-5A95A453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62FD-628D-D6F8-94BF-A9417F3C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053354-D456-4AC2-A843-5AC3F0C8F58E}"/>
              </a:ext>
            </a:extLst>
          </p:cNvPr>
          <p:cNvSpPr txBox="1"/>
          <p:nvPr/>
        </p:nvSpPr>
        <p:spPr>
          <a:xfrm>
            <a:off x="0" y="62680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4</a:t>
            </a:r>
            <a:r>
              <a:rPr lang="zh-TW" altLang="en-US"/>
              <a:t>：焊盤配置 </a:t>
            </a:r>
            <a:r>
              <a:rPr lang="en-US" altLang="zh-TW"/>
              <a:t>(</a:t>
            </a:r>
            <a:r>
              <a:rPr lang="en-US"/>
              <a:t>Pad config)，</a:t>
            </a:r>
            <a:r>
              <a:rPr lang="zh-TW" altLang="en-US"/>
              <a:t>選擇位置 </a:t>
            </a:r>
            <a:r>
              <a:rPr lang="en-US" altLang="zh-TW"/>
              <a:t>(</a:t>
            </a:r>
            <a:r>
              <a:rPr lang="en-US"/>
              <a:t>position)、</a:t>
            </a:r>
            <a:r>
              <a:rPr lang="zh-TW" altLang="en-US"/>
              <a:t>焊盤形狀 </a:t>
            </a:r>
            <a:r>
              <a:rPr lang="en-US" altLang="zh-TW"/>
              <a:t>(</a:t>
            </a:r>
            <a:r>
              <a:rPr lang="en-US"/>
              <a:t>pad shape) </a:t>
            </a:r>
            <a:r>
              <a:rPr lang="zh-TW" altLang="en-US"/>
              <a:t>並檢查元件直徑 </a:t>
            </a:r>
            <a:r>
              <a:rPr lang="en-US" altLang="zh-TW"/>
              <a:t>(</a:t>
            </a:r>
            <a:r>
              <a:rPr lang="en-US"/>
              <a:t>diameter of component)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E51D0-36F8-B237-A675-425B8057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65" y="1080696"/>
            <a:ext cx="8954750" cy="56110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A59AE9-72D4-33DB-B807-6DB838CC62D7}"/>
              </a:ext>
            </a:extLst>
          </p:cNvPr>
          <p:cNvSpPr/>
          <p:nvPr/>
        </p:nvSpPr>
        <p:spPr>
          <a:xfrm>
            <a:off x="1503680" y="2519680"/>
            <a:ext cx="3535680" cy="233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59D88-A77E-922A-359F-CF3577F165C3}"/>
              </a:ext>
            </a:extLst>
          </p:cNvPr>
          <p:cNvSpPr/>
          <p:nvPr/>
        </p:nvSpPr>
        <p:spPr>
          <a:xfrm>
            <a:off x="1508594" y="3262017"/>
            <a:ext cx="3535680" cy="233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BFDD94-1394-71C8-EB7E-A9076B56364B}"/>
              </a:ext>
            </a:extLst>
          </p:cNvPr>
          <p:cNvSpPr/>
          <p:nvPr/>
        </p:nvSpPr>
        <p:spPr>
          <a:xfrm>
            <a:off x="1503680" y="3557314"/>
            <a:ext cx="3535680" cy="233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35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65F3-9D32-51FA-293C-CD012E53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3E5C-962B-D739-2780-BC05F4F8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379771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A1FBC-E767-7FF5-2DB8-1A4E4E8CBA63}"/>
              </a:ext>
            </a:extLst>
          </p:cNvPr>
          <p:cNvSpPr txBox="1"/>
          <p:nvPr/>
        </p:nvSpPr>
        <p:spPr>
          <a:xfrm>
            <a:off x="0" y="37977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5</a:t>
            </a:r>
            <a:r>
              <a:rPr lang="zh-TW" altLang="en-US"/>
              <a:t>：雙擊 </a:t>
            </a:r>
            <a:r>
              <a:rPr lang="en-US" altLang="zh-TW"/>
              <a:t>(</a:t>
            </a:r>
            <a:r>
              <a:rPr lang="en-US"/>
              <a:t>Double click) </a:t>
            </a:r>
            <a:r>
              <a:rPr lang="zh-TW" altLang="en-US"/>
              <a:t>圓形形狀 </a:t>
            </a:r>
            <a:r>
              <a:rPr lang="en-US" altLang="zh-TW"/>
              <a:t>(</a:t>
            </a:r>
            <a:r>
              <a:rPr lang="en-US"/>
              <a:t>round shape)，</a:t>
            </a:r>
            <a:r>
              <a:rPr lang="zh-TW" altLang="en-US"/>
              <a:t>右鍵點擊 </a:t>
            </a:r>
            <a:r>
              <a:rPr lang="en-US" altLang="zh-TW"/>
              <a:t>(</a:t>
            </a:r>
            <a:r>
              <a:rPr lang="en-US"/>
              <a:t>right click)，</a:t>
            </a:r>
            <a:r>
              <a:rPr lang="zh-TW" altLang="en-US"/>
              <a:t>選擇「從選取項目建立」</a:t>
            </a:r>
            <a:r>
              <a:rPr lang="en-US" altLang="zh-TW"/>
              <a:t>(</a:t>
            </a:r>
            <a:r>
              <a:rPr lang="en-US"/>
              <a:t>Create from Selection) -&gt; 「</a:t>
            </a:r>
            <a:r>
              <a:rPr lang="zh-TW" altLang="en-US"/>
              <a:t>從選取項目建立外擴線」</a:t>
            </a:r>
            <a:r>
              <a:rPr lang="en-US" altLang="zh-TW"/>
              <a:t>(</a:t>
            </a:r>
            <a:r>
              <a:rPr lang="en-US"/>
              <a:t>Create Outsets from Selection)，</a:t>
            </a:r>
            <a:r>
              <a:rPr lang="zh-TW" altLang="en-US"/>
              <a:t>點擊「確定」</a:t>
            </a:r>
            <a:r>
              <a:rPr lang="en-US" altLang="zh-TW"/>
              <a:t>(</a:t>
            </a:r>
            <a:r>
              <a:rPr lang="en-US"/>
              <a:t>Ok)</a:t>
            </a:r>
            <a:endParaRPr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4D088-51FA-40F9-CEEE-FEE7CB4F1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974018"/>
            <a:ext cx="10352514" cy="579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03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46BB-1C83-8BBF-3B41-C3DDBAB8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3DFA-A63E-D4A9-9B6B-BD109F1AB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432618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8B717-32DD-A303-F4F0-B699A45BC954}"/>
              </a:ext>
            </a:extLst>
          </p:cNvPr>
          <p:cNvSpPr txBox="1"/>
          <p:nvPr/>
        </p:nvSpPr>
        <p:spPr>
          <a:xfrm>
            <a:off x="0" y="3601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6</a:t>
            </a:r>
            <a:r>
              <a:rPr lang="zh-TW" altLang="en-US"/>
              <a:t>：雙擊 </a:t>
            </a:r>
            <a:r>
              <a:rPr lang="en-US" altLang="zh-TW"/>
              <a:t>(</a:t>
            </a:r>
            <a:r>
              <a:rPr lang="en-US"/>
              <a:t>Double click) </a:t>
            </a:r>
            <a:r>
              <a:rPr lang="zh-TW" altLang="en-US"/>
              <a:t>圓形形狀 </a:t>
            </a:r>
            <a:r>
              <a:rPr lang="en-US" altLang="zh-TW"/>
              <a:t>(</a:t>
            </a:r>
            <a:r>
              <a:rPr lang="en-US"/>
              <a:t>round shape)，</a:t>
            </a:r>
            <a:r>
              <a:rPr lang="zh-TW" altLang="en-US"/>
              <a:t>右鍵點擊 </a:t>
            </a:r>
            <a:r>
              <a:rPr lang="en-US" altLang="zh-TW"/>
              <a:t>(</a:t>
            </a:r>
            <a:r>
              <a:rPr lang="en-US"/>
              <a:t>right click)，</a:t>
            </a:r>
            <a:r>
              <a:rPr lang="zh-TW" altLang="en-US"/>
              <a:t>選擇「從選取項目建立」</a:t>
            </a:r>
            <a:r>
              <a:rPr lang="en-US" altLang="zh-TW"/>
              <a:t>(</a:t>
            </a:r>
            <a:r>
              <a:rPr lang="en-US"/>
              <a:t>Create from Selection) -&gt; 「</a:t>
            </a:r>
            <a:r>
              <a:rPr lang="zh-TW" altLang="en-US"/>
              <a:t>從選取項目建立外擴線」</a:t>
            </a:r>
            <a:r>
              <a:rPr lang="en-US" altLang="zh-TW"/>
              <a:t>(</a:t>
            </a:r>
            <a:r>
              <a:rPr lang="en-US"/>
              <a:t>Create Outsets from Selection)，</a:t>
            </a:r>
            <a:r>
              <a:rPr lang="zh-TW" altLang="en-US"/>
              <a:t>點擊「確定」</a:t>
            </a:r>
            <a:r>
              <a:rPr lang="en-US" altLang="zh-TW"/>
              <a:t>(</a:t>
            </a:r>
            <a:r>
              <a:rPr lang="en-US"/>
              <a:t>Ok)</a:t>
            </a:r>
            <a:endParaRPr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03529-A7B4-3F7C-C20D-D83E771A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033010"/>
            <a:ext cx="10352514" cy="579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91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7ECE-6275-4D24-9B55-BDA6ACE9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46B9-540E-C961-46EE-78F6D674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93496-D7C8-7837-A5BA-4959D5E33B5E}"/>
              </a:ext>
            </a:extLst>
          </p:cNvPr>
          <p:cNvSpPr txBox="1"/>
          <p:nvPr/>
        </p:nvSpPr>
        <p:spPr>
          <a:xfrm>
            <a:off x="0" y="56781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步驟 6: 點選 “Run Checker”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E0FD6-E5D6-9236-A026-B50A3F16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430" y="1096492"/>
            <a:ext cx="9693140" cy="545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58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CAA4-E0C7-4B9E-CAD1-B864425C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633F-5003-883C-8F05-CE37A2E5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建立新封裝：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FF568-E922-7DFC-6DB1-5C9468C4B7E0}"/>
              </a:ext>
            </a:extLst>
          </p:cNvPr>
          <p:cNvSpPr txBox="1"/>
          <p:nvPr/>
        </p:nvSpPr>
        <p:spPr>
          <a:xfrm>
            <a:off x="0" y="56781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步驟 7 (Optional): 新增 3d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85124-19B7-F42F-8B36-8E3F3A1B65E5}"/>
              </a:ext>
            </a:extLst>
          </p:cNvPr>
          <p:cNvSpPr txBox="1"/>
          <p:nvPr/>
        </p:nvSpPr>
        <p:spPr>
          <a:xfrm>
            <a:off x="0" y="93714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下載 3D model (.step file) from website: https://grabcad.com/library/active-buzzer-1</a:t>
            </a:r>
            <a:br/>
            <a:r>
              <a:rPr sz="1800"/>
              <a:t>開啟 “Footprint Properties”, choose “3D Models”, add downloaded “buzzer.step” file.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2B787-B057-BC43-9798-3862A427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357" y="1583478"/>
            <a:ext cx="6316960" cy="515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52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C61A-84E3-DEC7-E112-1F355DE9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C0D38D-FCEF-C1C3-4A47-803AF38A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90" y="642396"/>
            <a:ext cx="10828714" cy="61074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A09CF1-FB3E-E2B1-935D-7194761B394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步驟 </a:t>
            </a:r>
            <a:r>
              <a:rPr lang="en-US" altLang="zh-TW"/>
              <a:t>8</a:t>
            </a:r>
            <a:r>
              <a:rPr lang="zh-TW" altLang="en-US"/>
              <a:t>：連結符號與封裝</a:t>
            </a:r>
            <a:r>
              <a:rPr lang="en-US"/>
              <a:t>：</a:t>
            </a:r>
            <a:r>
              <a:rPr lang="zh-TW" altLang="en-US"/>
              <a:t>開啟「符號編輯器」</a:t>
            </a:r>
            <a:r>
              <a:rPr lang="en-US" altLang="zh-TW"/>
              <a:t>(</a:t>
            </a:r>
            <a:r>
              <a:rPr lang="en-US"/>
              <a:t>Symbol Editor)，</a:t>
            </a:r>
            <a:r>
              <a:rPr lang="zh-TW" altLang="en-US"/>
              <a:t>進入「符號屬性」</a:t>
            </a:r>
            <a:r>
              <a:rPr lang="en-US" altLang="zh-TW"/>
              <a:t>(</a:t>
            </a:r>
            <a:r>
              <a:rPr lang="en-US"/>
              <a:t>Symbol Properties)，</a:t>
            </a:r>
            <a:r>
              <a:rPr lang="zh-TW" altLang="en-US"/>
              <a:t>選擇「封裝」</a:t>
            </a:r>
            <a:r>
              <a:rPr lang="en-US" altLang="zh-TW"/>
              <a:t>(</a:t>
            </a:r>
            <a:r>
              <a:rPr lang="en-US"/>
              <a:t>Footprint)</a:t>
            </a:r>
            <a:endParaRPr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3422AC-8AF7-93AB-1506-CB06302940C1}"/>
              </a:ext>
            </a:extLst>
          </p:cNvPr>
          <p:cNvSpPr/>
          <p:nvPr/>
        </p:nvSpPr>
        <p:spPr>
          <a:xfrm>
            <a:off x="4035813" y="972081"/>
            <a:ext cx="274320" cy="4368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21A13C-B454-D7F5-8944-52E956CF8DE4}"/>
              </a:ext>
            </a:extLst>
          </p:cNvPr>
          <p:cNvSpPr/>
          <p:nvPr/>
        </p:nvSpPr>
        <p:spPr>
          <a:xfrm>
            <a:off x="6558115" y="2762864"/>
            <a:ext cx="254327" cy="3224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394A53-E663-D36D-55A8-D7B63F0291BD}"/>
              </a:ext>
            </a:extLst>
          </p:cNvPr>
          <p:cNvSpPr txBox="1"/>
          <p:nvPr/>
        </p:nvSpPr>
        <p:spPr>
          <a:xfrm>
            <a:off x="4035813" y="642396"/>
            <a:ext cx="13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51499-29C2-FA2B-A373-B686399EDC21}"/>
              </a:ext>
            </a:extLst>
          </p:cNvPr>
          <p:cNvSpPr txBox="1"/>
          <p:nvPr/>
        </p:nvSpPr>
        <p:spPr>
          <a:xfrm>
            <a:off x="6552214" y="2470136"/>
            <a:ext cx="13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37A5A-5BEB-B16D-1AF4-7EAC1EA7DF8A}"/>
              </a:ext>
            </a:extLst>
          </p:cNvPr>
          <p:cNvSpPr txBox="1"/>
          <p:nvPr/>
        </p:nvSpPr>
        <p:spPr>
          <a:xfrm>
            <a:off x="1897297" y="4708035"/>
            <a:ext cx="13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2CAA8-4D27-C7CC-299A-FDF8215CFF6A}"/>
              </a:ext>
            </a:extLst>
          </p:cNvPr>
          <p:cNvSpPr/>
          <p:nvPr/>
        </p:nvSpPr>
        <p:spPr>
          <a:xfrm>
            <a:off x="2138515" y="4708035"/>
            <a:ext cx="2541640" cy="3224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0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A67B-6244-B2A9-A809-5D542531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38A7-1AB0-EA04-5E33-08BE5694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2E1AEA-55A8-4C49-4930-0727EA8F393B}"/>
              </a:ext>
            </a:extLst>
          </p:cNvPr>
          <p:cNvSpPr txBox="1"/>
          <p:nvPr/>
        </p:nvSpPr>
        <p:spPr>
          <a:xfrm>
            <a:off x="0" y="56781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https://www.lcsc.com/product-detail/C33901.html?s_z=n_atmega328p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C52ED-E7D8-8568-8B25-D72A0371A3F7}"/>
              </a:ext>
            </a:extLst>
          </p:cNvPr>
          <p:cNvSpPr/>
          <p:nvPr/>
        </p:nvSpPr>
        <p:spPr>
          <a:xfrm>
            <a:off x="8770374" y="5102942"/>
            <a:ext cx="294968" cy="2556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D26C2-BD66-E2D1-828C-084BFA290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666" y="1050312"/>
            <a:ext cx="7996928" cy="55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47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5BB4-94B6-3B61-0F5D-23DB41D9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5BE-8B8B-DCCA-7CAC-57AC436E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A1882-781A-FCDF-18CF-37D89274A932}"/>
              </a:ext>
            </a:extLst>
          </p:cNvPr>
          <p:cNvSpPr txBox="1"/>
          <p:nvPr/>
        </p:nvSpPr>
        <p:spPr>
          <a:xfrm>
            <a:off x="0" y="56781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https://www.lcsc.com/product-detail/C46528106.html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05C61-D7BA-022D-9A92-0FB2FA45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32" y="1194621"/>
            <a:ext cx="7594723" cy="527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6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D178-07FD-44FA-FD48-9EA9F78A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D6B06-DBBD-A7B6-0EB4-21B4451C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/>
          </a:bodyPr>
          <a:lstStyle/>
          <a:p>
            <a:r>
              <a:rPr sz="1800"/>
              <a:t>練習：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A5986-6CEA-2367-C0D4-EEC1BFC6A361}"/>
              </a:ext>
            </a:extLst>
          </p:cNvPr>
          <p:cNvSpPr txBox="1"/>
          <p:nvPr/>
        </p:nvSpPr>
        <p:spPr>
          <a:xfrm>
            <a:off x="0" y="56781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https://www.lcsc.com/product-detail/C107374.html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618D1-057E-E2F3-4491-336789550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374" y="1093178"/>
            <a:ext cx="7777430" cy="53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5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1017</Words>
  <Application>Microsoft Office PowerPoint</Application>
  <PresentationFormat>Widescreen</PresentationFormat>
  <Paragraphs>104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PMingLiU</vt:lpstr>
      <vt:lpstr>Aptos</vt:lpstr>
      <vt:lpstr>Aptos Display</vt:lpstr>
      <vt:lpstr>Arial</vt:lpstr>
      <vt:lpstr>Cambria Math</vt:lpstr>
      <vt:lpstr>Office Theme</vt:lpstr>
      <vt:lpstr>學習如何準備 PCB 專案</vt:lpstr>
      <vt:lpstr>封裝類型</vt:lpstr>
      <vt:lpstr>PowerPoint Presentation</vt:lpstr>
      <vt:lpstr>SMT 封裝類型</vt:lpstr>
      <vt:lpstr>SMT 封裝類型</vt:lpstr>
      <vt:lpstr>SMT 封裝類型</vt:lpstr>
      <vt:lpstr>SMT 封裝類型</vt:lpstr>
      <vt:lpstr>通孔 (Through-Hole) 封裝 類型</vt:lpstr>
      <vt:lpstr>通孔元件</vt:lpstr>
      <vt:lpstr>通孔 (Through-Hole) 封裝 類型</vt:lpstr>
      <vt:lpstr>元件設計</vt:lpstr>
      <vt:lpstr>建立新元件</vt:lpstr>
      <vt:lpstr>建立新元件</vt:lpstr>
      <vt:lpstr>建立新符號：</vt:lpstr>
      <vt:lpstr>建立新符號：</vt:lpstr>
      <vt:lpstr>建立新符號：</vt:lpstr>
      <vt:lpstr>建立新符號：</vt:lpstr>
      <vt:lpstr>建立新符號：</vt:lpstr>
      <vt:lpstr>建立新符號：</vt:lpstr>
      <vt:lpstr>建立新符號：</vt:lpstr>
      <vt:lpstr>建立新符號：</vt:lpstr>
      <vt:lpstr>練習：</vt:lpstr>
      <vt:lpstr>練習：</vt:lpstr>
      <vt:lpstr>練習：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建立新封裝：</vt:lpstr>
      <vt:lpstr>PowerPoint Presentation</vt:lpstr>
      <vt:lpstr>練習：</vt:lpstr>
      <vt:lpstr>練習：</vt:lpstr>
      <vt:lpstr>練習：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13</cp:revision>
  <dcterms:created xsi:type="dcterms:W3CDTF">2026-03-12T15:37:59Z</dcterms:created>
  <dcterms:modified xsi:type="dcterms:W3CDTF">2026-04-04T16:43:49Z</dcterms:modified>
</cp:coreProperties>
</file>