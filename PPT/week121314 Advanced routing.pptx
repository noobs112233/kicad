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422" r:id="rId3"/>
    <p:sldId id="377" r:id="rId4"/>
    <p:sldId id="378" r:id="rId5"/>
    <p:sldId id="379" r:id="rId6"/>
    <p:sldId id="380" r:id="rId7"/>
    <p:sldId id="381" r:id="rId8"/>
    <p:sldId id="421" r:id="rId9"/>
    <p:sldId id="382" r:id="rId10"/>
    <p:sldId id="383" r:id="rId11"/>
    <p:sldId id="423" r:id="rId12"/>
    <p:sldId id="424" r:id="rId13"/>
    <p:sldId id="425" r:id="rId14"/>
    <p:sldId id="426" r:id="rId15"/>
    <p:sldId id="427" r:id="rId16"/>
    <p:sldId id="428" r:id="rId17"/>
    <p:sldId id="429" r:id="rId18"/>
    <p:sldId id="430" r:id="rId19"/>
    <p:sldId id="43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3AC97F-A50E-46A0-A08F-F3488A03434B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E91593-E355-4940-8CAA-D67572C92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058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C901B-5631-399C-8764-B36BEF53F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4C3FEF-C414-B883-7A41-F7DDF4CD5D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4F8963-F9C5-AE62-700B-CF7845CF1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47103-273C-9564-318F-DE4ED026D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A1B25-A431-4677-8629-E8601868AE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684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D2B25-318F-5FF2-26B4-7043D69C5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01E36A-CDFD-8045-8E80-7D41E6034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8444DA-10C4-AE96-EEDB-EA77A6C0F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C2224-2C49-2DCD-2039-5648B09209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A1B25-A431-4677-8629-E8601868AE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877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6A18A-B56A-8B68-5F6C-2CBB22562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86D45-D045-F05C-1644-0549AFDCC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9BF9F6-09E2-6E7D-8C4B-7549482DA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A90CF-C585-838C-C8B9-B01D3841A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A1B25-A431-4677-8629-E8601868AE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136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7AB2C-4A22-C2FC-9B16-A6B1BA297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8255F-E23B-2A03-D3B0-3827AB66E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2C8334-4249-36F1-1EA9-BE31AE67B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5CFE3-F4C5-1D42-6302-A12D6A821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A1B25-A431-4677-8629-E8601868AE8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26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FC9E1-6F18-EE66-0B0D-FB009A9C0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522B46-3E9E-27F7-5D7B-DA61FDC85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5ECC4-C7DD-294B-C942-0FEBBD2C8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E5109-1B86-2332-ECA0-E8FA062E18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A1B25-A431-4677-8629-E8601868AE8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913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F4BC-D5D8-C819-7DAE-AC69F78B9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2DBBE-E2EF-6ECA-C646-50D5C91BDE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EB8BC-0F7D-9E55-FF2A-4B855C2BA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08276-787F-5874-071F-AE4ED5612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A1B25-A431-4677-8629-E8601868AE8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39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4EE52-6C04-0256-8D35-4F82F03DF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A9398C-4107-563C-745F-54105A4AD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BA8B4-DAEF-5A1D-E6D3-4C9AF4065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7E55D-E909-0757-B1E9-91168E55E4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A1B25-A431-4677-8629-E8601868AE8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579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09BFC-82F6-DCEB-2D66-E6EABB6EE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9C42F-66C8-F847-46EA-9F6DD7DC3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EECB38-6D22-48DD-2CB1-6DA6B74F7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A300D-727F-1405-FFEC-51AF02845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A1B25-A431-4677-8629-E8601868AE8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41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BDCFD-1401-C01B-F01B-C1B2EC52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1A89B9-72CB-C18C-7BAF-29ACA1859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5B649C-C035-5955-3B9D-F7DA48E15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80F2D-1922-6C2F-55D6-AD47DE6AE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A1B25-A431-4677-8629-E8601868AE8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03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59AE-9FF0-C095-8AA0-BCC3BDA60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BCF9F2-6130-0CD4-A7DD-194E73EBA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F1B58-223E-9BFE-ADFE-BFE91260A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F2071-CC12-19A6-952B-6FC611B0E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A1B25-A431-4677-8629-E8601868AE8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98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EDA87-D454-BE7D-241F-768E29425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67BA75-1609-FB25-578F-847084B4B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B78D97-5128-18C0-CF3F-AED63C962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7EE8A-DA55-4CD2-A33B-5CD0BC893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A1B25-A431-4677-8629-E8601868AE8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079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587D7-7475-031E-896D-D9C762548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D81E3-73E2-DFA2-9520-D31D2942A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D076C-3310-7687-E439-E36D4A57B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6A432-28B5-3258-63DD-0B40EFA867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A1B25-A431-4677-8629-E8601868AE8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7700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D2D36-C960-F804-504C-2049F4424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157132-C4E4-B82A-0590-DA5793C21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2C895A-7CA5-CC66-E033-7D671DAD0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FC186-5989-2269-35DD-0969896FB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A1B25-A431-4677-8629-E8601868AE8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263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EBA7B-5443-F2FA-F21D-AE7B7F514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B1F27-D138-8225-5D92-277F483010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7CB530-CD4D-9853-EA73-8666655AD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29B6F-C336-FAA8-607D-AC4D8D14F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A1B25-A431-4677-8629-E8601868AE8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727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9768F-AD69-EC15-4BEB-A75E1D407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D7D7E2-688D-4DCF-2A00-E363A9A7A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AE087-F0FB-39B6-280F-6F039F391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9C025-A711-26DF-D8F7-B80EE76B13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A1B25-A431-4677-8629-E8601868AE8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379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42F80-68F6-6D5C-B373-A5AE1C837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F93ECC-F3C3-CF25-FE10-42614BC46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6CEDD-9324-BC0B-881E-A22B8DC9C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6B2E1-FCA8-19EC-A438-364F6DA944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A1B25-A431-4677-8629-E8601868AE8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988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5367E-354E-B04E-A999-EBEA0552D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983CD-3A21-41A4-A508-28E8B5155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BBB84A-F736-52F7-966E-8C96C7D5D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D6275-850C-7FA8-DB7A-00481D523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A1B25-A431-4677-8629-E8601868AE8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800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C7763-6A27-7750-905E-E4389D705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81AC59-61FC-7BD8-38DE-6C914C15B4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72D2A2-8C3E-65B3-8A0F-9B18C8AEC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4640C-D68E-DBF1-40F6-BD7265E0E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A1B25-A431-4677-8629-E8601868AE8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009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51ABE-1412-DACE-CB69-080F0B1E5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D870AC-CA58-CB9A-E17A-A6A820DF6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77934-95D6-B857-6897-E71F1EA3F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A14C-0D74-4921-8279-9A3E9DE9DA7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68D0D-FD78-94E0-C4EA-BD4C26A3E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6A076-5B61-6804-DB0B-7FADD589C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833B-EB20-4773-A70A-7D94283BE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19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8130B-A859-428C-D013-0CFD9707C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479C6-8EEA-E8BF-16D3-1D46A801C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06CFE-8A6C-ABFD-3B86-8006A1522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A14C-0D74-4921-8279-9A3E9DE9DA7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DC6FE-7DA9-3A1B-E4CF-1210FF6C2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B2D4F-7720-8883-496C-6E1844BF4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833B-EB20-4773-A70A-7D94283BE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14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346C1-DBB5-85EB-BCE8-31B85B5D2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82460-3EF5-A5A6-7860-F1D8CDF97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FCF8D-4B92-DC82-9E82-4118B3457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A14C-0D74-4921-8279-9A3E9DE9DA7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D6E83-3911-3F4D-54F2-0C838BE0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887A3-E260-888A-DEFF-1AA2BE4A2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833B-EB20-4773-A70A-7D94283BE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71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060FC-55C7-8716-FDAF-C7356BA33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E1FCC-A207-DAB9-39C6-56482B5D9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F0C83-B357-79FC-6F4B-CA43A2AED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7684CC-1DF6-7C49-F95F-852420372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A14C-0D74-4921-8279-9A3E9DE9DA7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7F742-43CC-D55D-CC5D-B0B25A70F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BFA42-E372-A2A4-D0DB-FAB41B103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833B-EB20-4773-A70A-7D94283BE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06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8F891-8E7F-F3C4-4B72-63009744E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8690B-27BD-5941-7E29-A851EBCF5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DE2DF7-40C3-8E48-C864-B5A2258A5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D39F3-E322-98DB-144F-8AD8110E22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1A0282-8B12-E09E-045B-540C14EFB0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FCAAE1-28EE-6EAC-65FF-1603B64AF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A14C-0D74-4921-8279-9A3E9DE9DA7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1880F4-B756-ABA8-90CC-B505C971A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C264C7-61FB-7BC6-5F61-FFA819A38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833B-EB20-4773-A70A-7D94283BE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158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7A067-889E-08A3-0BB9-0D5B5E11B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588C25-8010-E003-377D-B1BC7BF30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A14C-0D74-4921-8279-9A3E9DE9DA7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692F39-B8D7-2FCC-56DA-4B2B8773C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FF4EC-15AC-D959-EBFF-B15F06589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833B-EB20-4773-A70A-7D94283BE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6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02C8B8-5C60-9AD4-8320-911977433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A14C-0D74-4921-8279-9A3E9DE9DA7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561717-9BC2-DBEE-8BA8-AD62178AC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57108-EABE-E88D-447C-B69F9BDFF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833B-EB20-4773-A70A-7D94283BE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83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F67C8-2954-49E3-2850-7D52A721E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40A79-2DE6-C5B6-3165-523AF96DD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976182-C10A-AFEA-2389-3BF80F185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E165F-D853-D471-D375-8865117C6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A14C-0D74-4921-8279-9A3E9DE9DA7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E8F70-4D02-783C-2268-76B3A1AE2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FF379-1618-8689-7F4F-8BE780F29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833B-EB20-4773-A70A-7D94283BE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282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290FD-BBB4-B358-5DD8-D09CDC846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6DA4A6-5D15-0DDE-3C10-2AF600747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D068DF-359F-9006-4C3E-B2BBE1E95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7CF61-1F5D-7E76-AA48-AB174786A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A14C-0D74-4921-8279-9A3E9DE9DA7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185AD-B57F-37D0-6A2E-EE45AACE8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92CEB-F147-441E-BB05-E7EB01825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833B-EB20-4773-A70A-7D94283BE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873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76C73-EE58-C65E-1D84-C0F8B97DD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BAB9C3-F4F6-2AC6-EA55-91E405936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58091-AC60-A007-CB2A-41EB98430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A14C-0D74-4921-8279-9A3E9DE9DA7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02E48-3444-44C2-078C-FD8F4A42B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9E69E-D0A3-31D2-45FC-A58651074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833B-EB20-4773-A70A-7D94283BE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6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E40322-9072-CE54-29D8-BDAEBE60E6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8F20A-D041-BBB0-7EF9-3B6FE352A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9827D-BAB8-56D0-0E9A-AEF8FF454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A14C-0D74-4921-8279-9A3E9DE9DA7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8806C-A3E4-8345-3A34-5CAEF085F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D76C7-C74E-9694-0DA2-C90D07994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833B-EB20-4773-A70A-7D94283BE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50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E65CA3-0F71-9D42-809E-7A239AADD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D7296-095A-C22A-660A-2284D9284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91FE7-4A84-DB67-5319-7D8DBD3002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A0A14C-0D74-4921-8279-9A3E9DE9DA7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A83AF-88F3-4E20-6B06-1CEA3C128B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C2C03-AFF0-FE2F-E200-653764033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69833B-EB20-4773-A70A-7D94283BE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8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6FDF1-E165-3D86-26A4-3E21F7E396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/>
              <a:t>進階佈線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26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E3C88-5E8F-9C03-F290-CAAB193B9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51B05-ED24-BEAF-FC5A-6F0842653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52577"/>
            <a:ext cx="12192000" cy="751841"/>
          </a:xfrm>
        </p:spPr>
        <p:txBody>
          <a:bodyPr>
            <a:noAutofit/>
          </a:bodyPr>
          <a:lstStyle/>
          <a:p>
            <a:r>
              <a:rPr lang="zh-TW" altLang="en-US" sz="4000"/>
              <a:t>差分布線：什麼是 差分對 </a:t>
            </a:r>
            <a:r>
              <a:rPr lang="en-US" altLang="zh-TW" sz="4000"/>
              <a:t>(</a:t>
            </a:r>
            <a:r>
              <a:rPr lang="en-US" sz="4000"/>
              <a:t>Differential pairs)？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E4158E-12B1-8F41-618B-1D9CE5363A3D}"/>
              </a:ext>
            </a:extLst>
          </p:cNvPr>
          <p:cNvSpPr/>
          <p:nvPr/>
        </p:nvSpPr>
        <p:spPr>
          <a:xfrm>
            <a:off x="481781" y="6363274"/>
            <a:ext cx="1505646" cy="494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1CB340-26CC-8E27-A8B6-944255EFF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586" y="2067658"/>
            <a:ext cx="7128259" cy="34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699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1AD07-1066-3D1D-2911-8AE11364B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D4C3-8523-CA12-E8B5-7FF91C81E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62212"/>
          </a:xfrm>
        </p:spPr>
        <p:txBody>
          <a:bodyPr>
            <a:noAutofit/>
          </a:bodyPr>
          <a:lstStyle/>
          <a:p>
            <a:r>
              <a:rPr lang="zh-TW" altLang="en-US" sz="4000"/>
              <a:t>差分布線：什麼是 差分對 </a:t>
            </a:r>
            <a:r>
              <a:rPr lang="en-US" altLang="zh-TW" sz="4000"/>
              <a:t>(</a:t>
            </a:r>
            <a:r>
              <a:rPr lang="en-US" sz="4000"/>
              <a:t>Differential pairs)？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309652-3884-4893-4EF2-FA62F8BBD464}"/>
              </a:ext>
            </a:extLst>
          </p:cNvPr>
          <p:cNvSpPr/>
          <p:nvPr/>
        </p:nvSpPr>
        <p:spPr>
          <a:xfrm>
            <a:off x="481781" y="6363274"/>
            <a:ext cx="1505646" cy="494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EB9DD-5D9A-2392-FE95-45389E167002}"/>
              </a:ext>
            </a:extLst>
          </p:cNvPr>
          <p:cNvSpPr txBox="1"/>
          <p:nvPr/>
        </p:nvSpPr>
        <p:spPr>
          <a:xfrm>
            <a:off x="0" y="752124"/>
            <a:ext cx="12192000" cy="1344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2200" b="1" i="0">
                <a:solidFill>
                  <a:srgbClr val="19191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差分對是一對承載相反訊號的走線，接收端讀取的是兩者之間的差值。
這兩個訊號大小相等但極性相反，因此對共模雜訊具有較高的免疫能力。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B914A1-A886-2D3F-9FF3-32881EBB5D4D}"/>
              </a:ext>
            </a:extLst>
          </p:cNvPr>
          <p:cNvSpPr txBox="1"/>
          <p:nvPr/>
        </p:nvSpPr>
        <p:spPr>
          <a:xfrm>
            <a:off x="0" y="2286121"/>
            <a:ext cx="12192000" cy="3375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TW" altLang="en-US" sz="2200" b="1" i="0">
                <a:solidFill>
                  <a:srgbClr val="19191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差分對的優點包括：</a:t>
            </a:r>
            <a:endParaRPr lang="en-US" altLang="zh-TW" sz="2200" b="1" i="0">
              <a:solidFill>
                <a:srgbClr val="19191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2200" b="1" i="0">
                <a:solidFill>
                  <a:srgbClr val="19191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抗雜訊能力強：任何同時影響兩條訊號的雜訊都會在接收端被抵消，提升訊號品質。
降低 </a:t>
            </a:r>
            <a:r>
              <a:rPr lang="en-US" altLang="zh-TW" sz="2200" b="1" i="0">
                <a:solidFill>
                  <a:srgbClr val="19191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EMI</a:t>
            </a:r>
            <a:r>
              <a:rPr lang="zh-TW" altLang="en-US" sz="2200" b="1" i="0">
                <a:solidFill>
                  <a:srgbClr val="19191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：由於兩個訊號相反，它們產生的電磁場會彼此抵消，相較單端訊號可大幅降低干擾。
改善訊號完整性：在雜訊與 </a:t>
            </a:r>
            <a:r>
              <a:rPr lang="en-US" altLang="zh-TW" sz="2200" b="1" i="0">
                <a:solidFill>
                  <a:srgbClr val="19191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EMI </a:t>
            </a:r>
            <a:r>
              <a:rPr lang="zh-TW" altLang="en-US" sz="2200" b="1" i="0">
                <a:solidFill>
                  <a:srgbClr val="19191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較少的情況下，差分對能在更高資料速率與更長距離下維持良好傳輸品質。</a:t>
            </a:r>
            <a:endParaRPr lang="en-US" sz="2200" b="0" i="0">
              <a:solidFill>
                <a:srgbClr val="19191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651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6A84B-5806-E6A9-2E83-81985D31E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E2EE-C500-080C-EDC2-6A9F9D877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62212"/>
          </a:xfrm>
        </p:spPr>
        <p:txBody>
          <a:bodyPr>
            <a:noAutofit/>
          </a:bodyPr>
          <a:lstStyle/>
          <a:p>
            <a:r>
              <a:rPr lang="en-US" sz="4000"/>
              <a:t>Differential </a:t>
            </a:r>
            <a:r>
              <a:rPr lang="zh-TW" altLang="en-US" sz="4000"/>
              <a:t>佈線 </a:t>
            </a:r>
            <a:r>
              <a:rPr lang="en-US" sz="4000"/>
              <a:t>concept: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F65FC-4900-ADFE-3DFE-71B7A40CEB88}"/>
              </a:ext>
            </a:extLst>
          </p:cNvPr>
          <p:cNvSpPr/>
          <p:nvPr/>
        </p:nvSpPr>
        <p:spPr>
          <a:xfrm>
            <a:off x="481781" y="6363274"/>
            <a:ext cx="1505646" cy="494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8F2D6C-1A63-00A2-7219-96F439F8AA94}"/>
              </a:ext>
            </a:extLst>
          </p:cNvPr>
          <p:cNvSpPr txBox="1"/>
          <p:nvPr/>
        </p:nvSpPr>
        <p:spPr>
          <a:xfrm>
            <a:off x="0" y="562213"/>
            <a:ext cx="12192000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zh-TW" altLang="en-US" sz="2400" b="0" i="0">
                <a:solidFill>
                  <a:srgbClr val="19191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在佈設差分對時，理解阻抗匹配、相位匹配與訊號傳播非常重要，這有助於維持良好的訊號完整性：</a:t>
            </a:r>
            <a:endParaRPr lang="en-US" sz="2400" b="0" i="0">
              <a:solidFill>
                <a:srgbClr val="19191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1A10CD-37A5-14FB-BF82-15DA0F2203B7}"/>
              </a:ext>
            </a:extLst>
          </p:cNvPr>
          <p:cNvSpPr txBox="1"/>
          <p:nvPr/>
        </p:nvSpPr>
        <p:spPr>
          <a:xfrm>
            <a:off x="0" y="1791176"/>
            <a:ext cx="12192000" cy="1134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i="0">
                <a:solidFill>
                  <a:srgbClr val="19191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阻抗匹配：阻抗匹配可確保一對走線的阻抗保持一致。若阻抗不匹配，訊號可能產生反射，造成雜訊與失真。適當的阻抗控制能讓訊號更乾淨且可靠。</a:t>
            </a:r>
            <a:endParaRPr lang="en-US" sz="2400" i="0">
              <a:solidFill>
                <a:srgbClr val="19191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89BFF2-6290-F190-D77E-D48BB97D2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013" y="2982967"/>
            <a:ext cx="7855974" cy="338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653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FBA3C-BD1D-F68F-9524-42C1B240B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DB1FB-37AD-356F-BF60-26D4DAE42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62212"/>
          </a:xfrm>
        </p:spPr>
        <p:txBody>
          <a:bodyPr>
            <a:noAutofit/>
          </a:bodyPr>
          <a:lstStyle/>
          <a:p>
            <a:r>
              <a:rPr lang="en-US" sz="4000"/>
              <a:t>Differential </a:t>
            </a:r>
            <a:r>
              <a:rPr lang="zh-TW" altLang="en-US" sz="4000"/>
              <a:t>佈線 </a:t>
            </a:r>
            <a:r>
              <a:rPr lang="en-US" sz="4000"/>
              <a:t>concept: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2A82C2-CBBB-28F4-9608-B86317665EC3}"/>
              </a:ext>
            </a:extLst>
          </p:cNvPr>
          <p:cNvSpPr/>
          <p:nvPr/>
        </p:nvSpPr>
        <p:spPr>
          <a:xfrm>
            <a:off x="481781" y="6363274"/>
            <a:ext cx="1505646" cy="494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529FC-6D4A-93D1-F91B-45DF549B5023}"/>
              </a:ext>
            </a:extLst>
          </p:cNvPr>
          <p:cNvSpPr txBox="1"/>
          <p:nvPr/>
        </p:nvSpPr>
        <p:spPr>
          <a:xfrm>
            <a:off x="0" y="562213"/>
            <a:ext cx="12192000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zh-TW" altLang="en-US" sz="2400" b="0" i="0">
                <a:solidFill>
                  <a:srgbClr val="19191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在佈設差分對時，理解阻抗匹配、相位匹配與訊號傳播非常重要，這有助於維持良好的訊號完整性：</a:t>
            </a:r>
            <a:endParaRPr lang="en-US" sz="2400" b="0" i="0">
              <a:solidFill>
                <a:srgbClr val="19191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466135-0E22-7899-AC68-FF68ADB9BADE}"/>
              </a:ext>
            </a:extLst>
          </p:cNvPr>
          <p:cNvSpPr txBox="1"/>
          <p:nvPr/>
        </p:nvSpPr>
        <p:spPr>
          <a:xfrm>
            <a:off x="0" y="1791176"/>
            <a:ext cx="8432800" cy="1688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>
                <a:latin typeface="Arial" panose="020B0604020202020204" pitchFamily="34" charset="0"/>
                <a:cs typeface="Arial" panose="020B0604020202020204" pitchFamily="34" charset="0"/>
              </a:rPr>
              <a:t>相位匹配：相位匹配可確保一對訊號同時到達接收端。若兩者不同步，就可能造成錯誤。保持訊號同步有助於提升高速資料傳輸的準確性。</a:t>
            </a:r>
            <a:endParaRPr lang="en-US" sz="2400" i="0">
              <a:solidFill>
                <a:srgbClr val="19191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DEAB65-F8C0-7BE4-9018-9BDC5FC12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841" y="3596323"/>
            <a:ext cx="8125534" cy="276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784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7E965-7D74-2365-CCD2-790835B58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14E2D-EB0C-8F39-DE3C-A9CDB71C3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62212"/>
          </a:xfrm>
        </p:spPr>
        <p:txBody>
          <a:bodyPr>
            <a:noAutofit/>
          </a:bodyPr>
          <a:lstStyle/>
          <a:p>
            <a:r>
              <a:rPr lang="zh-TW" altLang="en-US" sz="4000"/>
              <a:t>差分布線 </a:t>
            </a:r>
            <a:r>
              <a:rPr lang="en-US" altLang="zh-TW" sz="4000"/>
              <a:t>(</a:t>
            </a:r>
            <a:r>
              <a:rPr lang="en-US" sz="4000"/>
              <a:t>Differential routing) </a:t>
            </a:r>
            <a:r>
              <a:rPr lang="zh-TW" altLang="en-US" sz="4000"/>
              <a:t>概念：</a:t>
            </a:r>
            <a:endParaRPr lang="en-US" sz="4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212259-A60C-E421-823D-503CE407DE53}"/>
              </a:ext>
            </a:extLst>
          </p:cNvPr>
          <p:cNvSpPr/>
          <p:nvPr/>
        </p:nvSpPr>
        <p:spPr>
          <a:xfrm>
            <a:off x="481781" y="6363274"/>
            <a:ext cx="1505646" cy="494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EA8845-2DB2-F3A2-EC79-7F31FFF08650}"/>
              </a:ext>
            </a:extLst>
          </p:cNvPr>
          <p:cNvSpPr txBox="1"/>
          <p:nvPr/>
        </p:nvSpPr>
        <p:spPr>
          <a:xfrm>
            <a:off x="0" y="562213"/>
            <a:ext cx="12192000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zh-TW" altLang="en-US" sz="2400" b="0" i="0">
                <a:solidFill>
                  <a:srgbClr val="19191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在佈設差分對時，理解阻抗匹配、相位匹配與訊號傳播非常重要，這有助於維持良好的訊號完整性：</a:t>
            </a:r>
            <a:endParaRPr lang="en-US" sz="2400" b="0" i="0">
              <a:solidFill>
                <a:srgbClr val="19191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C20E71-6A5E-52F5-ACDB-277B8C83D33C}"/>
              </a:ext>
            </a:extLst>
          </p:cNvPr>
          <p:cNvSpPr txBox="1"/>
          <p:nvPr/>
        </p:nvSpPr>
        <p:spPr>
          <a:xfrm>
            <a:off x="0" y="1791176"/>
            <a:ext cx="4650658" cy="3904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>
                <a:latin typeface="Arial" panose="020B0604020202020204" pitchFamily="34" charset="0"/>
                <a:cs typeface="Arial" panose="020B0604020202020204" pitchFamily="34" charset="0"/>
              </a:rPr>
              <a:t>訊號傳播：訊號傳播指的是訊號沿著走線傳遞的方式。為了獲得最佳訊號完整性，兩條走線應盡可能等長。長度差異會造成時序問題，進而影響訊號清晰度。等長走線有助於在傳輸過程中維持訊號品質。</a:t>
            </a:r>
            <a:endParaRPr lang="en-US" sz="2400" i="0">
              <a:solidFill>
                <a:srgbClr val="19191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72D9F6-AAF2-22B9-3570-9DE69EE14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487" y="1953738"/>
            <a:ext cx="6771719" cy="374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870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4B77C-C51D-1BA5-388F-67CCA6EF6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5432D-407C-D334-BE3A-10DEB7C11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62212"/>
          </a:xfrm>
        </p:spPr>
        <p:txBody>
          <a:bodyPr>
            <a:noAutofit/>
          </a:bodyPr>
          <a:lstStyle/>
          <a:p>
            <a:r>
              <a:rPr lang="zh-TW" altLang="en-US" sz="4000"/>
              <a:t>佈線範例：</a:t>
            </a:r>
            <a:endParaRPr lang="en-US" sz="4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DC7305-FCA3-0DBD-62EA-EB87C542BB43}"/>
              </a:ext>
            </a:extLst>
          </p:cNvPr>
          <p:cNvSpPr/>
          <p:nvPr/>
        </p:nvSpPr>
        <p:spPr>
          <a:xfrm>
            <a:off x="481781" y="6363274"/>
            <a:ext cx="1505646" cy="494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D74327-A648-92C4-F009-48449CCBEB60}"/>
              </a:ext>
            </a:extLst>
          </p:cNvPr>
          <p:cNvSpPr txBox="1"/>
          <p:nvPr/>
        </p:nvSpPr>
        <p:spPr>
          <a:xfrm>
            <a:off x="1097280" y="5690575"/>
            <a:ext cx="9997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/>
              <a:t>在同一 圖層 上 佈設 差分對 </a:t>
            </a:r>
            <a:r>
              <a:rPr lang="en-US" altLang="zh-TW" sz="2400"/>
              <a:t>(</a:t>
            </a:r>
            <a:r>
              <a:rPr lang="en-US" sz="2400"/>
              <a:t>Differential pairs)，</a:t>
            </a:r>
            <a:r>
              <a:rPr lang="zh-TW" altLang="en-US" sz="2400"/>
              <a:t>並放置相同數量的 過孔，且對稱地放置 元件，以避免 不連續性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3B18F8-6289-ADB5-ACAC-DCE201589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040" y="562213"/>
            <a:ext cx="6790925" cy="25641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249FA6-9BED-3729-CE26-A8D827ECF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7391" y="3140438"/>
            <a:ext cx="7037089" cy="255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086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06515-E4A5-1384-8279-1F0F2DCED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1527F-A765-7249-A57B-2080BB88D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62212"/>
          </a:xfrm>
        </p:spPr>
        <p:txBody>
          <a:bodyPr>
            <a:noAutofit/>
          </a:bodyPr>
          <a:lstStyle/>
          <a:p>
            <a:r>
              <a:rPr lang="zh-TW" altLang="en-US" sz="4000"/>
              <a:t>佈線範例：</a:t>
            </a:r>
            <a:endParaRPr lang="en-US" sz="4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92E030-FEF8-0C48-39A5-203A663728C8}"/>
              </a:ext>
            </a:extLst>
          </p:cNvPr>
          <p:cNvSpPr/>
          <p:nvPr/>
        </p:nvSpPr>
        <p:spPr>
          <a:xfrm>
            <a:off x="481781" y="6363274"/>
            <a:ext cx="1505646" cy="494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F96F88-0FF6-6EC5-DA77-759CB4D26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02" y="1342164"/>
            <a:ext cx="11612596" cy="32389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FAFFAD-6A11-0B98-7858-A1D3C70810CE}"/>
              </a:ext>
            </a:extLst>
          </p:cNvPr>
          <p:cNvSpPr txBox="1"/>
          <p:nvPr/>
        </p:nvSpPr>
        <p:spPr>
          <a:xfrm>
            <a:off x="375920" y="4947920"/>
            <a:ext cx="8605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/>
              <a:t>走線 </a:t>
            </a:r>
            <a:r>
              <a:rPr lang="en-US" altLang="zh-TW" sz="2400"/>
              <a:t>(</a:t>
            </a:r>
            <a:r>
              <a:rPr lang="en-US" sz="2400"/>
              <a:t>Trace) </a:t>
            </a:r>
            <a:r>
              <a:rPr lang="zh-TW" altLang="en-US" sz="2400"/>
              <a:t>應儘可能靠近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238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3C07C-DC6A-D1F7-0F2E-B3B95E6D8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D8D70-F4D4-128B-76FC-24421C72B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62212"/>
          </a:xfrm>
        </p:spPr>
        <p:txBody>
          <a:bodyPr>
            <a:noAutofit/>
          </a:bodyPr>
          <a:lstStyle/>
          <a:p>
            <a:r>
              <a:rPr lang="zh-TW" altLang="en-US" sz="4000"/>
              <a:t>佈線範例：</a:t>
            </a:r>
            <a:endParaRPr lang="en-US" sz="4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1A39E3-4714-4B5D-E8F5-F53F8C147DDA}"/>
              </a:ext>
            </a:extLst>
          </p:cNvPr>
          <p:cNvSpPr/>
          <p:nvPr/>
        </p:nvSpPr>
        <p:spPr>
          <a:xfrm>
            <a:off x="481781" y="6363274"/>
            <a:ext cx="1505646" cy="494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005A94-37EE-64E0-5933-091BB2ED0591}"/>
              </a:ext>
            </a:extLst>
          </p:cNvPr>
          <p:cNvSpPr txBox="1"/>
          <p:nvPr/>
        </p:nvSpPr>
        <p:spPr>
          <a:xfrm>
            <a:off x="3180080" y="5597544"/>
            <a:ext cx="8605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/>
              <a:t>增加 反射不匹配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E56803-B5BB-DA4A-BD95-F66D7E47B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427" y="941328"/>
            <a:ext cx="7766068" cy="446825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340A369-462A-80D8-DFA1-FD085FAAE2BA}"/>
              </a:ext>
            </a:extLst>
          </p:cNvPr>
          <p:cNvSpPr/>
          <p:nvPr/>
        </p:nvSpPr>
        <p:spPr>
          <a:xfrm>
            <a:off x="3180080" y="1717040"/>
            <a:ext cx="1137920" cy="59944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A4985F-CD26-49F8-3192-669C0C6C85F5}"/>
              </a:ext>
            </a:extLst>
          </p:cNvPr>
          <p:cNvSpPr/>
          <p:nvPr/>
        </p:nvSpPr>
        <p:spPr>
          <a:xfrm>
            <a:off x="3180080" y="3972561"/>
            <a:ext cx="1137920" cy="59944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04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3A713-E1C3-DD17-0FB6-6BE3A8A4B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22506-C63E-6547-B5CA-7B18D30C8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62212"/>
          </a:xfrm>
        </p:spPr>
        <p:txBody>
          <a:bodyPr>
            <a:noAutofit/>
          </a:bodyPr>
          <a:lstStyle/>
          <a:p>
            <a:r>
              <a:rPr lang="zh-TW" altLang="en-US" sz="4000"/>
              <a:t>佈線範例：</a:t>
            </a:r>
            <a:endParaRPr lang="en-US" sz="4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719D6F-0AF7-DADC-6F9F-EF60C67F023A}"/>
              </a:ext>
            </a:extLst>
          </p:cNvPr>
          <p:cNvSpPr/>
          <p:nvPr/>
        </p:nvSpPr>
        <p:spPr>
          <a:xfrm>
            <a:off x="481781" y="6363274"/>
            <a:ext cx="1505646" cy="494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A38BB6-9A7A-61B5-18B4-C5DF0E0FBA99}"/>
              </a:ext>
            </a:extLst>
          </p:cNvPr>
          <p:cNvSpPr txBox="1"/>
          <p:nvPr/>
        </p:nvSpPr>
        <p:spPr>
          <a:xfrm>
            <a:off x="2241755" y="5597544"/>
            <a:ext cx="9543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/>
              <a:t>為 阻抗匹配 </a:t>
            </a:r>
            <a:r>
              <a:rPr lang="en-US" altLang="zh-TW" sz="2400"/>
              <a:t>(</a:t>
            </a:r>
            <a:r>
              <a:rPr lang="en-US" sz="2400"/>
              <a:t>Impedance Matching) </a:t>
            </a:r>
            <a:r>
              <a:rPr lang="zh-TW" altLang="en-US" sz="2400"/>
              <a:t>進行 長度調整 </a:t>
            </a:r>
            <a:r>
              <a:rPr lang="en-US" altLang="zh-TW" sz="2400"/>
              <a:t>(</a:t>
            </a:r>
            <a:r>
              <a:rPr lang="en-US" sz="2400"/>
              <a:t>Length tuning)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5287D9-EC32-0D29-F287-9D4EEC39A6A2}"/>
              </a:ext>
            </a:extLst>
          </p:cNvPr>
          <p:cNvSpPr/>
          <p:nvPr/>
        </p:nvSpPr>
        <p:spPr>
          <a:xfrm>
            <a:off x="3180080" y="1717040"/>
            <a:ext cx="1137920" cy="59944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589A8E-A82D-4950-9DB3-F95C628705BA}"/>
              </a:ext>
            </a:extLst>
          </p:cNvPr>
          <p:cNvSpPr/>
          <p:nvPr/>
        </p:nvSpPr>
        <p:spPr>
          <a:xfrm>
            <a:off x="3180080" y="3972561"/>
            <a:ext cx="1137920" cy="59944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410" name="Picture 2" descr="Guide to PCB Trace Length Matching in High Speed Design | NWES Blog">
            <a:extLst>
              <a:ext uri="{FF2B5EF4-FFF2-40B4-BE49-F238E27FC236}">
                <a16:creationId xmlns:a16="http://schemas.microsoft.com/office/drawing/2014/main" id="{E5E0D1F0-7D69-9561-A842-5DDC13BBC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62" y="902653"/>
            <a:ext cx="10429875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0717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A34A1-6FFE-1542-54F7-E611FF74A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19F9A-809C-40AE-A504-61B3AC15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675"/>
            <a:ext cx="12192000" cy="562212"/>
          </a:xfrm>
        </p:spPr>
        <p:txBody>
          <a:bodyPr>
            <a:noAutofit/>
          </a:bodyPr>
          <a:lstStyle/>
          <a:p>
            <a:r>
              <a:rPr lang="zh-TW" altLang="en-US" sz="4000"/>
              <a:t>佈線範例：</a:t>
            </a:r>
            <a:endParaRPr lang="en-US" sz="4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D9A786-21BA-3D7E-BFF1-A5E8A4D0AE83}"/>
              </a:ext>
            </a:extLst>
          </p:cNvPr>
          <p:cNvSpPr/>
          <p:nvPr/>
        </p:nvSpPr>
        <p:spPr>
          <a:xfrm>
            <a:off x="481781" y="6363274"/>
            <a:ext cx="1505646" cy="494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4C0BFB-647E-3E24-1118-4D17F9BBBD7F}"/>
              </a:ext>
            </a:extLst>
          </p:cNvPr>
          <p:cNvSpPr txBox="1"/>
          <p:nvPr/>
        </p:nvSpPr>
        <p:spPr>
          <a:xfrm>
            <a:off x="3180080" y="5597544"/>
            <a:ext cx="8605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Differential pair in highspeed circuit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060498-E159-A78C-B455-A95667B52423}"/>
              </a:ext>
            </a:extLst>
          </p:cNvPr>
          <p:cNvSpPr/>
          <p:nvPr/>
        </p:nvSpPr>
        <p:spPr>
          <a:xfrm>
            <a:off x="3180080" y="1717040"/>
            <a:ext cx="1137920" cy="59944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DB011C-98DD-AB7E-8E82-2928F88B86CC}"/>
              </a:ext>
            </a:extLst>
          </p:cNvPr>
          <p:cNvSpPr/>
          <p:nvPr/>
        </p:nvSpPr>
        <p:spPr>
          <a:xfrm>
            <a:off x="3180080" y="3972561"/>
            <a:ext cx="1137920" cy="59944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ow RAM Works | HowStuffWorks">
            <a:extLst>
              <a:ext uri="{FF2B5EF4-FFF2-40B4-BE49-F238E27FC236}">
                <a16:creationId xmlns:a16="http://schemas.microsoft.com/office/drawing/2014/main" id="{FDFB5247-0F9A-BDFE-17CB-C12251890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50" y="1209675"/>
            <a:ext cx="7886700" cy="443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4806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9D1B3-3A7B-E038-756F-44994FC2B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07B05-B2E8-A88F-EE87-C1EBB5C87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62212"/>
          </a:xfrm>
        </p:spPr>
        <p:txBody>
          <a:bodyPr>
            <a:noAutofit/>
          </a:bodyPr>
          <a:lstStyle/>
          <a:p>
            <a:r>
              <a:rPr lang="zh-TW" altLang="en-US" sz="4000"/>
              <a:t>練習：</a:t>
            </a:r>
            <a:endParaRPr lang="en-US" sz="4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B13919-AA01-EA02-9DAD-3E1DB914F97E}"/>
              </a:ext>
            </a:extLst>
          </p:cNvPr>
          <p:cNvSpPr/>
          <p:nvPr/>
        </p:nvSpPr>
        <p:spPr>
          <a:xfrm>
            <a:off x="481781" y="6363274"/>
            <a:ext cx="1505646" cy="494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F09AE-B57D-A75D-FA1F-5D5DABA69921}"/>
              </a:ext>
            </a:extLst>
          </p:cNvPr>
          <p:cNvSpPr txBox="1"/>
          <p:nvPr/>
        </p:nvSpPr>
        <p:spPr>
          <a:xfrm>
            <a:off x="15240" y="562213"/>
            <a:ext cx="8605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>
                <a:latin typeface="Arial" panose="020B0604020202020204" pitchFamily="34" charset="0"/>
                <a:cs typeface="Arial" panose="020B0604020202020204" pitchFamily="34" charset="0"/>
              </a:rPr>
              <a:t>ADC </a:t>
            </a:r>
            <a:r>
              <a:rPr lang="zh-TW" altLang="en-US" sz="2400">
                <a:latin typeface="Arial" panose="020B0604020202020204" pitchFamily="34" charset="0"/>
                <a:cs typeface="Arial" panose="020B0604020202020204" pitchFamily="34" charset="0"/>
              </a:rPr>
              <a:t>的差分對佈線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F2FEF6-2B79-7464-84C8-5D41CC3E0F0C}"/>
              </a:ext>
            </a:extLst>
          </p:cNvPr>
          <p:cNvSpPr/>
          <p:nvPr/>
        </p:nvSpPr>
        <p:spPr>
          <a:xfrm>
            <a:off x="3180080" y="3972561"/>
            <a:ext cx="1137920" cy="59944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EB76D0-8B3B-25F3-93FB-83C39A170FDA}"/>
              </a:ext>
            </a:extLst>
          </p:cNvPr>
          <p:cNvSpPr txBox="1"/>
          <p:nvPr/>
        </p:nvSpPr>
        <p:spPr>
          <a:xfrm>
            <a:off x="33757" y="1023878"/>
            <a:ext cx="8605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>
                <a:latin typeface="Arial" panose="020B0604020202020204" pitchFamily="34" charset="0"/>
                <a:cs typeface="Arial" panose="020B0604020202020204" pitchFamily="34" charset="0"/>
              </a:rPr>
              <a:t>什麼是 </a:t>
            </a:r>
            <a:r>
              <a:rPr lang="en-US" altLang="zh-TW" sz="2400">
                <a:latin typeface="Arial" panose="020B0604020202020204" pitchFamily="34" charset="0"/>
                <a:cs typeface="Arial" panose="020B0604020202020204" pitchFamily="34" charset="0"/>
              </a:rPr>
              <a:t>ADC</a:t>
            </a:r>
            <a:r>
              <a:rPr lang="zh-TW" altLang="en-US" sz="2400">
                <a:latin typeface="Arial" panose="020B0604020202020204" pitchFamily="34" charset="0"/>
                <a:cs typeface="Arial" panose="020B0604020202020204" pitchFamily="34" charset="0"/>
              </a:rPr>
              <a:t>（類比轉數位轉換器）？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3D06FE-E127-B122-31A9-A5A252787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90" y="1947208"/>
            <a:ext cx="11405419" cy="385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79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3357B-9C22-C755-C7CB-5E718C272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FE526-468E-ED46-5EFC-A9D09D4FD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62212"/>
          </a:xfrm>
        </p:spPr>
        <p:txBody>
          <a:bodyPr>
            <a:noAutofit/>
          </a:bodyPr>
          <a:lstStyle/>
          <a:p>
            <a:r>
              <a:rPr lang="zh-TW" altLang="en-US" sz="4000"/>
              <a:t>練習：</a:t>
            </a:r>
            <a:endParaRPr lang="en-US" sz="4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0D0510-94C9-9F41-779E-B42579A265C7}"/>
              </a:ext>
            </a:extLst>
          </p:cNvPr>
          <p:cNvSpPr/>
          <p:nvPr/>
        </p:nvSpPr>
        <p:spPr>
          <a:xfrm>
            <a:off x="481781" y="6363274"/>
            <a:ext cx="1505646" cy="494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FDF271-7C86-C7F7-150E-C64741B71165}"/>
              </a:ext>
            </a:extLst>
          </p:cNvPr>
          <p:cNvSpPr txBox="1"/>
          <p:nvPr/>
        </p:nvSpPr>
        <p:spPr>
          <a:xfrm>
            <a:off x="2089847" y="50274"/>
            <a:ext cx="8605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>
                <a:latin typeface="Arial" panose="020B0604020202020204" pitchFamily="34" charset="0"/>
                <a:cs typeface="Arial" panose="020B0604020202020204" pitchFamily="34" charset="0"/>
              </a:rPr>
              <a:t>ADC </a:t>
            </a:r>
            <a:r>
              <a:rPr lang="zh-TW" altLang="en-US" sz="2400">
                <a:latin typeface="Arial" panose="020B0604020202020204" pitchFamily="34" charset="0"/>
                <a:cs typeface="Arial" panose="020B0604020202020204" pitchFamily="34" charset="0"/>
              </a:rPr>
              <a:t>的差分對佈線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6C24EF-4FAD-F61B-BEB7-71C26EC70DA2}"/>
              </a:ext>
            </a:extLst>
          </p:cNvPr>
          <p:cNvSpPr txBox="1"/>
          <p:nvPr/>
        </p:nvSpPr>
        <p:spPr>
          <a:xfrm>
            <a:off x="0" y="440750"/>
            <a:ext cx="8605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>
                <a:latin typeface="Arial" panose="020B0604020202020204" pitchFamily="34" charset="0"/>
                <a:cs typeface="Arial" panose="020B0604020202020204" pitchFamily="34" charset="0"/>
              </a:rPr>
              <a:t>為什麼我們需要 </a:t>
            </a:r>
            <a:r>
              <a:rPr lang="en-US" altLang="zh-TW" sz="2400">
                <a:latin typeface="Arial" panose="020B0604020202020204" pitchFamily="34" charset="0"/>
                <a:cs typeface="Arial" panose="020B0604020202020204" pitchFamily="34" charset="0"/>
              </a:rPr>
              <a:t>ADC</a:t>
            </a:r>
            <a:r>
              <a:rPr lang="zh-TW" altLang="en-US" sz="2400">
                <a:latin typeface="Arial" panose="020B0604020202020204" pitchFamily="34" charset="0"/>
                <a:cs typeface="Arial" panose="020B0604020202020204" pitchFamily="34" charset="0"/>
              </a:rPr>
              <a:t>？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5B7F17-4E09-515B-1A15-51EB3B302466}"/>
              </a:ext>
            </a:extLst>
          </p:cNvPr>
          <p:cNvSpPr txBox="1"/>
          <p:nvPr/>
        </p:nvSpPr>
        <p:spPr>
          <a:xfrm>
            <a:off x="0" y="762759"/>
            <a:ext cx="12124486" cy="1047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2200">
                <a:latin typeface="Arial" panose="020B0604020202020204" pitchFamily="34" charset="0"/>
                <a:cs typeface="Arial" panose="020B0604020202020204" pitchFamily="34" charset="0"/>
              </a:rPr>
              <a:t>ADC </a:t>
            </a:r>
            <a:r>
              <a:rPr lang="zh-TW" altLang="en-US" sz="2200">
                <a:latin typeface="Arial" panose="020B0604020202020204" pitchFamily="34" charset="0"/>
                <a:cs typeface="Arial" panose="020B0604020202020204" pitchFamily="34" charset="0"/>
              </a:rPr>
              <a:t>用來將真實世界中的類比訊號，例如聲音或溫度，轉換成電腦可理解的數位資料。它讓微控制器能夠處理並儲存來自實體世界的資訊。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FB1147-2FF7-AE75-A394-8A9A739A9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181" y="2263444"/>
            <a:ext cx="8367252" cy="45639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3451FEA-0ABA-39BD-69E8-BBDAA7F88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386" y="4866783"/>
            <a:ext cx="600159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003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CBDCF-2BF2-8677-DB11-F03AB9FF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FA13-8DAC-F8F9-A501-79506251E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62212"/>
          </a:xfrm>
        </p:spPr>
        <p:txBody>
          <a:bodyPr>
            <a:noAutofit/>
          </a:bodyPr>
          <a:lstStyle/>
          <a:p>
            <a:r>
              <a:rPr lang="zh-TW" altLang="en-US" sz="4000"/>
              <a:t>練習：</a:t>
            </a:r>
            <a:endParaRPr lang="en-US" sz="4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E38402-A8E7-3025-1058-BC5F4DEB83BC}"/>
              </a:ext>
            </a:extLst>
          </p:cNvPr>
          <p:cNvSpPr/>
          <p:nvPr/>
        </p:nvSpPr>
        <p:spPr>
          <a:xfrm>
            <a:off x="481781" y="6363274"/>
            <a:ext cx="1505646" cy="494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33AE66-2D5B-FAF6-821B-BEEA6482EFCC}"/>
              </a:ext>
            </a:extLst>
          </p:cNvPr>
          <p:cNvSpPr txBox="1"/>
          <p:nvPr/>
        </p:nvSpPr>
        <p:spPr>
          <a:xfrm>
            <a:off x="2089847" y="50274"/>
            <a:ext cx="8605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>
                <a:latin typeface="Arial" panose="020B0604020202020204" pitchFamily="34" charset="0"/>
                <a:cs typeface="Arial" panose="020B0604020202020204" pitchFamily="34" charset="0"/>
              </a:rPr>
              <a:t>ADC </a:t>
            </a:r>
            <a:r>
              <a:rPr lang="zh-TW" altLang="en-US" sz="2400">
                <a:latin typeface="Arial" panose="020B0604020202020204" pitchFamily="34" charset="0"/>
                <a:cs typeface="Arial" panose="020B0604020202020204" pitchFamily="34" charset="0"/>
              </a:rPr>
              <a:t>的差分對佈線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C3C66B-AD0A-8240-F1E7-CCA1C3099D82}"/>
              </a:ext>
            </a:extLst>
          </p:cNvPr>
          <p:cNvSpPr txBox="1"/>
          <p:nvPr/>
        </p:nvSpPr>
        <p:spPr>
          <a:xfrm>
            <a:off x="0" y="440750"/>
            <a:ext cx="8605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ADC </a:t>
            </a:r>
            <a:r>
              <a:rPr lang="zh-TW" altLang="en-US" sz="2400">
                <a:latin typeface="Arial" panose="020B0604020202020204" pitchFamily="34" charset="0"/>
                <a:cs typeface="Arial" panose="020B0604020202020204" pitchFamily="34" charset="0"/>
              </a:rPr>
              <a:t>電路：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8EB3EC1-21D2-9305-D462-42D68CFCB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386" y="4866783"/>
            <a:ext cx="600159" cy="4477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5582E9-E4E2-F330-4978-DDA086F9D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847" y="1384734"/>
            <a:ext cx="8221222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133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C8525-49DD-9CBF-29EB-927BB3DCA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1A574-39A8-AEC0-9F23-86A9BCDAC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62212"/>
          </a:xfrm>
        </p:spPr>
        <p:txBody>
          <a:bodyPr>
            <a:noAutofit/>
          </a:bodyPr>
          <a:lstStyle/>
          <a:p>
            <a:r>
              <a:rPr lang="zh-TW" altLang="en-US" sz="4000"/>
              <a:t>練習：</a:t>
            </a:r>
            <a:endParaRPr lang="en-US" sz="4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9FDF1D-67D0-E22F-CE8F-6D0EB2898CFC}"/>
              </a:ext>
            </a:extLst>
          </p:cNvPr>
          <p:cNvSpPr/>
          <p:nvPr/>
        </p:nvSpPr>
        <p:spPr>
          <a:xfrm>
            <a:off x="481781" y="6363274"/>
            <a:ext cx="1505646" cy="494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159539-6174-CCCF-5760-34DE7F1B42D9}"/>
              </a:ext>
            </a:extLst>
          </p:cNvPr>
          <p:cNvSpPr txBox="1"/>
          <p:nvPr/>
        </p:nvSpPr>
        <p:spPr>
          <a:xfrm>
            <a:off x="2089847" y="50274"/>
            <a:ext cx="8605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>
                <a:latin typeface="Arial" panose="020B0604020202020204" pitchFamily="34" charset="0"/>
                <a:cs typeface="Arial" panose="020B0604020202020204" pitchFamily="34" charset="0"/>
              </a:rPr>
              <a:t>ADC </a:t>
            </a:r>
            <a:r>
              <a:rPr lang="zh-TW" altLang="en-US" sz="2400">
                <a:latin typeface="Arial" panose="020B0604020202020204" pitchFamily="34" charset="0"/>
                <a:cs typeface="Arial" panose="020B0604020202020204" pitchFamily="34" charset="0"/>
              </a:rPr>
              <a:t>的差分對佈線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CE7641-C1BA-8FC6-A6B7-8818A60D6FB0}"/>
              </a:ext>
            </a:extLst>
          </p:cNvPr>
          <p:cNvSpPr txBox="1"/>
          <p:nvPr/>
        </p:nvSpPr>
        <p:spPr>
          <a:xfrm>
            <a:off x="0" y="440750"/>
            <a:ext cx="8605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ADC </a:t>
            </a:r>
            <a:r>
              <a:rPr lang="zh-TW" altLang="en-US" sz="2400">
                <a:latin typeface="Arial" panose="020B0604020202020204" pitchFamily="34" charset="0"/>
                <a:cs typeface="Arial" panose="020B0604020202020204" pitchFamily="34" charset="0"/>
              </a:rPr>
              <a:t>電路：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BAA246A-532B-D294-E205-2DF8B6AFF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386" y="4866783"/>
            <a:ext cx="600159" cy="4477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161993-19A3-4FFA-B684-BEDE42915B6D}"/>
              </a:ext>
            </a:extLst>
          </p:cNvPr>
          <p:cNvSpPr txBox="1"/>
          <p:nvPr/>
        </p:nvSpPr>
        <p:spPr>
          <a:xfrm>
            <a:off x="1681316" y="442032"/>
            <a:ext cx="1042219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https://www.alldatasheet.com/html-pdf/1062441/TI1/ADS1219/62/1/ADS1219.html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20E70A-89C7-B7B1-F349-B4F9B0EB1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294" y="1002962"/>
            <a:ext cx="6237878" cy="573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017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62A66-60CD-9500-6AAD-137E1C034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3D8AE-4EB2-D75C-15B2-CD770E516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62212"/>
          </a:xfrm>
        </p:spPr>
        <p:txBody>
          <a:bodyPr>
            <a:noAutofit/>
          </a:bodyPr>
          <a:lstStyle/>
          <a:p>
            <a:r>
              <a:rPr lang="zh-TW" altLang="en-US" sz="4000"/>
              <a:t>練習：</a:t>
            </a:r>
            <a:endParaRPr lang="en-US" sz="4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2D47A3-5713-2C5A-4D3A-B702D754A846}"/>
              </a:ext>
            </a:extLst>
          </p:cNvPr>
          <p:cNvSpPr/>
          <p:nvPr/>
        </p:nvSpPr>
        <p:spPr>
          <a:xfrm>
            <a:off x="481781" y="6363274"/>
            <a:ext cx="1505646" cy="494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63D7A9-18BA-FA0A-C47C-5E103102DBF9}"/>
              </a:ext>
            </a:extLst>
          </p:cNvPr>
          <p:cNvSpPr txBox="1"/>
          <p:nvPr/>
        </p:nvSpPr>
        <p:spPr>
          <a:xfrm>
            <a:off x="2089847" y="50274"/>
            <a:ext cx="8605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>
                <a:latin typeface="Arial" panose="020B0604020202020204" pitchFamily="34" charset="0"/>
                <a:cs typeface="Arial" panose="020B0604020202020204" pitchFamily="34" charset="0"/>
              </a:rPr>
              <a:t>ADC </a:t>
            </a:r>
            <a:r>
              <a:rPr lang="zh-TW" altLang="en-US" sz="2400">
                <a:latin typeface="Arial" panose="020B0604020202020204" pitchFamily="34" charset="0"/>
                <a:cs typeface="Arial" panose="020B0604020202020204" pitchFamily="34" charset="0"/>
              </a:rPr>
              <a:t>的差分對佈線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949C6-10F5-BA21-D801-41A91B84E9DA}"/>
              </a:ext>
            </a:extLst>
          </p:cNvPr>
          <p:cNvSpPr txBox="1"/>
          <p:nvPr/>
        </p:nvSpPr>
        <p:spPr>
          <a:xfrm>
            <a:off x="0" y="440750"/>
            <a:ext cx="8605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ADC </a:t>
            </a:r>
            <a:r>
              <a:rPr lang="zh-TW" altLang="en-US" sz="2400">
                <a:latin typeface="Arial" panose="020B0604020202020204" pitchFamily="34" charset="0"/>
                <a:cs typeface="Arial" panose="020B0604020202020204" pitchFamily="34" charset="0"/>
              </a:rPr>
              <a:t>電路：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960AA15-EE7E-18EB-3354-5CBA3C498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386" y="4866783"/>
            <a:ext cx="600159" cy="4477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8C829-D937-0D16-D64A-0685AA791B10}"/>
              </a:ext>
            </a:extLst>
          </p:cNvPr>
          <p:cNvSpPr txBox="1"/>
          <p:nvPr/>
        </p:nvSpPr>
        <p:spPr>
          <a:xfrm>
            <a:off x="1681316" y="442032"/>
            <a:ext cx="1042219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https://www.alldatasheet.com/html-pdf/1062441/TI1/ADS1219/62/1/ADS1219.html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E76470-1610-E76B-F8E1-CFB1E9E8B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9552" y="902415"/>
            <a:ext cx="5705968" cy="571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36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F6768-00B4-DEBE-C54F-4CA0246F3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D9F38-4662-3242-4E4B-452096C92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62212"/>
          </a:xfrm>
        </p:spPr>
        <p:txBody>
          <a:bodyPr>
            <a:noAutofit/>
          </a:bodyPr>
          <a:lstStyle/>
          <a:p>
            <a:r>
              <a:rPr lang="zh-TW" altLang="en-US" sz="4000"/>
              <a:t>練習：</a:t>
            </a:r>
            <a:endParaRPr lang="en-US" sz="4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E23318-2362-3C05-3CEF-AFCB8DC6032E}"/>
              </a:ext>
            </a:extLst>
          </p:cNvPr>
          <p:cNvSpPr/>
          <p:nvPr/>
        </p:nvSpPr>
        <p:spPr>
          <a:xfrm>
            <a:off x="481781" y="6363274"/>
            <a:ext cx="1505646" cy="494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5F9D98-0CEC-1EDF-30FC-DE0C707D9709}"/>
              </a:ext>
            </a:extLst>
          </p:cNvPr>
          <p:cNvSpPr txBox="1"/>
          <p:nvPr/>
        </p:nvSpPr>
        <p:spPr>
          <a:xfrm>
            <a:off x="2089847" y="50274"/>
            <a:ext cx="8605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>
                <a:latin typeface="Arial" panose="020B0604020202020204" pitchFamily="34" charset="0"/>
                <a:cs typeface="Arial" panose="020B0604020202020204" pitchFamily="34" charset="0"/>
              </a:rPr>
              <a:t>ADC </a:t>
            </a:r>
            <a:r>
              <a:rPr lang="zh-TW" altLang="en-US" sz="2400">
                <a:latin typeface="Arial" panose="020B0604020202020204" pitchFamily="34" charset="0"/>
                <a:cs typeface="Arial" panose="020B0604020202020204" pitchFamily="34" charset="0"/>
              </a:rPr>
              <a:t>的差分對佈線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2BDC6F-0701-271C-4C00-2610068243AB}"/>
              </a:ext>
            </a:extLst>
          </p:cNvPr>
          <p:cNvSpPr txBox="1"/>
          <p:nvPr/>
        </p:nvSpPr>
        <p:spPr>
          <a:xfrm>
            <a:off x="0" y="440750"/>
            <a:ext cx="8605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ADS1219 evaluation board: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4327BE-4856-E857-AED3-689567EB39C5}"/>
              </a:ext>
            </a:extLst>
          </p:cNvPr>
          <p:cNvSpPr txBox="1"/>
          <p:nvPr/>
        </p:nvSpPr>
        <p:spPr>
          <a:xfrm>
            <a:off x="0" y="908170"/>
            <a:ext cx="104221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https://www.ti.com/lit/ug/sbau316/sbau316.pdf?ts=1774536596283&amp;ref_url=https%253A%252F%252Fwww.ti.com%252Ftool%252FBOOSTXL-ADS1219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32972A-17C7-543E-D282-2AD565030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415" y="1677611"/>
            <a:ext cx="6232779" cy="496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771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68A56-7044-2495-006E-88D8B5E1F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3A09C-B1A7-3AAD-44C4-1214CCFB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62212"/>
          </a:xfrm>
        </p:spPr>
        <p:txBody>
          <a:bodyPr>
            <a:noAutofit/>
          </a:bodyPr>
          <a:lstStyle/>
          <a:p>
            <a:r>
              <a:rPr lang="zh-TW" altLang="en-US" sz="4000"/>
              <a:t>練習：</a:t>
            </a:r>
            <a:endParaRPr lang="en-US" sz="4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789A25-0D00-678F-7D7E-E4D725D88C41}"/>
              </a:ext>
            </a:extLst>
          </p:cNvPr>
          <p:cNvSpPr/>
          <p:nvPr/>
        </p:nvSpPr>
        <p:spPr>
          <a:xfrm>
            <a:off x="481781" y="6363274"/>
            <a:ext cx="1505646" cy="494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4E16B5-84B5-2E67-4539-F258EAF67A3C}"/>
              </a:ext>
            </a:extLst>
          </p:cNvPr>
          <p:cNvSpPr txBox="1"/>
          <p:nvPr/>
        </p:nvSpPr>
        <p:spPr>
          <a:xfrm>
            <a:off x="2089847" y="50274"/>
            <a:ext cx="8605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>
                <a:latin typeface="Arial" panose="020B0604020202020204" pitchFamily="34" charset="0"/>
                <a:cs typeface="Arial" panose="020B0604020202020204" pitchFamily="34" charset="0"/>
              </a:rPr>
              <a:t>ADC </a:t>
            </a:r>
            <a:r>
              <a:rPr lang="zh-TW" altLang="en-US" sz="2400">
                <a:latin typeface="Arial" panose="020B0604020202020204" pitchFamily="34" charset="0"/>
                <a:cs typeface="Arial" panose="020B0604020202020204" pitchFamily="34" charset="0"/>
              </a:rPr>
              <a:t>的差分對佈線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4FD3CD-7C8B-B5C3-95D2-88B3950C3C09}"/>
              </a:ext>
            </a:extLst>
          </p:cNvPr>
          <p:cNvSpPr txBox="1"/>
          <p:nvPr/>
        </p:nvSpPr>
        <p:spPr>
          <a:xfrm>
            <a:off x="0" y="440750"/>
            <a:ext cx="8605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ADS1219 evaluation board: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5DFA16-AF91-B9DB-7623-E5062339B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2891"/>
            <a:ext cx="6232779" cy="49637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FF6AA92-7161-ECF5-BC34-05D342E5DB27}"/>
              </a:ext>
            </a:extLst>
          </p:cNvPr>
          <p:cNvSpPr/>
          <p:nvPr/>
        </p:nvSpPr>
        <p:spPr>
          <a:xfrm>
            <a:off x="3215148" y="4483510"/>
            <a:ext cx="658762" cy="151416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466EDB-7EA3-0EA5-B64A-C9B2F2E76662}"/>
              </a:ext>
            </a:extLst>
          </p:cNvPr>
          <p:cNvSpPr/>
          <p:nvPr/>
        </p:nvSpPr>
        <p:spPr>
          <a:xfrm>
            <a:off x="2085177" y="4483510"/>
            <a:ext cx="581823" cy="151416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352E25B-DDBB-DB05-D031-A81B6AD254B9}"/>
              </a:ext>
            </a:extLst>
          </p:cNvPr>
          <p:cNvCxnSpPr>
            <a:cxnSpLocks/>
          </p:cNvCxnSpPr>
          <p:nvPr/>
        </p:nvCxnSpPr>
        <p:spPr>
          <a:xfrm flipV="1">
            <a:off x="3873910" y="3657600"/>
            <a:ext cx="2358869" cy="111252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C85BBB8-352B-2F83-53FA-37656546984B}"/>
              </a:ext>
            </a:extLst>
          </p:cNvPr>
          <p:cNvCxnSpPr>
            <a:cxnSpLocks/>
          </p:cNvCxnSpPr>
          <p:nvPr/>
        </p:nvCxnSpPr>
        <p:spPr>
          <a:xfrm flipV="1">
            <a:off x="2667000" y="3596640"/>
            <a:ext cx="3565779" cy="91451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358BD8E-C4B3-8A30-8D1F-6A55AD9735EA}"/>
              </a:ext>
            </a:extLst>
          </p:cNvPr>
          <p:cNvSpPr txBox="1"/>
          <p:nvPr/>
        </p:nvSpPr>
        <p:spPr>
          <a:xfrm>
            <a:off x="6232779" y="3429000"/>
            <a:ext cx="1783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差分對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79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AAD51-8946-D035-49CF-AF22231A9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F5158-9FFE-54C4-DD44-F37D56E8F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62212"/>
          </a:xfrm>
        </p:spPr>
        <p:txBody>
          <a:bodyPr>
            <a:noAutofit/>
          </a:bodyPr>
          <a:lstStyle/>
          <a:p>
            <a:r>
              <a:rPr lang="zh-TW" altLang="en-US" sz="4000"/>
              <a:t>練習：</a:t>
            </a:r>
            <a:endParaRPr lang="en-US" sz="4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63B41F-0BC8-EC1E-D31E-96EFF69864D3}"/>
              </a:ext>
            </a:extLst>
          </p:cNvPr>
          <p:cNvSpPr/>
          <p:nvPr/>
        </p:nvSpPr>
        <p:spPr>
          <a:xfrm>
            <a:off x="481781" y="6363274"/>
            <a:ext cx="1505646" cy="494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3E5FF6-987B-E7FA-7E4B-09F6FEF6CA30}"/>
              </a:ext>
            </a:extLst>
          </p:cNvPr>
          <p:cNvSpPr txBox="1"/>
          <p:nvPr/>
        </p:nvSpPr>
        <p:spPr>
          <a:xfrm>
            <a:off x="2089847" y="50274"/>
            <a:ext cx="8605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>
                <a:latin typeface="Arial" panose="020B0604020202020204" pitchFamily="34" charset="0"/>
                <a:cs typeface="Arial" panose="020B0604020202020204" pitchFamily="34" charset="0"/>
              </a:rPr>
              <a:t>ADC </a:t>
            </a:r>
            <a:r>
              <a:rPr lang="zh-TW" altLang="en-US" sz="2400">
                <a:latin typeface="Arial" panose="020B0604020202020204" pitchFamily="34" charset="0"/>
                <a:cs typeface="Arial" panose="020B0604020202020204" pitchFamily="34" charset="0"/>
              </a:rPr>
              <a:t>的差分對佈線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774CE6-702F-B99B-BDFA-9D08428A0AD2}"/>
              </a:ext>
            </a:extLst>
          </p:cNvPr>
          <p:cNvSpPr txBox="1"/>
          <p:nvPr/>
        </p:nvSpPr>
        <p:spPr>
          <a:xfrm>
            <a:off x="0" y="440750"/>
            <a:ext cx="8605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>
                <a:latin typeface="Arial" panose="020B0604020202020204" pitchFamily="34" charset="0"/>
                <a:cs typeface="Arial" panose="020B0604020202020204" pitchFamily="34" charset="0"/>
              </a:rPr>
              <a:t>佈局指南：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1A6D73-E0D1-4A3B-6889-886919504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87" y="1460614"/>
            <a:ext cx="5128047" cy="49566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6C9B31-EAD9-1D6F-B77C-ABC36FF8F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525816"/>
            <a:ext cx="4841667" cy="489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75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1000</Words>
  <Application>Microsoft Office PowerPoint</Application>
  <PresentationFormat>Widescreen</PresentationFormat>
  <Paragraphs>72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進階佈線</vt:lpstr>
      <vt:lpstr>差分布線：什麼是 差分對 (Differential pairs)？</vt:lpstr>
      <vt:lpstr>差分布線：什麼是 差分對 (Differential pairs)？</vt:lpstr>
      <vt:lpstr>Differential 佈線 concept:</vt:lpstr>
      <vt:lpstr>Differential 佈線 concept:</vt:lpstr>
      <vt:lpstr>差分布線 (Differential routing) 概念：</vt:lpstr>
      <vt:lpstr>佈線範例：</vt:lpstr>
      <vt:lpstr>佈線範例：</vt:lpstr>
      <vt:lpstr>佈線範例：</vt:lpstr>
      <vt:lpstr>佈線範例：</vt:lpstr>
      <vt:lpstr>佈線範例：</vt:lpstr>
      <vt:lpstr>練習：</vt:lpstr>
      <vt:lpstr>練習：</vt:lpstr>
      <vt:lpstr>練習：</vt:lpstr>
      <vt:lpstr>練習：</vt:lpstr>
      <vt:lpstr>練習：</vt:lpstr>
      <vt:lpstr>練習：</vt:lpstr>
      <vt:lpstr>練習：</vt:lpstr>
      <vt:lpstr>練習：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阮黎孝</dc:creator>
  <cp:lastModifiedBy>阮黎孝</cp:lastModifiedBy>
  <cp:revision>6</cp:revision>
  <dcterms:created xsi:type="dcterms:W3CDTF">2026-03-13T03:11:25Z</dcterms:created>
  <dcterms:modified xsi:type="dcterms:W3CDTF">2026-04-04T16:30:09Z</dcterms:modified>
</cp:coreProperties>
</file>