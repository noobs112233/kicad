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371" r:id="rId3"/>
    <p:sldId id="372" r:id="rId4"/>
    <p:sldId id="373" r:id="rId5"/>
    <p:sldId id="374" r:id="rId6"/>
    <p:sldId id="375" r:id="rId7"/>
    <p:sldId id="376" r:id="rId8"/>
    <p:sldId id="377" r:id="rId9"/>
    <p:sldId id="378" r:id="rId10"/>
    <p:sldId id="379" r:id="rId11"/>
    <p:sldId id="38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16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869E03-B1FE-4C12-8A64-D047A82D1184}" type="datetimeFigureOut">
              <a:rPr lang="en-US" smtClean="0"/>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2CA6FF-CDC3-47B4-B300-97B827C2F504}" type="slidenum">
              <a:rPr lang="en-US" smtClean="0"/>
              <a:t>‹#›</a:t>
            </a:fld>
            <a:endParaRPr lang="en-US"/>
          </a:p>
        </p:txBody>
      </p:sp>
    </p:spTree>
    <p:extLst>
      <p:ext uri="{BB962C8B-B14F-4D97-AF65-F5344CB8AC3E}">
        <p14:creationId xmlns:p14="http://schemas.microsoft.com/office/powerpoint/2010/main" val="3160370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303E6-9F70-1597-8E4F-6233C6B75F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A905F-796D-68C2-4BDA-700B404DC6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0D194-BC58-137E-3703-5B54E54CB9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CD9DF33-7DC8-FD84-7F28-A7CDFF4EA62C}"/>
              </a:ext>
            </a:extLst>
          </p:cNvPr>
          <p:cNvSpPr>
            <a:spLocks noGrp="1"/>
          </p:cNvSpPr>
          <p:nvPr>
            <p:ph type="sldNum" sz="quarter" idx="5"/>
          </p:nvPr>
        </p:nvSpPr>
        <p:spPr/>
        <p:txBody>
          <a:bodyPr/>
          <a:lstStyle/>
          <a:p>
            <a:fld id="{884A1B25-A431-4677-8629-E8601868AE81}" type="slidenum">
              <a:rPr lang="en-US" smtClean="0"/>
              <a:t>2</a:t>
            </a:fld>
            <a:endParaRPr lang="en-US"/>
          </a:p>
        </p:txBody>
      </p:sp>
    </p:spTree>
    <p:extLst>
      <p:ext uri="{BB962C8B-B14F-4D97-AF65-F5344CB8AC3E}">
        <p14:creationId xmlns:p14="http://schemas.microsoft.com/office/powerpoint/2010/main" val="1182133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DE884-7A81-D77C-6B1D-761C9F98A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38599D-0076-B77A-4B49-29CBD629EA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98DF0-57B9-5927-2755-51CB64E36B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181BE1-D8FA-1030-63C2-B4008AAAB015}"/>
              </a:ext>
            </a:extLst>
          </p:cNvPr>
          <p:cNvSpPr>
            <a:spLocks noGrp="1"/>
          </p:cNvSpPr>
          <p:nvPr>
            <p:ph type="sldNum" sz="quarter" idx="5"/>
          </p:nvPr>
        </p:nvSpPr>
        <p:spPr/>
        <p:txBody>
          <a:bodyPr/>
          <a:lstStyle/>
          <a:p>
            <a:fld id="{884A1B25-A431-4677-8629-E8601868AE81}" type="slidenum">
              <a:rPr lang="en-US" smtClean="0"/>
              <a:t>3</a:t>
            </a:fld>
            <a:endParaRPr lang="en-US"/>
          </a:p>
        </p:txBody>
      </p:sp>
    </p:spTree>
    <p:extLst>
      <p:ext uri="{BB962C8B-B14F-4D97-AF65-F5344CB8AC3E}">
        <p14:creationId xmlns:p14="http://schemas.microsoft.com/office/powerpoint/2010/main" val="3601081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357FE-425A-7336-AC8F-780B0F026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9849CA-9B80-406D-AF48-18EA15797F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58599-AEAC-0394-B4A9-9E8F6E70C98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127144-D54D-45A8-FC38-1FA1DF5E8ED6}"/>
              </a:ext>
            </a:extLst>
          </p:cNvPr>
          <p:cNvSpPr>
            <a:spLocks noGrp="1"/>
          </p:cNvSpPr>
          <p:nvPr>
            <p:ph type="sldNum" sz="quarter" idx="5"/>
          </p:nvPr>
        </p:nvSpPr>
        <p:spPr/>
        <p:txBody>
          <a:bodyPr/>
          <a:lstStyle/>
          <a:p>
            <a:fld id="{884A1B25-A431-4677-8629-E8601868AE81}" type="slidenum">
              <a:rPr lang="en-US" smtClean="0"/>
              <a:t>4</a:t>
            </a:fld>
            <a:endParaRPr lang="en-US"/>
          </a:p>
        </p:txBody>
      </p:sp>
    </p:spTree>
    <p:extLst>
      <p:ext uri="{BB962C8B-B14F-4D97-AF65-F5344CB8AC3E}">
        <p14:creationId xmlns:p14="http://schemas.microsoft.com/office/powerpoint/2010/main" val="328296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C8F76-9646-8D8E-3010-59B238DF2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B672C-3C81-B5BD-A389-651C36BC07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33203F-CAD8-EC47-7BC4-53C9A8CA46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834D390-0A2F-5F79-0805-DAB86BB046CC}"/>
              </a:ext>
            </a:extLst>
          </p:cNvPr>
          <p:cNvSpPr>
            <a:spLocks noGrp="1"/>
          </p:cNvSpPr>
          <p:nvPr>
            <p:ph type="sldNum" sz="quarter" idx="5"/>
          </p:nvPr>
        </p:nvSpPr>
        <p:spPr/>
        <p:txBody>
          <a:bodyPr/>
          <a:lstStyle/>
          <a:p>
            <a:fld id="{884A1B25-A431-4677-8629-E8601868AE81}" type="slidenum">
              <a:rPr lang="en-US" smtClean="0"/>
              <a:t>5</a:t>
            </a:fld>
            <a:endParaRPr lang="en-US"/>
          </a:p>
        </p:txBody>
      </p:sp>
    </p:spTree>
    <p:extLst>
      <p:ext uri="{BB962C8B-B14F-4D97-AF65-F5344CB8AC3E}">
        <p14:creationId xmlns:p14="http://schemas.microsoft.com/office/powerpoint/2010/main" val="4271834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995AA-D980-149A-AEE8-0FD190D4D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99E8A-80AD-2C16-7E88-881466B0DC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C642E-42BF-C849-C83F-D2E176D678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EC8626-725A-F567-6C68-218E893FB093}"/>
              </a:ext>
            </a:extLst>
          </p:cNvPr>
          <p:cNvSpPr>
            <a:spLocks noGrp="1"/>
          </p:cNvSpPr>
          <p:nvPr>
            <p:ph type="sldNum" sz="quarter" idx="5"/>
          </p:nvPr>
        </p:nvSpPr>
        <p:spPr/>
        <p:txBody>
          <a:bodyPr/>
          <a:lstStyle/>
          <a:p>
            <a:fld id="{884A1B25-A431-4677-8629-E8601868AE81}" type="slidenum">
              <a:rPr lang="en-US" smtClean="0"/>
              <a:t>6</a:t>
            </a:fld>
            <a:endParaRPr lang="en-US"/>
          </a:p>
        </p:txBody>
      </p:sp>
    </p:spTree>
    <p:extLst>
      <p:ext uri="{BB962C8B-B14F-4D97-AF65-F5344CB8AC3E}">
        <p14:creationId xmlns:p14="http://schemas.microsoft.com/office/powerpoint/2010/main" val="2194832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52033-F141-F70D-8F07-41657BEBF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09ECB-E150-8738-150C-8C7110B1C9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3D036F-7EF2-32D7-4E78-6ADFBE88CD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82B8DE-2B7F-8CEC-D20F-874EF1D00F3F}"/>
              </a:ext>
            </a:extLst>
          </p:cNvPr>
          <p:cNvSpPr>
            <a:spLocks noGrp="1"/>
          </p:cNvSpPr>
          <p:nvPr>
            <p:ph type="sldNum" sz="quarter" idx="5"/>
          </p:nvPr>
        </p:nvSpPr>
        <p:spPr/>
        <p:txBody>
          <a:bodyPr/>
          <a:lstStyle/>
          <a:p>
            <a:fld id="{884A1B25-A431-4677-8629-E8601868AE81}" type="slidenum">
              <a:rPr lang="en-US" smtClean="0"/>
              <a:t>7</a:t>
            </a:fld>
            <a:endParaRPr lang="en-US"/>
          </a:p>
        </p:txBody>
      </p:sp>
    </p:spTree>
    <p:extLst>
      <p:ext uri="{BB962C8B-B14F-4D97-AF65-F5344CB8AC3E}">
        <p14:creationId xmlns:p14="http://schemas.microsoft.com/office/powerpoint/2010/main" val="29676177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29101-93D1-067B-0C4A-DD0372D66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CBB5BE-ACAC-AE9C-1E7C-0F87F38F54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68931-A15B-F761-F650-A774391134AF}"/>
              </a:ext>
            </a:extLst>
          </p:cNvPr>
          <p:cNvSpPr>
            <a:spLocks noGrp="1"/>
          </p:cNvSpPr>
          <p:nvPr>
            <p:ph type="body" idx="1"/>
          </p:nvPr>
        </p:nvSpPr>
        <p:spPr/>
        <p:txBody>
          <a:bodyPr/>
          <a:lstStyle/>
          <a:p>
            <a:r>
              <a:rPr lang="en-US"/>
              <a:t>Source: https://www.elepcb.com/blog/crosstalk-in-pcb/</a:t>
            </a:r>
          </a:p>
        </p:txBody>
      </p:sp>
      <p:sp>
        <p:nvSpPr>
          <p:cNvPr id="4" name="Slide Number Placeholder 3">
            <a:extLst>
              <a:ext uri="{FF2B5EF4-FFF2-40B4-BE49-F238E27FC236}">
                <a16:creationId xmlns:a16="http://schemas.microsoft.com/office/drawing/2014/main" id="{A34DB582-F8C5-8549-20D7-D140BAFC62EE}"/>
              </a:ext>
            </a:extLst>
          </p:cNvPr>
          <p:cNvSpPr>
            <a:spLocks noGrp="1"/>
          </p:cNvSpPr>
          <p:nvPr>
            <p:ph type="sldNum" sz="quarter" idx="5"/>
          </p:nvPr>
        </p:nvSpPr>
        <p:spPr/>
        <p:txBody>
          <a:bodyPr/>
          <a:lstStyle/>
          <a:p>
            <a:fld id="{884A1B25-A431-4677-8629-E8601868AE81}" type="slidenum">
              <a:rPr lang="en-US" smtClean="0"/>
              <a:t>8</a:t>
            </a:fld>
            <a:endParaRPr lang="en-US"/>
          </a:p>
        </p:txBody>
      </p:sp>
    </p:spTree>
    <p:extLst>
      <p:ext uri="{BB962C8B-B14F-4D97-AF65-F5344CB8AC3E}">
        <p14:creationId xmlns:p14="http://schemas.microsoft.com/office/powerpoint/2010/main" val="3047426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E57B6-07FD-D697-79EC-B895051683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22BFDF-5817-6ED4-A830-639A8F9D36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6B048-DC7E-DC86-7259-F0A06A11E8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8F6E6F-FD96-222F-D8CE-8E8750F79143}"/>
              </a:ext>
            </a:extLst>
          </p:cNvPr>
          <p:cNvSpPr>
            <a:spLocks noGrp="1"/>
          </p:cNvSpPr>
          <p:nvPr>
            <p:ph type="sldNum" sz="quarter" idx="5"/>
          </p:nvPr>
        </p:nvSpPr>
        <p:spPr/>
        <p:txBody>
          <a:bodyPr/>
          <a:lstStyle/>
          <a:p>
            <a:fld id="{884A1B25-A431-4677-8629-E8601868AE81}" type="slidenum">
              <a:rPr lang="en-US" smtClean="0"/>
              <a:t>9</a:t>
            </a:fld>
            <a:endParaRPr lang="en-US"/>
          </a:p>
        </p:txBody>
      </p:sp>
    </p:spTree>
    <p:extLst>
      <p:ext uri="{BB962C8B-B14F-4D97-AF65-F5344CB8AC3E}">
        <p14:creationId xmlns:p14="http://schemas.microsoft.com/office/powerpoint/2010/main" val="3594100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DE380-D5F8-00DE-97A3-F05D42D40F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1FC3DF-A3B3-B43A-B6E7-CF5DDA3CAA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B480FA-4594-8A9F-2EA2-9CE5A7A3B3E2}"/>
              </a:ext>
            </a:extLst>
          </p:cNvPr>
          <p:cNvSpPr>
            <a:spLocks noGrp="1"/>
          </p:cNvSpPr>
          <p:nvPr>
            <p:ph type="dt" sz="half" idx="10"/>
          </p:nvPr>
        </p:nvSpPr>
        <p:spPr/>
        <p:txBody>
          <a:bodyPr/>
          <a:lstStyle/>
          <a:p>
            <a:fld id="{0DCADF51-EFE9-42D7-B2EF-117280980217}" type="datetimeFigureOut">
              <a:rPr lang="en-US" smtClean="0"/>
              <a:t>4/2/2026</a:t>
            </a:fld>
            <a:endParaRPr lang="en-US"/>
          </a:p>
        </p:txBody>
      </p:sp>
      <p:sp>
        <p:nvSpPr>
          <p:cNvPr id="5" name="Footer Placeholder 4">
            <a:extLst>
              <a:ext uri="{FF2B5EF4-FFF2-40B4-BE49-F238E27FC236}">
                <a16:creationId xmlns:a16="http://schemas.microsoft.com/office/drawing/2014/main" id="{1FF13EA7-DBC5-84EA-5FA7-A9F5486D57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2FF1EB-87EB-FE17-5C3F-015BA2CA7EB9}"/>
              </a:ext>
            </a:extLst>
          </p:cNvPr>
          <p:cNvSpPr>
            <a:spLocks noGrp="1"/>
          </p:cNvSpPr>
          <p:nvPr>
            <p:ph type="sldNum" sz="quarter" idx="12"/>
          </p:nvPr>
        </p:nvSpPr>
        <p:spPr/>
        <p:txBody>
          <a:bodyPr/>
          <a:lstStyle/>
          <a:p>
            <a:fld id="{A2EFB83F-416B-474C-9F19-9CFF453F4C45}" type="slidenum">
              <a:rPr lang="en-US" smtClean="0"/>
              <a:t>‹#›</a:t>
            </a:fld>
            <a:endParaRPr lang="en-US"/>
          </a:p>
        </p:txBody>
      </p:sp>
    </p:spTree>
    <p:extLst>
      <p:ext uri="{BB962C8B-B14F-4D97-AF65-F5344CB8AC3E}">
        <p14:creationId xmlns:p14="http://schemas.microsoft.com/office/powerpoint/2010/main" val="3971393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431B5-3C8D-E6C0-32D1-07C87A8165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B443C4-F26C-7267-F530-D64C1CDEFF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E4CB88-83F7-5211-33F7-0D9868817A5B}"/>
              </a:ext>
            </a:extLst>
          </p:cNvPr>
          <p:cNvSpPr>
            <a:spLocks noGrp="1"/>
          </p:cNvSpPr>
          <p:nvPr>
            <p:ph type="dt" sz="half" idx="10"/>
          </p:nvPr>
        </p:nvSpPr>
        <p:spPr/>
        <p:txBody>
          <a:bodyPr/>
          <a:lstStyle/>
          <a:p>
            <a:fld id="{0DCADF51-EFE9-42D7-B2EF-117280980217}" type="datetimeFigureOut">
              <a:rPr lang="en-US" smtClean="0"/>
              <a:t>4/2/2026</a:t>
            </a:fld>
            <a:endParaRPr lang="en-US"/>
          </a:p>
        </p:txBody>
      </p:sp>
      <p:sp>
        <p:nvSpPr>
          <p:cNvPr id="5" name="Footer Placeholder 4">
            <a:extLst>
              <a:ext uri="{FF2B5EF4-FFF2-40B4-BE49-F238E27FC236}">
                <a16:creationId xmlns:a16="http://schemas.microsoft.com/office/drawing/2014/main" id="{C89E5484-21E2-BA5F-D52A-A0C0DBA2B8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C1CF55-2D77-2663-0A2E-B791CC088DCA}"/>
              </a:ext>
            </a:extLst>
          </p:cNvPr>
          <p:cNvSpPr>
            <a:spLocks noGrp="1"/>
          </p:cNvSpPr>
          <p:nvPr>
            <p:ph type="sldNum" sz="quarter" idx="12"/>
          </p:nvPr>
        </p:nvSpPr>
        <p:spPr/>
        <p:txBody>
          <a:bodyPr/>
          <a:lstStyle/>
          <a:p>
            <a:fld id="{A2EFB83F-416B-474C-9F19-9CFF453F4C45}" type="slidenum">
              <a:rPr lang="en-US" smtClean="0"/>
              <a:t>‹#›</a:t>
            </a:fld>
            <a:endParaRPr lang="en-US"/>
          </a:p>
        </p:txBody>
      </p:sp>
    </p:spTree>
    <p:extLst>
      <p:ext uri="{BB962C8B-B14F-4D97-AF65-F5344CB8AC3E}">
        <p14:creationId xmlns:p14="http://schemas.microsoft.com/office/powerpoint/2010/main" val="842756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92D3E-ABB0-1114-2B98-BFC5317174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F229DE-3FA3-0DE3-95D6-55E4C8D14E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38F771-6BFA-A42E-7494-43009C6F6B02}"/>
              </a:ext>
            </a:extLst>
          </p:cNvPr>
          <p:cNvSpPr>
            <a:spLocks noGrp="1"/>
          </p:cNvSpPr>
          <p:nvPr>
            <p:ph type="dt" sz="half" idx="10"/>
          </p:nvPr>
        </p:nvSpPr>
        <p:spPr/>
        <p:txBody>
          <a:bodyPr/>
          <a:lstStyle/>
          <a:p>
            <a:fld id="{0DCADF51-EFE9-42D7-B2EF-117280980217}" type="datetimeFigureOut">
              <a:rPr lang="en-US" smtClean="0"/>
              <a:t>4/2/2026</a:t>
            </a:fld>
            <a:endParaRPr lang="en-US"/>
          </a:p>
        </p:txBody>
      </p:sp>
      <p:sp>
        <p:nvSpPr>
          <p:cNvPr id="5" name="Footer Placeholder 4">
            <a:extLst>
              <a:ext uri="{FF2B5EF4-FFF2-40B4-BE49-F238E27FC236}">
                <a16:creationId xmlns:a16="http://schemas.microsoft.com/office/drawing/2014/main" id="{DB07A0AB-31C3-E181-971E-7CA191C428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C0EE3A-6C15-3633-E7BC-BDE3B32D4759}"/>
              </a:ext>
            </a:extLst>
          </p:cNvPr>
          <p:cNvSpPr>
            <a:spLocks noGrp="1"/>
          </p:cNvSpPr>
          <p:nvPr>
            <p:ph type="sldNum" sz="quarter" idx="12"/>
          </p:nvPr>
        </p:nvSpPr>
        <p:spPr/>
        <p:txBody>
          <a:bodyPr/>
          <a:lstStyle/>
          <a:p>
            <a:fld id="{A2EFB83F-416B-474C-9F19-9CFF453F4C45}" type="slidenum">
              <a:rPr lang="en-US" smtClean="0"/>
              <a:t>‹#›</a:t>
            </a:fld>
            <a:endParaRPr lang="en-US"/>
          </a:p>
        </p:txBody>
      </p:sp>
    </p:spTree>
    <p:extLst>
      <p:ext uri="{BB962C8B-B14F-4D97-AF65-F5344CB8AC3E}">
        <p14:creationId xmlns:p14="http://schemas.microsoft.com/office/powerpoint/2010/main" val="513483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0C532-F077-9F16-5E0B-AB6154EF9D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D8AD39-4E1B-64F7-C46F-2A5A7FE4EB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CA25D1-BF52-F3B3-4FDE-625E24524A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1FFF13-9045-8B17-09F3-43F1A2C9D146}"/>
              </a:ext>
            </a:extLst>
          </p:cNvPr>
          <p:cNvSpPr>
            <a:spLocks noGrp="1"/>
          </p:cNvSpPr>
          <p:nvPr>
            <p:ph type="dt" sz="half" idx="10"/>
          </p:nvPr>
        </p:nvSpPr>
        <p:spPr/>
        <p:txBody>
          <a:bodyPr/>
          <a:lstStyle/>
          <a:p>
            <a:fld id="{0DCADF51-EFE9-42D7-B2EF-117280980217}" type="datetimeFigureOut">
              <a:rPr lang="en-US" smtClean="0"/>
              <a:t>4/2/2026</a:t>
            </a:fld>
            <a:endParaRPr lang="en-US"/>
          </a:p>
        </p:txBody>
      </p:sp>
      <p:sp>
        <p:nvSpPr>
          <p:cNvPr id="6" name="Footer Placeholder 5">
            <a:extLst>
              <a:ext uri="{FF2B5EF4-FFF2-40B4-BE49-F238E27FC236}">
                <a16:creationId xmlns:a16="http://schemas.microsoft.com/office/drawing/2014/main" id="{28C8AD8E-705D-4E19-9EB6-A018E8802E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E1ECBD-0BF2-FBCE-0DED-C69882310303}"/>
              </a:ext>
            </a:extLst>
          </p:cNvPr>
          <p:cNvSpPr>
            <a:spLocks noGrp="1"/>
          </p:cNvSpPr>
          <p:nvPr>
            <p:ph type="sldNum" sz="quarter" idx="12"/>
          </p:nvPr>
        </p:nvSpPr>
        <p:spPr/>
        <p:txBody>
          <a:bodyPr/>
          <a:lstStyle/>
          <a:p>
            <a:fld id="{A2EFB83F-416B-474C-9F19-9CFF453F4C45}" type="slidenum">
              <a:rPr lang="en-US" smtClean="0"/>
              <a:t>‹#›</a:t>
            </a:fld>
            <a:endParaRPr lang="en-US"/>
          </a:p>
        </p:txBody>
      </p:sp>
    </p:spTree>
    <p:extLst>
      <p:ext uri="{BB962C8B-B14F-4D97-AF65-F5344CB8AC3E}">
        <p14:creationId xmlns:p14="http://schemas.microsoft.com/office/powerpoint/2010/main" val="1522869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C018B-339E-A0F6-212F-86D8B8931F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A0A97A-F624-67E5-3FBD-69018DC72D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F4A693-78F4-234E-22F6-786DF7B13F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A63574-5D25-06D1-8BF3-CD0007DBCE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34D667-2945-5B9D-4974-E773CC35B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3A923AF-425B-89C6-ED14-A7F4AF0F5C0F}"/>
              </a:ext>
            </a:extLst>
          </p:cNvPr>
          <p:cNvSpPr>
            <a:spLocks noGrp="1"/>
          </p:cNvSpPr>
          <p:nvPr>
            <p:ph type="dt" sz="half" idx="10"/>
          </p:nvPr>
        </p:nvSpPr>
        <p:spPr/>
        <p:txBody>
          <a:bodyPr/>
          <a:lstStyle/>
          <a:p>
            <a:fld id="{0DCADF51-EFE9-42D7-B2EF-117280980217}" type="datetimeFigureOut">
              <a:rPr lang="en-US" smtClean="0"/>
              <a:t>4/2/2026</a:t>
            </a:fld>
            <a:endParaRPr lang="en-US"/>
          </a:p>
        </p:txBody>
      </p:sp>
      <p:sp>
        <p:nvSpPr>
          <p:cNvPr id="8" name="Footer Placeholder 7">
            <a:extLst>
              <a:ext uri="{FF2B5EF4-FFF2-40B4-BE49-F238E27FC236}">
                <a16:creationId xmlns:a16="http://schemas.microsoft.com/office/drawing/2014/main" id="{897FDE5A-F2E6-B73B-9968-26CEA82C49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11F7C4-4EC3-040D-1553-AB62BB6FFA66}"/>
              </a:ext>
            </a:extLst>
          </p:cNvPr>
          <p:cNvSpPr>
            <a:spLocks noGrp="1"/>
          </p:cNvSpPr>
          <p:nvPr>
            <p:ph type="sldNum" sz="quarter" idx="12"/>
          </p:nvPr>
        </p:nvSpPr>
        <p:spPr/>
        <p:txBody>
          <a:bodyPr/>
          <a:lstStyle/>
          <a:p>
            <a:fld id="{A2EFB83F-416B-474C-9F19-9CFF453F4C45}" type="slidenum">
              <a:rPr lang="en-US" smtClean="0"/>
              <a:t>‹#›</a:t>
            </a:fld>
            <a:endParaRPr lang="en-US"/>
          </a:p>
        </p:txBody>
      </p:sp>
    </p:spTree>
    <p:extLst>
      <p:ext uri="{BB962C8B-B14F-4D97-AF65-F5344CB8AC3E}">
        <p14:creationId xmlns:p14="http://schemas.microsoft.com/office/powerpoint/2010/main" val="2372482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65111-1481-8BDE-5077-A23AE34DAD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EBE60C3-330E-4542-DFF0-963C4A2371AD}"/>
              </a:ext>
            </a:extLst>
          </p:cNvPr>
          <p:cNvSpPr>
            <a:spLocks noGrp="1"/>
          </p:cNvSpPr>
          <p:nvPr>
            <p:ph type="dt" sz="half" idx="10"/>
          </p:nvPr>
        </p:nvSpPr>
        <p:spPr/>
        <p:txBody>
          <a:bodyPr/>
          <a:lstStyle/>
          <a:p>
            <a:fld id="{0DCADF51-EFE9-42D7-B2EF-117280980217}" type="datetimeFigureOut">
              <a:rPr lang="en-US" smtClean="0"/>
              <a:t>4/2/2026</a:t>
            </a:fld>
            <a:endParaRPr lang="en-US"/>
          </a:p>
        </p:txBody>
      </p:sp>
      <p:sp>
        <p:nvSpPr>
          <p:cNvPr id="4" name="Footer Placeholder 3">
            <a:extLst>
              <a:ext uri="{FF2B5EF4-FFF2-40B4-BE49-F238E27FC236}">
                <a16:creationId xmlns:a16="http://schemas.microsoft.com/office/drawing/2014/main" id="{14B3A4CE-4FBC-A4DB-4E4B-593D7423C6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0CD2C9-92E3-8F3B-36E0-28EEE7172007}"/>
              </a:ext>
            </a:extLst>
          </p:cNvPr>
          <p:cNvSpPr>
            <a:spLocks noGrp="1"/>
          </p:cNvSpPr>
          <p:nvPr>
            <p:ph type="sldNum" sz="quarter" idx="12"/>
          </p:nvPr>
        </p:nvSpPr>
        <p:spPr/>
        <p:txBody>
          <a:bodyPr/>
          <a:lstStyle/>
          <a:p>
            <a:fld id="{A2EFB83F-416B-474C-9F19-9CFF453F4C45}" type="slidenum">
              <a:rPr lang="en-US" smtClean="0"/>
              <a:t>‹#›</a:t>
            </a:fld>
            <a:endParaRPr lang="en-US"/>
          </a:p>
        </p:txBody>
      </p:sp>
    </p:spTree>
    <p:extLst>
      <p:ext uri="{BB962C8B-B14F-4D97-AF65-F5344CB8AC3E}">
        <p14:creationId xmlns:p14="http://schemas.microsoft.com/office/powerpoint/2010/main" val="3227519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D5925F-4F40-58D7-9A09-779200309A7A}"/>
              </a:ext>
            </a:extLst>
          </p:cNvPr>
          <p:cNvSpPr>
            <a:spLocks noGrp="1"/>
          </p:cNvSpPr>
          <p:nvPr>
            <p:ph type="dt" sz="half" idx="10"/>
          </p:nvPr>
        </p:nvSpPr>
        <p:spPr/>
        <p:txBody>
          <a:bodyPr/>
          <a:lstStyle/>
          <a:p>
            <a:fld id="{0DCADF51-EFE9-42D7-B2EF-117280980217}" type="datetimeFigureOut">
              <a:rPr lang="en-US" smtClean="0"/>
              <a:t>4/2/2026</a:t>
            </a:fld>
            <a:endParaRPr lang="en-US"/>
          </a:p>
        </p:txBody>
      </p:sp>
      <p:sp>
        <p:nvSpPr>
          <p:cNvPr id="3" name="Footer Placeholder 2">
            <a:extLst>
              <a:ext uri="{FF2B5EF4-FFF2-40B4-BE49-F238E27FC236}">
                <a16:creationId xmlns:a16="http://schemas.microsoft.com/office/drawing/2014/main" id="{E4E29690-B2C8-8F6B-11A2-7677E14CEE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10348A-D3B1-B56B-9FA5-82AD97521401}"/>
              </a:ext>
            </a:extLst>
          </p:cNvPr>
          <p:cNvSpPr>
            <a:spLocks noGrp="1"/>
          </p:cNvSpPr>
          <p:nvPr>
            <p:ph type="sldNum" sz="quarter" idx="12"/>
          </p:nvPr>
        </p:nvSpPr>
        <p:spPr/>
        <p:txBody>
          <a:bodyPr/>
          <a:lstStyle/>
          <a:p>
            <a:fld id="{A2EFB83F-416B-474C-9F19-9CFF453F4C45}" type="slidenum">
              <a:rPr lang="en-US" smtClean="0"/>
              <a:t>‹#›</a:t>
            </a:fld>
            <a:endParaRPr lang="en-US"/>
          </a:p>
        </p:txBody>
      </p:sp>
    </p:spTree>
    <p:extLst>
      <p:ext uri="{BB962C8B-B14F-4D97-AF65-F5344CB8AC3E}">
        <p14:creationId xmlns:p14="http://schemas.microsoft.com/office/powerpoint/2010/main" val="496403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7A970-C9B3-CB98-2ED6-93A43785F7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A3C8F0-DBCE-D31C-49C7-1B5892C994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32734B-277B-C2CA-C058-1B75254545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35831F-1F45-0840-7845-6A86F6025F4F}"/>
              </a:ext>
            </a:extLst>
          </p:cNvPr>
          <p:cNvSpPr>
            <a:spLocks noGrp="1"/>
          </p:cNvSpPr>
          <p:nvPr>
            <p:ph type="dt" sz="half" idx="10"/>
          </p:nvPr>
        </p:nvSpPr>
        <p:spPr/>
        <p:txBody>
          <a:bodyPr/>
          <a:lstStyle/>
          <a:p>
            <a:fld id="{0DCADF51-EFE9-42D7-B2EF-117280980217}" type="datetimeFigureOut">
              <a:rPr lang="en-US" smtClean="0"/>
              <a:t>4/2/2026</a:t>
            </a:fld>
            <a:endParaRPr lang="en-US"/>
          </a:p>
        </p:txBody>
      </p:sp>
      <p:sp>
        <p:nvSpPr>
          <p:cNvPr id="6" name="Footer Placeholder 5">
            <a:extLst>
              <a:ext uri="{FF2B5EF4-FFF2-40B4-BE49-F238E27FC236}">
                <a16:creationId xmlns:a16="http://schemas.microsoft.com/office/drawing/2014/main" id="{71E7DB0B-DDB7-9B52-DD50-995D4B0386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BE4A26-84DB-41FC-C4FE-CE2F18299CC0}"/>
              </a:ext>
            </a:extLst>
          </p:cNvPr>
          <p:cNvSpPr>
            <a:spLocks noGrp="1"/>
          </p:cNvSpPr>
          <p:nvPr>
            <p:ph type="sldNum" sz="quarter" idx="12"/>
          </p:nvPr>
        </p:nvSpPr>
        <p:spPr/>
        <p:txBody>
          <a:bodyPr/>
          <a:lstStyle/>
          <a:p>
            <a:fld id="{A2EFB83F-416B-474C-9F19-9CFF453F4C45}" type="slidenum">
              <a:rPr lang="en-US" smtClean="0"/>
              <a:t>‹#›</a:t>
            </a:fld>
            <a:endParaRPr lang="en-US"/>
          </a:p>
        </p:txBody>
      </p:sp>
    </p:spTree>
    <p:extLst>
      <p:ext uri="{BB962C8B-B14F-4D97-AF65-F5344CB8AC3E}">
        <p14:creationId xmlns:p14="http://schemas.microsoft.com/office/powerpoint/2010/main" val="1102586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1D588-F778-D2CF-1ED4-6BF4BDCD24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EC4FEB-73B2-2615-E9A1-56D4B5A4D3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885B0C-688E-1C54-8600-CFF6675F1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1A6117-B064-46AA-F0EA-ABEC19A21868}"/>
              </a:ext>
            </a:extLst>
          </p:cNvPr>
          <p:cNvSpPr>
            <a:spLocks noGrp="1"/>
          </p:cNvSpPr>
          <p:nvPr>
            <p:ph type="dt" sz="half" idx="10"/>
          </p:nvPr>
        </p:nvSpPr>
        <p:spPr/>
        <p:txBody>
          <a:bodyPr/>
          <a:lstStyle/>
          <a:p>
            <a:fld id="{0DCADF51-EFE9-42D7-B2EF-117280980217}" type="datetimeFigureOut">
              <a:rPr lang="en-US" smtClean="0"/>
              <a:t>4/2/2026</a:t>
            </a:fld>
            <a:endParaRPr lang="en-US"/>
          </a:p>
        </p:txBody>
      </p:sp>
      <p:sp>
        <p:nvSpPr>
          <p:cNvPr id="6" name="Footer Placeholder 5">
            <a:extLst>
              <a:ext uri="{FF2B5EF4-FFF2-40B4-BE49-F238E27FC236}">
                <a16:creationId xmlns:a16="http://schemas.microsoft.com/office/drawing/2014/main" id="{E31F0611-3839-67D4-7E9C-E8DFC8C34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080D7A-4A1E-A8CC-6AB7-864B82758B7D}"/>
              </a:ext>
            </a:extLst>
          </p:cNvPr>
          <p:cNvSpPr>
            <a:spLocks noGrp="1"/>
          </p:cNvSpPr>
          <p:nvPr>
            <p:ph type="sldNum" sz="quarter" idx="12"/>
          </p:nvPr>
        </p:nvSpPr>
        <p:spPr/>
        <p:txBody>
          <a:bodyPr/>
          <a:lstStyle/>
          <a:p>
            <a:fld id="{A2EFB83F-416B-474C-9F19-9CFF453F4C45}" type="slidenum">
              <a:rPr lang="en-US" smtClean="0"/>
              <a:t>‹#›</a:t>
            </a:fld>
            <a:endParaRPr lang="en-US"/>
          </a:p>
        </p:txBody>
      </p:sp>
    </p:spTree>
    <p:extLst>
      <p:ext uri="{BB962C8B-B14F-4D97-AF65-F5344CB8AC3E}">
        <p14:creationId xmlns:p14="http://schemas.microsoft.com/office/powerpoint/2010/main" val="1253668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79EC-0625-999B-5930-9E8DC8759A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886BD6-E0A3-60D3-7AF6-F6297D5756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8D97CE-BB05-CA85-C131-50107EBF0FA7}"/>
              </a:ext>
            </a:extLst>
          </p:cNvPr>
          <p:cNvSpPr>
            <a:spLocks noGrp="1"/>
          </p:cNvSpPr>
          <p:nvPr>
            <p:ph type="dt" sz="half" idx="10"/>
          </p:nvPr>
        </p:nvSpPr>
        <p:spPr/>
        <p:txBody>
          <a:bodyPr/>
          <a:lstStyle/>
          <a:p>
            <a:fld id="{0DCADF51-EFE9-42D7-B2EF-117280980217}" type="datetimeFigureOut">
              <a:rPr lang="en-US" smtClean="0"/>
              <a:t>4/2/2026</a:t>
            </a:fld>
            <a:endParaRPr lang="en-US"/>
          </a:p>
        </p:txBody>
      </p:sp>
      <p:sp>
        <p:nvSpPr>
          <p:cNvPr id="5" name="Footer Placeholder 4">
            <a:extLst>
              <a:ext uri="{FF2B5EF4-FFF2-40B4-BE49-F238E27FC236}">
                <a16:creationId xmlns:a16="http://schemas.microsoft.com/office/drawing/2014/main" id="{A47BA4CA-7B92-A492-D66F-F97E17FC83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08AD17-FA7B-76A5-68CE-012EA68DD449}"/>
              </a:ext>
            </a:extLst>
          </p:cNvPr>
          <p:cNvSpPr>
            <a:spLocks noGrp="1"/>
          </p:cNvSpPr>
          <p:nvPr>
            <p:ph type="sldNum" sz="quarter" idx="12"/>
          </p:nvPr>
        </p:nvSpPr>
        <p:spPr/>
        <p:txBody>
          <a:bodyPr/>
          <a:lstStyle/>
          <a:p>
            <a:fld id="{A2EFB83F-416B-474C-9F19-9CFF453F4C45}" type="slidenum">
              <a:rPr lang="en-US" smtClean="0"/>
              <a:t>‹#›</a:t>
            </a:fld>
            <a:endParaRPr lang="en-US"/>
          </a:p>
        </p:txBody>
      </p:sp>
    </p:spTree>
    <p:extLst>
      <p:ext uri="{BB962C8B-B14F-4D97-AF65-F5344CB8AC3E}">
        <p14:creationId xmlns:p14="http://schemas.microsoft.com/office/powerpoint/2010/main" val="3004596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542EC2-EC8C-7066-F801-B6477C84DB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2E0A08-05D2-9E8A-7523-5C5DCB726E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C829FC-9034-C14F-CF92-0E6B9E54657B}"/>
              </a:ext>
            </a:extLst>
          </p:cNvPr>
          <p:cNvSpPr>
            <a:spLocks noGrp="1"/>
          </p:cNvSpPr>
          <p:nvPr>
            <p:ph type="dt" sz="half" idx="10"/>
          </p:nvPr>
        </p:nvSpPr>
        <p:spPr/>
        <p:txBody>
          <a:bodyPr/>
          <a:lstStyle/>
          <a:p>
            <a:fld id="{0DCADF51-EFE9-42D7-B2EF-117280980217}" type="datetimeFigureOut">
              <a:rPr lang="en-US" smtClean="0"/>
              <a:t>4/2/2026</a:t>
            </a:fld>
            <a:endParaRPr lang="en-US"/>
          </a:p>
        </p:txBody>
      </p:sp>
      <p:sp>
        <p:nvSpPr>
          <p:cNvPr id="5" name="Footer Placeholder 4">
            <a:extLst>
              <a:ext uri="{FF2B5EF4-FFF2-40B4-BE49-F238E27FC236}">
                <a16:creationId xmlns:a16="http://schemas.microsoft.com/office/drawing/2014/main" id="{6766668F-09FA-E667-8F48-739121C76A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0064CB-DE49-094F-FA41-08C77B9FA8C4}"/>
              </a:ext>
            </a:extLst>
          </p:cNvPr>
          <p:cNvSpPr>
            <a:spLocks noGrp="1"/>
          </p:cNvSpPr>
          <p:nvPr>
            <p:ph type="sldNum" sz="quarter" idx="12"/>
          </p:nvPr>
        </p:nvSpPr>
        <p:spPr/>
        <p:txBody>
          <a:bodyPr/>
          <a:lstStyle/>
          <a:p>
            <a:fld id="{A2EFB83F-416B-474C-9F19-9CFF453F4C45}" type="slidenum">
              <a:rPr lang="en-US" smtClean="0"/>
              <a:t>‹#›</a:t>
            </a:fld>
            <a:endParaRPr lang="en-US"/>
          </a:p>
        </p:txBody>
      </p:sp>
    </p:spTree>
    <p:extLst>
      <p:ext uri="{BB962C8B-B14F-4D97-AF65-F5344CB8AC3E}">
        <p14:creationId xmlns:p14="http://schemas.microsoft.com/office/powerpoint/2010/main" val="2671372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1C36C0-3CC3-9BAA-29B0-459980A4C7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CF5832F-F5A4-8FC4-3577-C5FF7E868E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E39822-B3EF-25F8-CBF9-18CA485F78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CADF51-EFE9-42D7-B2EF-117280980217}" type="datetimeFigureOut">
              <a:rPr lang="en-US" smtClean="0"/>
              <a:t>4/2/2026</a:t>
            </a:fld>
            <a:endParaRPr lang="en-US"/>
          </a:p>
        </p:txBody>
      </p:sp>
      <p:sp>
        <p:nvSpPr>
          <p:cNvPr id="5" name="Footer Placeholder 4">
            <a:extLst>
              <a:ext uri="{FF2B5EF4-FFF2-40B4-BE49-F238E27FC236}">
                <a16:creationId xmlns:a16="http://schemas.microsoft.com/office/drawing/2014/main" id="{C6D88115-353B-B868-8057-6BA717396C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43C8BE-67F8-17CA-31E7-08B5CEC7B8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EFB83F-416B-474C-9F19-9CFF453F4C45}" type="slidenum">
              <a:rPr lang="en-US" smtClean="0"/>
              <a:t>‹#›</a:t>
            </a:fld>
            <a:endParaRPr lang="en-US"/>
          </a:p>
        </p:txBody>
      </p:sp>
    </p:spTree>
    <p:extLst>
      <p:ext uri="{BB962C8B-B14F-4D97-AF65-F5344CB8AC3E}">
        <p14:creationId xmlns:p14="http://schemas.microsoft.com/office/powerpoint/2010/main" val="2773607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F6EF-CC4B-3E67-99B1-542FDDEBBA9F}"/>
              </a:ext>
            </a:extLst>
          </p:cNvPr>
          <p:cNvSpPr>
            <a:spLocks noGrp="1"/>
          </p:cNvSpPr>
          <p:nvPr>
            <p:ph type="ctrTitle"/>
          </p:nvPr>
        </p:nvSpPr>
        <p:spPr/>
        <p:txBody>
          <a:bodyPr/>
          <a:lstStyle/>
          <a:p>
            <a:r>
              <a:rPr lang="zh-TW" altLang="en-US"/>
              <a:t>共模雜訊</a:t>
            </a:r>
            <a:endParaRPr lang="en-US"/>
          </a:p>
        </p:txBody>
      </p:sp>
    </p:spTree>
    <p:extLst>
      <p:ext uri="{BB962C8B-B14F-4D97-AF65-F5344CB8AC3E}">
        <p14:creationId xmlns:p14="http://schemas.microsoft.com/office/powerpoint/2010/main" val="1544569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51A98-D97F-3E8D-FF8F-36A34EC4C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D4D380-D8A3-FE66-D87C-4B1F17489B64}"/>
              </a:ext>
            </a:extLst>
          </p:cNvPr>
          <p:cNvSpPr>
            <a:spLocks noGrp="1"/>
          </p:cNvSpPr>
          <p:nvPr>
            <p:ph type="title"/>
          </p:nvPr>
        </p:nvSpPr>
        <p:spPr>
          <a:xfrm>
            <a:off x="0" y="-1"/>
            <a:ext cx="12192000" cy="1371601"/>
          </a:xfrm>
        </p:spPr>
        <p:txBody>
          <a:bodyPr>
            <a:normAutofit/>
          </a:bodyPr>
          <a:lstStyle/>
          <a:p>
            <a:r>
              <a:rPr lang="zh-TW" altLang="en-US"/>
              <a:t>雜訊：串音</a:t>
            </a:r>
            <a:endParaRPr lang="en-US"/>
          </a:p>
        </p:txBody>
      </p:sp>
      <p:sp>
        <p:nvSpPr>
          <p:cNvPr id="6" name="Rectangle 5">
            <a:extLst>
              <a:ext uri="{FF2B5EF4-FFF2-40B4-BE49-F238E27FC236}">
                <a16:creationId xmlns:a16="http://schemas.microsoft.com/office/drawing/2014/main" id="{0D27E8DD-CD2C-D2B5-4854-313491AFFDDE}"/>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8A7B5DC-F9D9-B816-821A-C87BC7534807}"/>
              </a:ext>
            </a:extLst>
          </p:cNvPr>
          <p:cNvSpPr txBox="1"/>
          <p:nvPr/>
        </p:nvSpPr>
        <p:spPr>
          <a:xfrm>
            <a:off x="6566848" y="1746547"/>
            <a:ext cx="920364" cy="369332"/>
          </a:xfrm>
          <a:prstGeom prst="rect">
            <a:avLst/>
          </a:prstGeom>
          <a:noFill/>
        </p:spPr>
        <p:txBody>
          <a:bodyPr wrap="square" rtlCol="0">
            <a:spAutoFit/>
          </a:bodyPr>
          <a:lstStyle/>
          <a:p>
            <a:r>
              <a:rPr lang="zh-TW" altLang="en-US">
                <a:solidFill>
                  <a:schemeClr val="bg1"/>
                </a:solidFill>
              </a:rPr>
              <a:t>晶振</a:t>
            </a:r>
            <a:endParaRPr lang="en-US">
              <a:solidFill>
                <a:schemeClr val="bg1"/>
              </a:solidFill>
            </a:endParaRPr>
          </a:p>
        </p:txBody>
      </p:sp>
      <p:pic>
        <p:nvPicPr>
          <p:cNvPr id="7" name="Picture 6">
            <a:extLst>
              <a:ext uri="{FF2B5EF4-FFF2-40B4-BE49-F238E27FC236}">
                <a16:creationId xmlns:a16="http://schemas.microsoft.com/office/drawing/2014/main" id="{07999198-6699-D1AE-0026-8885CA9D6515}"/>
              </a:ext>
            </a:extLst>
          </p:cNvPr>
          <p:cNvPicPr>
            <a:picLocks noChangeAspect="1"/>
          </p:cNvPicPr>
          <p:nvPr/>
        </p:nvPicPr>
        <p:blipFill>
          <a:blip r:embed="rId3"/>
          <a:stretch>
            <a:fillRect/>
          </a:stretch>
        </p:blipFill>
        <p:spPr>
          <a:xfrm>
            <a:off x="1094677" y="3225635"/>
            <a:ext cx="10002646" cy="2943636"/>
          </a:xfrm>
          <a:prstGeom prst="rect">
            <a:avLst/>
          </a:prstGeom>
        </p:spPr>
      </p:pic>
      <p:pic>
        <p:nvPicPr>
          <p:cNvPr id="10244" name="Picture 4" descr="Crosstalk - Practical EE">
            <a:extLst>
              <a:ext uri="{FF2B5EF4-FFF2-40B4-BE49-F238E27FC236}">
                <a16:creationId xmlns:a16="http://schemas.microsoft.com/office/drawing/2014/main" id="{DB5588D6-F8BF-9E05-C222-B496000859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1965" y="713769"/>
            <a:ext cx="4486275" cy="1743075"/>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993F3BA1-EC0E-CE75-7389-72D81A414152}"/>
              </a:ext>
            </a:extLst>
          </p:cNvPr>
          <p:cNvCxnSpPr/>
          <p:nvPr/>
        </p:nvCxnSpPr>
        <p:spPr>
          <a:xfrm flipV="1">
            <a:off x="4960883" y="2627586"/>
            <a:ext cx="1019503" cy="80141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36FD2A65-9EC3-E4DF-0FA3-38302002B3E8}"/>
              </a:ext>
            </a:extLst>
          </p:cNvPr>
          <p:cNvSpPr txBox="1"/>
          <p:nvPr/>
        </p:nvSpPr>
        <p:spPr>
          <a:xfrm>
            <a:off x="6096000" y="2671105"/>
            <a:ext cx="3952240" cy="369332"/>
          </a:xfrm>
          <a:prstGeom prst="rect">
            <a:avLst/>
          </a:prstGeom>
          <a:noFill/>
        </p:spPr>
        <p:txBody>
          <a:bodyPr wrap="square" rtlCol="0">
            <a:spAutoFit/>
          </a:bodyPr>
          <a:lstStyle/>
          <a:p>
            <a:r>
              <a:rPr lang="en-US" altLang="zh-TW"/>
              <a:t>PCB </a:t>
            </a:r>
            <a:r>
              <a:rPr lang="zh-TW" altLang="en-US"/>
              <a:t>電路中寄生元件的建模</a:t>
            </a:r>
            <a:endParaRPr lang="en-US"/>
          </a:p>
        </p:txBody>
      </p:sp>
      <p:sp>
        <p:nvSpPr>
          <p:cNvPr id="17" name="TextBox 16">
            <a:extLst>
              <a:ext uri="{FF2B5EF4-FFF2-40B4-BE49-F238E27FC236}">
                <a16:creationId xmlns:a16="http://schemas.microsoft.com/office/drawing/2014/main" id="{85C81049-2A30-D772-63A7-1C045BF96432}"/>
              </a:ext>
            </a:extLst>
          </p:cNvPr>
          <p:cNvSpPr txBox="1"/>
          <p:nvPr/>
        </p:nvSpPr>
        <p:spPr>
          <a:xfrm>
            <a:off x="0" y="1030097"/>
            <a:ext cx="5344751" cy="1688667"/>
          </a:xfrm>
          <a:prstGeom prst="rect">
            <a:avLst/>
          </a:prstGeom>
          <a:noFill/>
        </p:spPr>
        <p:txBody>
          <a:bodyPr wrap="square">
            <a:spAutoFit/>
          </a:bodyPr>
          <a:lstStyle/>
          <a:p>
            <a:pPr algn="just">
              <a:lnSpc>
                <a:spcPct val="150000"/>
              </a:lnSpc>
            </a:pPr>
            <a:r>
              <a:rPr lang="en-US" altLang="zh-TW" sz="2400"/>
              <a:t>PCB </a:t>
            </a:r>
            <a:r>
              <a:rPr lang="zh-TW" altLang="en-US" sz="2400"/>
              <a:t>設計中的串擾（</a:t>
            </a:r>
            <a:r>
              <a:rPr lang="en-US" altLang="zh-TW" sz="2400"/>
              <a:t>Crosstalk</a:t>
            </a:r>
            <a:r>
              <a:rPr lang="zh-TW" altLang="en-US" sz="2400"/>
              <a:t>）是指信號從一條走線耦合到另一條鄰近走線時，所產生的不必要電磁干擾</a:t>
            </a: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9863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E4D60-A1E5-9064-5210-694612F77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D0B4EE-187D-05E1-2525-517F6B4EA413}"/>
              </a:ext>
            </a:extLst>
          </p:cNvPr>
          <p:cNvSpPr>
            <a:spLocks noGrp="1"/>
          </p:cNvSpPr>
          <p:nvPr>
            <p:ph type="title"/>
          </p:nvPr>
        </p:nvSpPr>
        <p:spPr>
          <a:xfrm>
            <a:off x="0" y="-1"/>
            <a:ext cx="12192000" cy="782321"/>
          </a:xfrm>
        </p:spPr>
        <p:txBody>
          <a:bodyPr>
            <a:normAutofit/>
          </a:bodyPr>
          <a:lstStyle/>
          <a:p>
            <a:r>
              <a:rPr lang="zh-TW" altLang="en-US"/>
              <a:t>雜訊：串音</a:t>
            </a:r>
            <a:endParaRPr lang="en-US"/>
          </a:p>
        </p:txBody>
      </p:sp>
      <p:sp>
        <p:nvSpPr>
          <p:cNvPr id="6" name="Rectangle 5">
            <a:extLst>
              <a:ext uri="{FF2B5EF4-FFF2-40B4-BE49-F238E27FC236}">
                <a16:creationId xmlns:a16="http://schemas.microsoft.com/office/drawing/2014/main" id="{1068E0A3-D9DD-A36B-B216-EBDDC2748DCD}"/>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859C01-2433-65C3-CB88-3C282080B003}"/>
              </a:ext>
            </a:extLst>
          </p:cNvPr>
          <p:cNvSpPr txBox="1"/>
          <p:nvPr/>
        </p:nvSpPr>
        <p:spPr>
          <a:xfrm>
            <a:off x="6566848" y="1746547"/>
            <a:ext cx="920364" cy="369332"/>
          </a:xfrm>
          <a:prstGeom prst="rect">
            <a:avLst/>
          </a:prstGeom>
          <a:noFill/>
        </p:spPr>
        <p:txBody>
          <a:bodyPr wrap="square" rtlCol="0">
            <a:spAutoFit/>
          </a:bodyPr>
          <a:lstStyle/>
          <a:p>
            <a:r>
              <a:rPr lang="zh-TW" altLang="en-US">
                <a:solidFill>
                  <a:schemeClr val="bg1"/>
                </a:solidFill>
              </a:rPr>
              <a:t>晶振</a:t>
            </a:r>
            <a:endParaRPr lang="en-US">
              <a:solidFill>
                <a:schemeClr val="bg1"/>
              </a:solidFill>
            </a:endParaRPr>
          </a:p>
        </p:txBody>
      </p:sp>
      <p:pic>
        <p:nvPicPr>
          <p:cNvPr id="10244" name="Picture 4" descr="Crosstalk - Practical EE">
            <a:extLst>
              <a:ext uri="{FF2B5EF4-FFF2-40B4-BE49-F238E27FC236}">
                <a16:creationId xmlns:a16="http://schemas.microsoft.com/office/drawing/2014/main" id="{490F6A43-97CC-0EBC-EA90-613AE98F06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7212" y="2044759"/>
            <a:ext cx="4486275" cy="17430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CFAACED-0E58-4E2A-A11B-9FC0DBEAF0CC}"/>
              </a:ext>
            </a:extLst>
          </p:cNvPr>
          <p:cNvSpPr txBox="1"/>
          <p:nvPr/>
        </p:nvSpPr>
        <p:spPr>
          <a:xfrm>
            <a:off x="0" y="1272776"/>
            <a:ext cx="7279005" cy="335066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zh-TW" altLang="en-US" sz="2400"/>
              <a:t>串擾發生於一條走線的信號因電磁耦合而無意中干擾到另一條走線時</a:t>
            </a:r>
            <a:r>
              <a:rPr lang="en-US" sz="2200" b="0" i="0">
                <a:solidFill>
                  <a:srgbClr val="191919"/>
                </a:solidFill>
                <a:effectLst/>
                <a:latin typeface="Arial" panose="020B0604020202020204" pitchFamily="34" charset="0"/>
                <a:cs typeface="Arial" panose="020B0604020202020204" pitchFamily="34" charset="0"/>
              </a:rPr>
              <a:t>
</a:t>
            </a:r>
            <a:r>
              <a:rPr lang="zh-TW" altLang="en-US" sz="2400"/>
              <a:t>電容耦合發生於一條走線中變化的電壓在鄰近走線產生不必要的電壓時，其行為類似於微小電容</a:t>
            </a:r>
            <a:r>
              <a:rPr lang="en-US" altLang="zh-TW" sz="2200" b="0" i="0">
                <a:solidFill>
                  <a:srgbClr val="191919"/>
                </a:solidFill>
                <a:effectLst/>
                <a:latin typeface="Arial" panose="020B0604020202020204" pitchFamily="34" charset="0"/>
                <a:cs typeface="Arial" panose="020B0604020202020204" pitchFamily="34" charset="0"/>
              </a:rPr>
              <a:t>
</a:t>
            </a:r>
            <a:r>
              <a:rPr lang="zh-TW" altLang="en-US" sz="2400"/>
              <a:t>電感耦合發生於一條走線中變化的電流感應出另一條走線的電流時，其行為類似於變壓器</a:t>
            </a:r>
            <a:endParaRPr lang="en-US" sz="2200" b="0" i="0">
              <a:solidFill>
                <a:srgbClr val="191919"/>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8871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B0CE5-D160-70A4-C587-24896FAE8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566D4-3D06-6297-980C-7AB582B53BF5}"/>
              </a:ext>
            </a:extLst>
          </p:cNvPr>
          <p:cNvSpPr>
            <a:spLocks noGrp="1"/>
          </p:cNvSpPr>
          <p:nvPr>
            <p:ph type="title"/>
          </p:nvPr>
        </p:nvSpPr>
        <p:spPr>
          <a:xfrm>
            <a:off x="0" y="-1"/>
            <a:ext cx="12192000" cy="782321"/>
          </a:xfrm>
        </p:spPr>
        <p:txBody>
          <a:bodyPr>
            <a:normAutofit/>
          </a:bodyPr>
          <a:lstStyle/>
          <a:p>
            <a:r>
              <a:rPr lang="zh-TW" altLang="en-US"/>
              <a:t>雜訊：串音</a:t>
            </a:r>
            <a:endParaRPr lang="en-US"/>
          </a:p>
        </p:txBody>
      </p:sp>
      <p:sp>
        <p:nvSpPr>
          <p:cNvPr id="6" name="Rectangle 5">
            <a:extLst>
              <a:ext uri="{FF2B5EF4-FFF2-40B4-BE49-F238E27FC236}">
                <a16:creationId xmlns:a16="http://schemas.microsoft.com/office/drawing/2014/main" id="{7D8E5757-CEFC-2C23-23AD-4976F7900227}"/>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1DA5ADE-33F0-395C-D6E3-C10FC5F224F6}"/>
              </a:ext>
            </a:extLst>
          </p:cNvPr>
          <p:cNvSpPr txBox="1"/>
          <p:nvPr/>
        </p:nvSpPr>
        <p:spPr>
          <a:xfrm>
            <a:off x="6566848" y="1746547"/>
            <a:ext cx="920364" cy="369332"/>
          </a:xfrm>
          <a:prstGeom prst="rect">
            <a:avLst/>
          </a:prstGeom>
          <a:noFill/>
        </p:spPr>
        <p:txBody>
          <a:bodyPr wrap="square" rtlCol="0">
            <a:spAutoFit/>
          </a:bodyPr>
          <a:lstStyle/>
          <a:p>
            <a:r>
              <a:rPr lang="zh-TW" altLang="en-US">
                <a:solidFill>
                  <a:schemeClr val="bg1"/>
                </a:solidFill>
              </a:rPr>
              <a:t>晶振</a:t>
            </a:r>
            <a:endParaRPr lang="en-US">
              <a:solidFill>
                <a:schemeClr val="bg1"/>
              </a:solidFill>
            </a:endParaRPr>
          </a:p>
        </p:txBody>
      </p:sp>
      <p:pic>
        <p:nvPicPr>
          <p:cNvPr id="11266" name="Picture 2" descr="Crosstalk between microstrip transmission lines – Ansys Optics">
            <a:extLst>
              <a:ext uri="{FF2B5EF4-FFF2-40B4-BE49-F238E27FC236}">
                <a16:creationId xmlns:a16="http://schemas.microsoft.com/office/drawing/2014/main" id="{9E70533D-0537-2818-4761-DFF98A9CC2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6757" y="1858153"/>
            <a:ext cx="5594648" cy="25349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E63CD27-72A5-EE0F-C9FA-BFC8F5299C25}"/>
              </a:ext>
            </a:extLst>
          </p:cNvPr>
          <p:cNvSpPr txBox="1"/>
          <p:nvPr/>
        </p:nvSpPr>
        <p:spPr>
          <a:xfrm>
            <a:off x="0" y="782320"/>
            <a:ext cx="6566848" cy="5563831"/>
          </a:xfrm>
          <a:prstGeom prst="rect">
            <a:avLst/>
          </a:prstGeom>
          <a:noFill/>
        </p:spPr>
        <p:txBody>
          <a:bodyPr wrap="square">
            <a:spAutoFit/>
          </a:bodyPr>
          <a:lstStyle/>
          <a:p>
            <a:pPr>
              <a:lnSpc>
                <a:spcPct val="150000"/>
              </a:lnSpc>
              <a:buNone/>
            </a:pPr>
            <a:r>
              <a:rPr lang="zh-TW" altLang="en-US" sz="2400"/>
              <a:t>影響 </a:t>
            </a:r>
            <a:r>
              <a:rPr lang="en-US" altLang="zh-TW" sz="2400"/>
              <a:t>PCB </a:t>
            </a:r>
            <a:r>
              <a:rPr lang="zh-TW" altLang="en-US" sz="2400"/>
              <a:t>串擾的關鍵因素</a:t>
            </a:r>
            <a:r>
              <a:rPr lang="en-US" altLang="zh-TW" sz="2400"/>
              <a:t>:</a:t>
            </a:r>
            <a:endParaRPr lang="en-US" sz="2400" b="1">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zh-TW" altLang="en-US" sz="2400" b="1"/>
              <a:t>緊密的走線間距 </a:t>
            </a:r>
            <a:r>
              <a:rPr lang="en-US" altLang="zh-TW" sz="2400" b="1"/>
              <a:t>(</a:t>
            </a:r>
            <a:r>
              <a:rPr lang="en-US" sz="2400" b="1"/>
              <a:t>Tight Trace Spacing) :</a:t>
            </a:r>
            <a:r>
              <a:rPr lang="zh-TW" altLang="en-US" sz="2400" b="1"/>
              <a:t>更靠近的走線會增加電磁耦合。</a:t>
            </a:r>
            <a:endParaRPr lang="zh-TW" altLang="en-US" sz="2400"/>
          </a:p>
          <a:p>
            <a:pPr marL="342900" indent="-342900">
              <a:lnSpc>
                <a:spcPct val="150000"/>
              </a:lnSpc>
              <a:buFont typeface="Arial" panose="020B0604020202020204" pitchFamily="34" charset="0"/>
              <a:buChar char="•"/>
            </a:pPr>
            <a:r>
              <a:rPr lang="zh-TW" altLang="en-US" sz="2400" b="1"/>
              <a:t>平行佈線 </a:t>
            </a:r>
            <a:r>
              <a:rPr lang="en-US" altLang="zh-TW" sz="2400" b="1"/>
              <a:t>(Parallel Routing): </a:t>
            </a:r>
            <a:r>
              <a:rPr lang="zh-TW" altLang="en-US" sz="2400" b="1"/>
              <a:t>長距離的平行路徑會放大信號干擾。</a:t>
            </a:r>
            <a:endParaRPr lang="zh-TW" altLang="en-US" sz="2400"/>
          </a:p>
          <a:p>
            <a:pPr marL="342900" indent="-342900">
              <a:lnSpc>
                <a:spcPct val="150000"/>
              </a:lnSpc>
              <a:buFont typeface="Arial" panose="020B0604020202020204" pitchFamily="34" charset="0"/>
              <a:buChar char="•"/>
            </a:pPr>
            <a:r>
              <a:rPr lang="zh-TW" altLang="en-US" sz="2400" b="1"/>
              <a:t>高上升時間 </a:t>
            </a:r>
            <a:r>
              <a:rPr lang="en-US" altLang="zh-TW" sz="2400" b="1"/>
              <a:t>(</a:t>
            </a:r>
            <a:r>
              <a:rPr lang="en-US" sz="2400" b="1"/>
              <a:t>High Rise Times): </a:t>
            </a:r>
            <a:r>
              <a:rPr lang="zh-TW" altLang="en-US" sz="2400" b="1"/>
              <a:t>更快的信號轉換會產生更強的電磁場</a:t>
            </a:r>
            <a:r>
              <a:rPr lang="en-US" sz="2400" b="1">
                <a:latin typeface="Arial" panose="020B0604020202020204" pitchFamily="34" charset="0"/>
                <a:cs typeface="Arial" panose="020B0604020202020204" pitchFamily="34" charset="0"/>
              </a:rPr>
              <a:t>
</a:t>
            </a:r>
            <a:r>
              <a:rPr lang="zh-TW" altLang="en-US" sz="2400" b="1"/>
              <a:t> 薄介電層 </a:t>
            </a:r>
            <a:r>
              <a:rPr lang="en-US" altLang="zh-TW" sz="2400" b="1"/>
              <a:t>(</a:t>
            </a:r>
            <a:r>
              <a:rPr lang="en-US" sz="2400" b="1"/>
              <a:t>Thin Dielectric Layers): </a:t>
            </a:r>
            <a:r>
              <a:rPr lang="zh-TW" altLang="en-US" sz="2400" b="1"/>
              <a:t>不良的圖層疊構會增強層間耦合。</a:t>
            </a:r>
            <a:endParaRPr lang="zh-TW" altLang="en-US" sz="2400"/>
          </a:p>
          <a:p>
            <a:pPr>
              <a:lnSpc>
                <a:spcPct val="150000"/>
              </a:lnSpc>
            </a:pP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694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B98A5-5A5C-A95C-BA04-4130A9A7D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0F4A2-D6D5-9C0B-D06B-EC03AF32378E}"/>
              </a:ext>
            </a:extLst>
          </p:cNvPr>
          <p:cNvSpPr>
            <a:spLocks noGrp="1"/>
          </p:cNvSpPr>
          <p:nvPr>
            <p:ph type="title"/>
          </p:nvPr>
        </p:nvSpPr>
        <p:spPr>
          <a:xfrm>
            <a:off x="0" y="-1"/>
            <a:ext cx="12192000" cy="782321"/>
          </a:xfrm>
        </p:spPr>
        <p:txBody>
          <a:bodyPr>
            <a:normAutofit/>
          </a:bodyPr>
          <a:lstStyle/>
          <a:p>
            <a:r>
              <a:rPr lang="zh-TW" altLang="en-US"/>
              <a:t>雜訊： </a:t>
            </a:r>
            <a:r>
              <a:rPr lang="en-US"/>
              <a:t>Crosstalk noise effect</a:t>
            </a:r>
          </a:p>
        </p:txBody>
      </p:sp>
      <p:sp>
        <p:nvSpPr>
          <p:cNvPr id="6" name="Rectangle 5">
            <a:extLst>
              <a:ext uri="{FF2B5EF4-FFF2-40B4-BE49-F238E27FC236}">
                <a16:creationId xmlns:a16="http://schemas.microsoft.com/office/drawing/2014/main" id="{A7F3B3AF-6719-5BF8-84A3-9EF7ADB176C7}"/>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E4A9FAB-DD04-D003-637C-731B75DB3571}"/>
              </a:ext>
            </a:extLst>
          </p:cNvPr>
          <p:cNvSpPr txBox="1"/>
          <p:nvPr/>
        </p:nvSpPr>
        <p:spPr>
          <a:xfrm>
            <a:off x="6566848" y="1746547"/>
            <a:ext cx="920364" cy="369332"/>
          </a:xfrm>
          <a:prstGeom prst="rect">
            <a:avLst/>
          </a:prstGeom>
          <a:noFill/>
        </p:spPr>
        <p:txBody>
          <a:bodyPr wrap="square" rtlCol="0">
            <a:spAutoFit/>
          </a:bodyPr>
          <a:lstStyle/>
          <a:p>
            <a:r>
              <a:rPr lang="zh-TW" altLang="en-US">
                <a:solidFill>
                  <a:schemeClr val="bg1"/>
                </a:solidFill>
              </a:rPr>
              <a:t>晶振</a:t>
            </a:r>
            <a:endParaRPr lang="en-US">
              <a:solidFill>
                <a:schemeClr val="bg1"/>
              </a:solidFill>
            </a:endParaRPr>
          </a:p>
        </p:txBody>
      </p:sp>
      <p:sp>
        <p:nvSpPr>
          <p:cNvPr id="5" name="TextBox 4">
            <a:extLst>
              <a:ext uri="{FF2B5EF4-FFF2-40B4-BE49-F238E27FC236}">
                <a16:creationId xmlns:a16="http://schemas.microsoft.com/office/drawing/2014/main" id="{97A50C92-6817-9535-F03B-66B5574A69A2}"/>
              </a:ext>
            </a:extLst>
          </p:cNvPr>
          <p:cNvSpPr txBox="1"/>
          <p:nvPr/>
        </p:nvSpPr>
        <p:spPr>
          <a:xfrm>
            <a:off x="0" y="667211"/>
            <a:ext cx="12192000" cy="280640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zh-TW" sz="2400" b="1"/>
              <a:t>PCB </a:t>
            </a:r>
            <a:r>
              <a:rPr lang="zh-TW" altLang="en-US" sz="2400" b="1"/>
              <a:t>串音的影響
訊號完整性下降：在高速電路中造成資料錯誤、雜訊與波形失真。
</a:t>
            </a:r>
            <a:r>
              <a:rPr lang="en-US" altLang="zh-TW" sz="2400" b="1"/>
              <a:t>ADC </a:t>
            </a:r>
            <a:r>
              <a:rPr lang="zh-TW" altLang="en-US" sz="2400" b="1"/>
              <a:t>不準確：引入電壓波動，導致精密類比電路中的感測器讀值錯誤。
時序與同步失敗：造成時鐘抖動與訊號延遲，影響處理器與記憶體介面。
</a:t>
            </a:r>
            <a:r>
              <a:rPr lang="en-US" altLang="zh-TW" sz="2400" b="1"/>
              <a:t>EMI </a:t>
            </a:r>
            <a:r>
              <a:rPr lang="zh-TW" altLang="en-US" sz="2400" b="1"/>
              <a:t>規範問題：增加電磁輻射，造成系統層級干擾與法規不符合。</a:t>
            </a:r>
            <a:endParaRPr lang="en-US" sz="2400"/>
          </a:p>
        </p:txBody>
      </p:sp>
      <p:pic>
        <p:nvPicPr>
          <p:cNvPr id="7" name="Picture 6">
            <a:extLst>
              <a:ext uri="{FF2B5EF4-FFF2-40B4-BE49-F238E27FC236}">
                <a16:creationId xmlns:a16="http://schemas.microsoft.com/office/drawing/2014/main" id="{88EFC39D-B77D-D91C-6983-A2FAAF742F5C}"/>
              </a:ext>
            </a:extLst>
          </p:cNvPr>
          <p:cNvPicPr>
            <a:picLocks noChangeAspect="1"/>
          </p:cNvPicPr>
          <p:nvPr/>
        </p:nvPicPr>
        <p:blipFill>
          <a:blip r:embed="rId3"/>
          <a:stretch>
            <a:fillRect/>
          </a:stretch>
        </p:blipFill>
        <p:spPr>
          <a:xfrm>
            <a:off x="1411514" y="3800370"/>
            <a:ext cx="9221487" cy="2810267"/>
          </a:xfrm>
          <a:prstGeom prst="rect">
            <a:avLst/>
          </a:prstGeom>
        </p:spPr>
      </p:pic>
    </p:spTree>
    <p:extLst>
      <p:ext uri="{BB962C8B-B14F-4D97-AF65-F5344CB8AC3E}">
        <p14:creationId xmlns:p14="http://schemas.microsoft.com/office/powerpoint/2010/main" val="16570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6616B-14FE-041D-AA99-FC69E52E50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7D201A-55CA-6BFE-CF5E-CC59F5D6741D}"/>
              </a:ext>
            </a:extLst>
          </p:cNvPr>
          <p:cNvSpPr>
            <a:spLocks noGrp="1"/>
          </p:cNvSpPr>
          <p:nvPr>
            <p:ph type="title"/>
          </p:nvPr>
        </p:nvSpPr>
        <p:spPr>
          <a:xfrm>
            <a:off x="0" y="-1"/>
            <a:ext cx="12192000" cy="782321"/>
          </a:xfrm>
        </p:spPr>
        <p:txBody>
          <a:bodyPr>
            <a:normAutofit/>
          </a:bodyPr>
          <a:lstStyle/>
          <a:p>
            <a:r>
              <a:rPr lang="zh-TW" altLang="en-US"/>
              <a:t>雜訊： </a:t>
            </a:r>
            <a:r>
              <a:rPr lang="en-US"/>
              <a:t>Crosstalk noise effect</a:t>
            </a:r>
          </a:p>
        </p:txBody>
      </p:sp>
      <p:sp>
        <p:nvSpPr>
          <p:cNvPr id="6" name="Rectangle 5">
            <a:extLst>
              <a:ext uri="{FF2B5EF4-FFF2-40B4-BE49-F238E27FC236}">
                <a16:creationId xmlns:a16="http://schemas.microsoft.com/office/drawing/2014/main" id="{5A482073-891D-CC76-9B40-ECD64136C120}"/>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A13C688-C214-DE91-A02A-C177643161AD}"/>
              </a:ext>
            </a:extLst>
          </p:cNvPr>
          <p:cNvSpPr txBox="1"/>
          <p:nvPr/>
        </p:nvSpPr>
        <p:spPr>
          <a:xfrm>
            <a:off x="6566848" y="1746547"/>
            <a:ext cx="920364" cy="369332"/>
          </a:xfrm>
          <a:prstGeom prst="rect">
            <a:avLst/>
          </a:prstGeom>
          <a:noFill/>
        </p:spPr>
        <p:txBody>
          <a:bodyPr wrap="square" rtlCol="0">
            <a:spAutoFit/>
          </a:bodyPr>
          <a:lstStyle/>
          <a:p>
            <a:r>
              <a:rPr lang="zh-TW" altLang="en-US">
                <a:solidFill>
                  <a:schemeClr val="bg1"/>
                </a:solidFill>
              </a:rPr>
              <a:t>晶振</a:t>
            </a:r>
            <a:endParaRPr lang="en-US">
              <a:solidFill>
                <a:schemeClr val="bg1"/>
              </a:solidFill>
            </a:endParaRPr>
          </a:p>
        </p:txBody>
      </p:sp>
      <p:sp>
        <p:nvSpPr>
          <p:cNvPr id="5" name="TextBox 4">
            <a:extLst>
              <a:ext uri="{FF2B5EF4-FFF2-40B4-BE49-F238E27FC236}">
                <a16:creationId xmlns:a16="http://schemas.microsoft.com/office/drawing/2014/main" id="{162EF31D-5B03-2EBE-5744-5C810F7852AD}"/>
              </a:ext>
            </a:extLst>
          </p:cNvPr>
          <p:cNvSpPr txBox="1"/>
          <p:nvPr/>
        </p:nvSpPr>
        <p:spPr>
          <a:xfrm>
            <a:off x="0" y="1136281"/>
            <a:ext cx="12192000" cy="4422236"/>
          </a:xfrm>
          <a:prstGeom prst="rect">
            <a:avLst/>
          </a:prstGeom>
          <a:noFill/>
        </p:spPr>
        <p:txBody>
          <a:bodyPr wrap="square">
            <a:spAutoFit/>
          </a:bodyPr>
          <a:lstStyle/>
          <a:p>
            <a:pPr>
              <a:lnSpc>
                <a:spcPct val="200000"/>
              </a:lnSpc>
            </a:pPr>
            <a:r>
              <a:rPr lang="zh-TW" altLang="en-US" sz="2400" b="1"/>
              <a:t>可接受串音水準的影響因素</a:t>
            </a:r>
            <a:endParaRPr lang="zh-TW" altLang="en-US" sz="2400"/>
          </a:p>
          <a:p>
            <a:pPr>
              <a:lnSpc>
                <a:spcPct val="200000"/>
              </a:lnSpc>
            </a:pPr>
            <a:r>
              <a:rPr lang="zh-TW" altLang="en-US" sz="2400" b="1"/>
              <a:t>訊號類型敏感度：</a:t>
            </a:r>
            <a:r>
              <a:rPr lang="zh-TW" altLang="en-US" sz="2400"/>
              <a:t> 類比訊號（例如 </a:t>
            </a:r>
            <a:r>
              <a:rPr lang="en-US" altLang="zh-TW" sz="2400"/>
              <a:t>ADC</a:t>
            </a:r>
            <a:r>
              <a:rPr lang="zh-TW" altLang="en-US" sz="2400"/>
              <a:t>）因精度要求較高，其容忍度通常低於數位訊號。 </a:t>
            </a:r>
          </a:p>
          <a:p>
            <a:pPr>
              <a:lnSpc>
                <a:spcPct val="200000"/>
              </a:lnSpc>
            </a:pPr>
            <a:r>
              <a:rPr lang="zh-TW" altLang="en-US" sz="2400" b="1"/>
              <a:t>操作頻率：</a:t>
            </a:r>
            <a:r>
              <a:rPr lang="zh-TW" altLang="en-US" sz="2400"/>
              <a:t> 較高的頻率與較快的上升時間會增加電磁耦合與干擾的風險。 </a:t>
            </a:r>
          </a:p>
          <a:p>
            <a:pPr>
              <a:lnSpc>
                <a:spcPct val="200000"/>
              </a:lnSpc>
            </a:pPr>
            <a:r>
              <a:rPr lang="zh-TW" altLang="en-US" sz="2400" b="1"/>
              <a:t>電壓裕度：</a:t>
            </a:r>
            <a:r>
              <a:rPr lang="zh-TW" altLang="en-US" sz="2400"/>
              <a:t> 當電壓容差較嚴格時，即使是微小的感應串音電壓也可能對電路造成影響。 </a:t>
            </a:r>
          </a:p>
          <a:p>
            <a:pPr>
              <a:lnSpc>
                <a:spcPct val="200000"/>
              </a:lnSpc>
            </a:pPr>
            <a:r>
              <a:rPr lang="zh-TW" altLang="en-US" sz="2400" b="1"/>
              <a:t>物理限制：</a:t>
            </a:r>
            <a:r>
              <a:rPr lang="zh-TW" altLang="en-US" sz="2400"/>
              <a:t> 電路板空間有限時，可能需要採用進階的抑制方法，例如屏蔽（</a:t>
            </a:r>
            <a:r>
              <a:rPr lang="en-US" altLang="zh-TW" sz="2400"/>
              <a:t>shielding</a:t>
            </a:r>
            <a:r>
              <a:rPr lang="zh-TW" altLang="en-US" sz="2400"/>
              <a:t>）或差分對設計。</a:t>
            </a:r>
          </a:p>
        </p:txBody>
      </p:sp>
    </p:spTree>
    <p:extLst>
      <p:ext uri="{BB962C8B-B14F-4D97-AF65-F5344CB8AC3E}">
        <p14:creationId xmlns:p14="http://schemas.microsoft.com/office/powerpoint/2010/main" val="3160122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17748-3BF0-7843-CFFE-9850261983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0BD82-F217-E740-8B98-1B098711560C}"/>
              </a:ext>
            </a:extLst>
          </p:cNvPr>
          <p:cNvSpPr>
            <a:spLocks noGrp="1"/>
          </p:cNvSpPr>
          <p:nvPr>
            <p:ph type="title"/>
          </p:nvPr>
        </p:nvSpPr>
        <p:spPr>
          <a:xfrm>
            <a:off x="0" y="-1"/>
            <a:ext cx="12192000" cy="782321"/>
          </a:xfrm>
        </p:spPr>
        <p:txBody>
          <a:bodyPr>
            <a:normAutofit/>
          </a:bodyPr>
          <a:lstStyle/>
          <a:p>
            <a:r>
              <a:rPr lang="zh-TW" altLang="en-US"/>
              <a:t>雜訊： </a:t>
            </a:r>
            <a:r>
              <a:rPr lang="en-US"/>
              <a:t>Crosstalk noise – How to avoid</a:t>
            </a:r>
          </a:p>
        </p:txBody>
      </p:sp>
      <p:sp>
        <p:nvSpPr>
          <p:cNvPr id="6" name="Rectangle 5">
            <a:extLst>
              <a:ext uri="{FF2B5EF4-FFF2-40B4-BE49-F238E27FC236}">
                <a16:creationId xmlns:a16="http://schemas.microsoft.com/office/drawing/2014/main" id="{3E6A2BD9-A1AA-CC68-FB2D-A147E82B2D50}"/>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8CBB8CC-830A-D270-C6D8-42A6634E0393}"/>
              </a:ext>
            </a:extLst>
          </p:cNvPr>
          <p:cNvSpPr txBox="1"/>
          <p:nvPr/>
        </p:nvSpPr>
        <p:spPr>
          <a:xfrm>
            <a:off x="6566848" y="1746547"/>
            <a:ext cx="920364" cy="369332"/>
          </a:xfrm>
          <a:prstGeom prst="rect">
            <a:avLst/>
          </a:prstGeom>
          <a:noFill/>
        </p:spPr>
        <p:txBody>
          <a:bodyPr wrap="square" rtlCol="0">
            <a:spAutoFit/>
          </a:bodyPr>
          <a:lstStyle/>
          <a:p>
            <a:r>
              <a:rPr lang="zh-TW" altLang="en-US">
                <a:solidFill>
                  <a:schemeClr val="bg1"/>
                </a:solidFill>
              </a:rPr>
              <a:t>晶振</a:t>
            </a:r>
            <a:endParaRPr lang="en-US">
              <a:solidFill>
                <a:schemeClr val="bg1"/>
              </a:solidFill>
            </a:endParaRPr>
          </a:p>
        </p:txBody>
      </p:sp>
      <p:sp>
        <p:nvSpPr>
          <p:cNvPr id="4" name="Rectangle 2">
            <a:extLst>
              <a:ext uri="{FF2B5EF4-FFF2-40B4-BE49-F238E27FC236}">
                <a16:creationId xmlns:a16="http://schemas.microsoft.com/office/drawing/2014/main" id="{2D4D2C70-B81C-D017-F78A-A6B471DDC4EA}"/>
              </a:ext>
            </a:extLst>
          </p:cNvPr>
          <p:cNvSpPr>
            <a:spLocks noChangeArrowheads="1"/>
          </p:cNvSpPr>
          <p:nvPr/>
        </p:nvSpPr>
        <p:spPr bwMode="auto">
          <a:xfrm>
            <a:off x="0" y="1478081"/>
            <a:ext cx="6406272" cy="29441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200000"/>
              </a:lnSpc>
              <a:spcBef>
                <a:spcPct val="0"/>
              </a:spcBef>
              <a:spcAft>
                <a:spcPct val="0"/>
              </a:spcAft>
              <a:buFontTx/>
              <a:buChar char="•"/>
            </a:pPr>
            <a:r>
              <a:rPr lang="en-US" altLang="zh-TW" sz="2400"/>
              <a:t> </a:t>
            </a:r>
            <a:r>
              <a:rPr lang="zh-TW" altLang="en-US" sz="2400"/>
              <a:t>增加間距（</a:t>
            </a:r>
            <a:r>
              <a:rPr lang="en-US" altLang="zh-TW" sz="2400"/>
              <a:t>3W </a:t>
            </a:r>
            <a:r>
              <a:rPr lang="zh-TW" altLang="en-US" sz="2400"/>
              <a:t>原則）：相鄰走線之間以及走線與鄰近元件之間的隔離距離應保持足夠大，以消除串音風險。通用規則是隔離距離應等於走線寬度的 </a:t>
            </a:r>
            <a:r>
              <a:rPr lang="en-US" altLang="zh-TW" sz="2400"/>
              <a:t>3 </a:t>
            </a:r>
            <a:r>
              <a:rPr lang="zh-TW" altLang="en-US" sz="2400"/>
              <a:t>倍。</a:t>
            </a:r>
            <a:endParaRPr kumimoji="0" lang="en-US" altLang="en-US" sz="2400" i="0" u="none" strike="noStrike" cap="none" normalizeH="0" baseline="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1B04B76D-E921-0307-819F-61106B097C72}"/>
              </a:ext>
            </a:extLst>
          </p:cNvPr>
          <p:cNvPicPr>
            <a:picLocks noChangeAspect="1"/>
          </p:cNvPicPr>
          <p:nvPr/>
        </p:nvPicPr>
        <p:blipFill>
          <a:blip r:embed="rId3"/>
          <a:stretch>
            <a:fillRect/>
          </a:stretch>
        </p:blipFill>
        <p:spPr>
          <a:xfrm>
            <a:off x="6566848" y="1478081"/>
            <a:ext cx="5239481" cy="4220164"/>
          </a:xfrm>
          <a:prstGeom prst="rect">
            <a:avLst/>
          </a:prstGeom>
        </p:spPr>
      </p:pic>
    </p:spTree>
    <p:extLst>
      <p:ext uri="{BB962C8B-B14F-4D97-AF65-F5344CB8AC3E}">
        <p14:creationId xmlns:p14="http://schemas.microsoft.com/office/powerpoint/2010/main" val="2110219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B48AC-8AA9-0D77-9507-6789CDA64A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F5306-4171-1586-6420-5EA7A5F3A4AA}"/>
              </a:ext>
            </a:extLst>
          </p:cNvPr>
          <p:cNvSpPr>
            <a:spLocks noGrp="1"/>
          </p:cNvSpPr>
          <p:nvPr>
            <p:ph type="title"/>
          </p:nvPr>
        </p:nvSpPr>
        <p:spPr>
          <a:xfrm>
            <a:off x="0" y="-1"/>
            <a:ext cx="12192000" cy="782321"/>
          </a:xfrm>
        </p:spPr>
        <p:txBody>
          <a:bodyPr>
            <a:normAutofit/>
          </a:bodyPr>
          <a:lstStyle/>
          <a:p>
            <a:r>
              <a:rPr lang="zh-TW" altLang="en-US"/>
              <a:t>雜訊： </a:t>
            </a:r>
            <a:r>
              <a:rPr lang="en-US"/>
              <a:t>Crosstalk noise – How to avoid</a:t>
            </a:r>
          </a:p>
        </p:txBody>
      </p:sp>
      <p:sp>
        <p:nvSpPr>
          <p:cNvPr id="6" name="Rectangle 5">
            <a:extLst>
              <a:ext uri="{FF2B5EF4-FFF2-40B4-BE49-F238E27FC236}">
                <a16:creationId xmlns:a16="http://schemas.microsoft.com/office/drawing/2014/main" id="{3BCAC792-0BBA-68D0-7E93-B7684FD3627B}"/>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889960B-6560-CCA8-AE66-3DD054D9F2AC}"/>
              </a:ext>
            </a:extLst>
          </p:cNvPr>
          <p:cNvSpPr txBox="1"/>
          <p:nvPr/>
        </p:nvSpPr>
        <p:spPr>
          <a:xfrm>
            <a:off x="6566848" y="1746547"/>
            <a:ext cx="920364" cy="369332"/>
          </a:xfrm>
          <a:prstGeom prst="rect">
            <a:avLst/>
          </a:prstGeom>
          <a:noFill/>
        </p:spPr>
        <p:txBody>
          <a:bodyPr wrap="square" rtlCol="0">
            <a:spAutoFit/>
          </a:bodyPr>
          <a:lstStyle/>
          <a:p>
            <a:r>
              <a:rPr lang="zh-TW" altLang="en-US">
                <a:solidFill>
                  <a:schemeClr val="bg1"/>
                </a:solidFill>
              </a:rPr>
              <a:t>晶振</a:t>
            </a:r>
            <a:endParaRPr lang="en-US">
              <a:solidFill>
                <a:schemeClr val="bg1"/>
              </a:solidFill>
            </a:endParaRPr>
          </a:p>
        </p:txBody>
      </p:sp>
      <p:sp>
        <p:nvSpPr>
          <p:cNvPr id="4" name="Rectangle 2">
            <a:extLst>
              <a:ext uri="{FF2B5EF4-FFF2-40B4-BE49-F238E27FC236}">
                <a16:creationId xmlns:a16="http://schemas.microsoft.com/office/drawing/2014/main" id="{D81B05CE-B027-304C-A717-0DC0EC0744E4}"/>
              </a:ext>
            </a:extLst>
          </p:cNvPr>
          <p:cNvSpPr>
            <a:spLocks noChangeArrowheads="1"/>
          </p:cNvSpPr>
          <p:nvPr/>
        </p:nvSpPr>
        <p:spPr bwMode="auto">
          <a:xfrm>
            <a:off x="0" y="881120"/>
            <a:ext cx="12192000" cy="589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lang="zh-TW" altLang="en-US" sz="2400" b="1"/>
              <a:t>減少平行長度：</a:t>
            </a:r>
            <a:r>
              <a:rPr lang="zh-TW" altLang="en-US" sz="2400"/>
              <a:t> 盡量縮短走線的平行區段，以避免干擾累積。</a:t>
            </a:r>
            <a:endParaRPr kumimoji="0" lang="en-US" altLang="en-US" sz="2400" b="0" i="0" u="none" strike="noStrike" cap="none" normalizeH="0" baseline="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34CEACBB-4D61-B573-6502-18F98089D4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6013" y="1882053"/>
            <a:ext cx="8799871" cy="4653659"/>
          </a:xfrm>
          <a:prstGeom prst="rect">
            <a:avLst/>
          </a:prstGeom>
        </p:spPr>
      </p:pic>
    </p:spTree>
    <p:extLst>
      <p:ext uri="{BB962C8B-B14F-4D97-AF65-F5344CB8AC3E}">
        <p14:creationId xmlns:p14="http://schemas.microsoft.com/office/powerpoint/2010/main" val="2891774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581B5-6655-C6E1-136A-B52C2396ED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D3C624-5595-9656-57C8-15CFB9C43E6F}"/>
              </a:ext>
            </a:extLst>
          </p:cNvPr>
          <p:cNvSpPr>
            <a:spLocks noGrp="1"/>
          </p:cNvSpPr>
          <p:nvPr>
            <p:ph type="title"/>
          </p:nvPr>
        </p:nvSpPr>
        <p:spPr>
          <a:xfrm>
            <a:off x="0" y="-1"/>
            <a:ext cx="12192000" cy="782321"/>
          </a:xfrm>
        </p:spPr>
        <p:txBody>
          <a:bodyPr>
            <a:normAutofit/>
          </a:bodyPr>
          <a:lstStyle/>
          <a:p>
            <a:r>
              <a:rPr lang="zh-TW" altLang="en-US"/>
              <a:t>雜訊： </a:t>
            </a:r>
            <a:r>
              <a:rPr lang="en-US"/>
              <a:t>Crosstalk noise – How to avoid</a:t>
            </a:r>
          </a:p>
        </p:txBody>
      </p:sp>
      <p:sp>
        <p:nvSpPr>
          <p:cNvPr id="6" name="Rectangle 5">
            <a:extLst>
              <a:ext uri="{FF2B5EF4-FFF2-40B4-BE49-F238E27FC236}">
                <a16:creationId xmlns:a16="http://schemas.microsoft.com/office/drawing/2014/main" id="{588B060A-F131-6BBC-C3D3-29EB1D97DDE0}"/>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ECC4F68-5972-9158-F5C2-12C61E4B7CA1}"/>
              </a:ext>
            </a:extLst>
          </p:cNvPr>
          <p:cNvSpPr txBox="1"/>
          <p:nvPr/>
        </p:nvSpPr>
        <p:spPr>
          <a:xfrm>
            <a:off x="6566848" y="1746547"/>
            <a:ext cx="920364" cy="369332"/>
          </a:xfrm>
          <a:prstGeom prst="rect">
            <a:avLst/>
          </a:prstGeom>
          <a:noFill/>
        </p:spPr>
        <p:txBody>
          <a:bodyPr wrap="square" rtlCol="0">
            <a:spAutoFit/>
          </a:bodyPr>
          <a:lstStyle/>
          <a:p>
            <a:r>
              <a:rPr lang="zh-TW" altLang="en-US">
                <a:solidFill>
                  <a:schemeClr val="bg1"/>
                </a:solidFill>
              </a:rPr>
              <a:t>晶振</a:t>
            </a:r>
            <a:endParaRPr lang="en-US">
              <a:solidFill>
                <a:schemeClr val="bg1"/>
              </a:solidFill>
            </a:endParaRPr>
          </a:p>
        </p:txBody>
      </p:sp>
      <p:sp>
        <p:nvSpPr>
          <p:cNvPr id="5" name="Rectangle 2">
            <a:extLst>
              <a:ext uri="{FF2B5EF4-FFF2-40B4-BE49-F238E27FC236}">
                <a16:creationId xmlns:a16="http://schemas.microsoft.com/office/drawing/2014/main" id="{2A621375-740F-FD24-5A68-9D83FBF65AAD}"/>
              </a:ext>
            </a:extLst>
          </p:cNvPr>
          <p:cNvSpPr>
            <a:spLocks noChangeArrowheads="1"/>
          </p:cNvSpPr>
          <p:nvPr/>
        </p:nvSpPr>
        <p:spPr bwMode="auto">
          <a:xfrm>
            <a:off x="0" y="1295077"/>
            <a:ext cx="12192000" cy="3905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PMingLiU" panose="02020500000000000000" pitchFamily="18" charset="-120"/>
                <a:ea typeface="PMingLiU" panose="02020500000000000000" pitchFamily="18" charset="-120"/>
              </a:rPr>
              <a:t>增加間距（3W 原則）：</a:t>
            </a:r>
            <a:r>
              <a:rPr kumimoji="0" lang="en-US" altLang="en-US" sz="2400" b="0" i="0" u="none" strike="noStrike" cap="none" normalizeH="0" baseline="0">
                <a:ln>
                  <a:noFill/>
                </a:ln>
                <a:solidFill>
                  <a:schemeClr val="tx1"/>
                </a:solidFill>
                <a:effectLst/>
                <a:latin typeface="PMingLiU" panose="02020500000000000000" pitchFamily="18" charset="-120"/>
                <a:ea typeface="PMingLiU" panose="02020500000000000000" pitchFamily="18" charset="-120"/>
              </a:rPr>
              <a:t> 相鄰走線之間應保持至少三倍走線寬度的間距，以降低耦合效應。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PMingLiU" panose="02020500000000000000" pitchFamily="18" charset="-120"/>
                <a:ea typeface="PMingLiU" panose="02020500000000000000" pitchFamily="18" charset="-120"/>
              </a:rPr>
              <a:t>減少平行長度：</a:t>
            </a:r>
            <a:r>
              <a:rPr kumimoji="0" lang="en-US" altLang="en-US" sz="2400" b="0" i="0" u="none" strike="noStrike" cap="none" normalizeH="0" baseline="0">
                <a:ln>
                  <a:noFill/>
                </a:ln>
                <a:solidFill>
                  <a:schemeClr val="tx1"/>
                </a:solidFill>
                <a:effectLst/>
                <a:latin typeface="PMingLiU" panose="02020500000000000000" pitchFamily="18" charset="-120"/>
                <a:ea typeface="PMingLiU" panose="02020500000000000000" pitchFamily="18" charset="-120"/>
              </a:rPr>
              <a:t> 盡量縮短走線的平行區段，以避免干擾累積。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PMingLiU" panose="02020500000000000000" pitchFamily="18" charset="-120"/>
                <a:ea typeface="PMingLiU" panose="02020500000000000000" pitchFamily="18" charset="-120"/>
              </a:rPr>
              <a:t>使用參考平面：</a:t>
            </a:r>
            <a:r>
              <a:rPr kumimoji="0" lang="en-US" altLang="en-US" sz="2400" b="0" i="0" u="none" strike="noStrike" cap="none" normalizeH="0" baseline="0">
                <a:ln>
                  <a:noFill/>
                </a:ln>
                <a:solidFill>
                  <a:schemeClr val="tx1"/>
                </a:solidFill>
                <a:effectLst/>
                <a:latin typeface="PMingLiU" panose="02020500000000000000" pitchFamily="18" charset="-120"/>
                <a:ea typeface="PMingLiU" panose="02020500000000000000" pitchFamily="18" charset="-120"/>
              </a:rPr>
              <a:t> 採用完整的接地層或電源層（solid ground / power planes）來屏蔽並限制電磁場。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PMingLiU" panose="02020500000000000000" pitchFamily="18" charset="-120"/>
                <a:ea typeface="PMingLiU" panose="02020500000000000000" pitchFamily="18" charset="-120"/>
              </a:rPr>
              <a:t>優化層疊結構：</a:t>
            </a:r>
            <a:r>
              <a:rPr kumimoji="0" lang="en-US" altLang="en-US" sz="2400" b="0" i="0" u="none" strike="noStrike" cap="none" normalizeH="0" baseline="0">
                <a:ln>
                  <a:noFill/>
                </a:ln>
                <a:solidFill>
                  <a:schemeClr val="tx1"/>
                </a:solidFill>
                <a:effectLst/>
                <a:latin typeface="PMingLiU" panose="02020500000000000000" pitchFamily="18" charset="-120"/>
                <a:ea typeface="PMingLiU" panose="02020500000000000000" pitchFamily="18" charset="-120"/>
              </a:rPr>
              <a:t> 在訊號層之間插入接地層或電源層，以抑制垂直（跨層）串音。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PMingLiU" panose="02020500000000000000" pitchFamily="18" charset="-120"/>
                <a:ea typeface="PMingLiU" panose="02020500000000000000" pitchFamily="18" charset="-120"/>
              </a:rPr>
              <a:t>阻抗匹配：</a:t>
            </a:r>
            <a:r>
              <a:rPr kumimoji="0" lang="en-US" altLang="en-US" sz="2400" b="0" i="0" u="none" strike="noStrike" cap="none" normalizeH="0" baseline="0">
                <a:ln>
                  <a:noFill/>
                </a:ln>
                <a:solidFill>
                  <a:schemeClr val="tx1"/>
                </a:solidFill>
                <a:effectLst/>
                <a:latin typeface="PMingLiU" panose="02020500000000000000" pitchFamily="18" charset="-120"/>
                <a:ea typeface="PMingLiU" panose="02020500000000000000" pitchFamily="18" charset="-120"/>
              </a:rPr>
              <a:t> 使用適當的端接（termination）以防止訊號反射，避免放大雜訊與串音。 </a:t>
            </a:r>
          </a:p>
        </p:txBody>
      </p:sp>
    </p:spTree>
    <p:extLst>
      <p:ext uri="{BB962C8B-B14F-4D97-AF65-F5344CB8AC3E}">
        <p14:creationId xmlns:p14="http://schemas.microsoft.com/office/powerpoint/2010/main" val="2038167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77CBE-D627-C039-25B2-F18D1D4C681A}"/>
              </a:ext>
            </a:extLst>
          </p:cNvPr>
          <p:cNvSpPr>
            <a:spLocks noGrp="1"/>
          </p:cNvSpPr>
          <p:nvPr>
            <p:ph type="title"/>
          </p:nvPr>
        </p:nvSpPr>
        <p:spPr>
          <a:xfrm>
            <a:off x="297426" y="2766218"/>
            <a:ext cx="10515600" cy="1325563"/>
          </a:xfrm>
        </p:spPr>
        <p:txBody>
          <a:bodyPr/>
          <a:lstStyle/>
          <a:p>
            <a:r>
              <a:rPr lang="zh-TW" altLang="en-US"/>
              <a:t>模擬軟體</a:t>
            </a:r>
            <a:endParaRPr lang="en-US"/>
          </a:p>
        </p:txBody>
      </p:sp>
    </p:spTree>
    <p:extLst>
      <p:ext uri="{BB962C8B-B14F-4D97-AF65-F5344CB8AC3E}">
        <p14:creationId xmlns:p14="http://schemas.microsoft.com/office/powerpoint/2010/main" val="208321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877A9-9C55-3E69-E92F-ED7DC6B29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2AC8C-5904-8F34-F24F-4BE034456701}"/>
              </a:ext>
            </a:extLst>
          </p:cNvPr>
          <p:cNvSpPr>
            <a:spLocks noGrp="1"/>
          </p:cNvSpPr>
          <p:nvPr>
            <p:ph type="title"/>
          </p:nvPr>
        </p:nvSpPr>
        <p:spPr>
          <a:xfrm>
            <a:off x="0" y="0"/>
            <a:ext cx="10515600" cy="1325563"/>
          </a:xfrm>
        </p:spPr>
        <p:txBody>
          <a:bodyPr/>
          <a:lstStyle/>
          <a:p>
            <a:r>
              <a:rPr lang="zh-TW" altLang="en-US"/>
              <a:t>模擬軟體</a:t>
            </a:r>
            <a:endParaRPr lang="en-US"/>
          </a:p>
        </p:txBody>
      </p:sp>
    </p:spTree>
    <p:extLst>
      <p:ext uri="{BB962C8B-B14F-4D97-AF65-F5344CB8AC3E}">
        <p14:creationId xmlns:p14="http://schemas.microsoft.com/office/powerpoint/2010/main" val="40807830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5107</TotalTime>
  <Words>817</Words>
  <Application>Microsoft Office PowerPoint</Application>
  <PresentationFormat>Widescreen</PresentationFormat>
  <Paragraphs>48</Paragraphs>
  <Slides>11</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PMingLiU</vt:lpstr>
      <vt:lpstr>Aptos</vt:lpstr>
      <vt:lpstr>Aptos Display</vt:lpstr>
      <vt:lpstr>Arial</vt:lpstr>
      <vt:lpstr>Office Theme</vt:lpstr>
      <vt:lpstr>共模雜訊</vt:lpstr>
      <vt:lpstr>雜訊：串音</vt:lpstr>
      <vt:lpstr>雜訊：串音</vt:lpstr>
      <vt:lpstr>雜訊：串音</vt:lpstr>
      <vt:lpstr>雜訊： Crosstalk noise effect</vt:lpstr>
      <vt:lpstr>雜訊： Crosstalk noise effect</vt:lpstr>
      <vt:lpstr>雜訊： Crosstalk noise – How to avoid</vt:lpstr>
      <vt:lpstr>雜訊： Crosstalk noise – How to avoid</vt:lpstr>
      <vt:lpstr>雜訊： Crosstalk noise – How to avoid</vt:lpstr>
      <vt:lpstr>模擬軟體</vt:lpstr>
      <vt:lpstr>模擬軟體</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阮黎孝</dc:creator>
  <cp:lastModifiedBy>阮黎孝</cp:lastModifiedBy>
  <cp:revision>6</cp:revision>
  <dcterms:created xsi:type="dcterms:W3CDTF">2026-03-13T03:12:24Z</dcterms:created>
  <dcterms:modified xsi:type="dcterms:W3CDTF">2026-04-02T16:48:59Z</dcterms:modified>
</cp:coreProperties>
</file>