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3" r:id="rId3"/>
    <p:sldId id="314" r:id="rId4"/>
    <p:sldId id="312" r:id="rId5"/>
    <p:sldId id="315" r:id="rId6"/>
    <p:sldId id="316" r:id="rId7"/>
    <p:sldId id="317" r:id="rId8"/>
    <p:sldId id="319" r:id="rId9"/>
    <p:sldId id="320" r:id="rId10"/>
    <p:sldId id="323" r:id="rId11"/>
    <p:sldId id="321" r:id="rId12"/>
    <p:sldId id="322" r:id="rId13"/>
    <p:sldId id="324" r:id="rId14"/>
    <p:sldId id="318" r:id="rId15"/>
    <p:sldId id="325" r:id="rId16"/>
    <p:sldId id="326" r:id="rId17"/>
    <p:sldId id="327" r:id="rId18"/>
    <p:sldId id="328" r:id="rId19"/>
    <p:sldId id="333" r:id="rId20"/>
    <p:sldId id="334" r:id="rId21"/>
    <p:sldId id="331" r:id="rId22"/>
    <p:sldId id="329" r:id="rId23"/>
    <p:sldId id="335" r:id="rId24"/>
    <p:sldId id="336" r:id="rId25"/>
    <p:sldId id="337" r:id="rId26"/>
    <p:sldId id="338" r:id="rId27"/>
    <p:sldId id="332" r:id="rId28"/>
    <p:sldId id="339" r:id="rId29"/>
    <p:sldId id="340" r:id="rId30"/>
    <p:sldId id="341" r:id="rId31"/>
    <p:sldId id="33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38E77-A020-22F4-113D-74AF6AFB3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DF01E-263E-1087-707D-FD5A39E05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C5A95-8EBB-FE16-1779-94BFE4EE9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45697-5FF5-16A6-C721-E4886AAC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54CF5-B4FE-5BC8-C241-0F76F7D28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6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D64F-C564-E654-728F-5BBF6F99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914C8-CCB3-4E88-5C82-681A03DA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F326-5BC9-EC09-EA7C-4FC7ECBC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D95DA-DEC0-97DE-0DF6-535E8884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B68C-3AC0-2B30-C3B4-32A9C7E81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72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BE79-3A30-2323-AC8D-7F0EDD3B0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64B00-7F91-90C7-6681-7381683F6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3B467-CA0B-A0E1-F5B9-0B3B157DB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9679C-E77E-81EC-EB9B-5585B5AF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F55D4-91A3-C69F-6059-09618DD4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0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FC8E3-28CE-C919-CA0F-38347CCD4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A4337-9BB4-A5FA-C175-18C9C6CDD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73472-5F71-BE97-C9AD-BF702094A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8E7A5-FF72-D30A-014B-DE4C5E64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E3677-A4B6-7CF8-00A2-6DF101FFD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9075F-6C55-EF45-3655-AFD5E65A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8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AE53F-D3F4-AF62-0D53-D030AA8D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13BB4-966F-8CE9-EDC3-C3E871AE2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38B70-BB61-3CE9-ABF5-313A6CFA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6538E-D3BD-CADC-D3B8-C13F626A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E1C886-A907-6DF3-50DD-D3051E8B5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8F4AD-E364-8487-DBF6-EC300C30D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0AFB5-D96A-8DBD-E39C-A9D482B1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279C6-FBAF-639C-3696-1A4FC30B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61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493A-0994-6E3C-35A5-14363444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D0862-E4D4-2DBD-37D4-D4CBECFB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CAA56-B130-C3A0-52F1-984F9B55A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32C9F-C023-7320-7A48-F0B194EA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72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084A4-7AE9-3FE9-5C66-0A54A95B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FAD22-17B5-092F-1264-9F0DF52D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CE2D0-C716-A06A-DE18-B26CF3DE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31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B221-BD67-67F4-701B-32F8E4DF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8195-71D8-5627-EA31-5F97BC025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3630E-9937-9DEE-4961-B574A61BF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EB40D-85A0-827D-2DF6-1AE6C8EFF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877D9-9274-94A5-5A65-7DA7B455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560C8-2910-75C8-5504-B59396E1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59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7359-EFB6-6D58-A4EE-28FB00A1E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1BFCA-3370-5C3E-726E-B4615043B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058A1-309C-2104-8939-3AA329A44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210A9-5F4E-D6D9-8FD5-B8856381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107ED-6015-3F32-BB8D-9DD6B738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5549B-0455-8228-D259-4C9C080A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D2DD-BC90-4B4E-1063-37DCC02F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544C4-BC1D-FD3D-ED1D-EEFD08AD1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0FC0F-A22E-02CF-D397-C01B75EE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83844-6493-1042-CB61-367E2C0F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B9F41-1790-BBE0-F943-80C4234A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53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F7BBCF-F139-CFF0-E534-64120AD805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B57E1-3BBE-8A37-BF69-59DB03299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ACF2B-6378-AE7A-0CED-D98365DBC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CB62A-DBA3-95F0-9B4D-8E0250A5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6126A-E5F3-F1AB-AA45-F68E1451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CF1E8-E6D9-F5CF-DE4B-D1EA9546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86548-23A4-FC33-603D-7ADB59BDE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CFE45-55C0-2CB5-3F4F-97178EDEF9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9D369-5C89-458B-8D60-691A8F41090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63365-853B-3200-7A58-3A5E72C3B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AC735-9F81-BA57-BCC2-A2398EF37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CB8E1-FEB0-41B7-ABEA-278B82E68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37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csc.com/product-detail/C4747974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398C-D1D5-6D48-5EDE-945061C350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原理圖設計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4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11F7C-E76D-C52F-5FB7-C42DDB34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143-42B2-F7F2-37FD-76CA2F505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61" y="2766218"/>
            <a:ext cx="10515600" cy="1325563"/>
          </a:xfrm>
        </p:spPr>
        <p:txBody>
          <a:bodyPr/>
          <a:lstStyle/>
          <a:p>
            <a:r>
              <a:rPr lang="zh-TW" altLang="en-US"/>
              <a:t>原理圖設計：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65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DDD3-E210-CEC7-E94D-99185B28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92E6-F09A-A99C-7DEF-2C626EB1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5B632F-F948-B740-104A-E98328A63177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建立你的第一個原理圖：</a:t>
            </a:r>
            <a:endParaRPr lang="en-US" sz="2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0C75DA-6EF6-839D-FBCA-F115C1BE5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80" y="1111045"/>
            <a:ext cx="7464057" cy="53486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DE07B2-1D4A-6DB8-A3B3-5907A56CBAA5}"/>
              </a:ext>
            </a:extLst>
          </p:cNvPr>
          <p:cNvSpPr/>
          <p:nvPr/>
        </p:nvSpPr>
        <p:spPr>
          <a:xfrm>
            <a:off x="2083980" y="1524000"/>
            <a:ext cx="2625672" cy="294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24ED5-BF29-A0CE-2F91-5C75B8A9D3F7}"/>
              </a:ext>
            </a:extLst>
          </p:cNvPr>
          <p:cNvSpPr/>
          <p:nvPr/>
        </p:nvSpPr>
        <p:spPr>
          <a:xfrm>
            <a:off x="2083981" y="1376515"/>
            <a:ext cx="265930" cy="147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E8FD8-E163-51C1-DD4E-230D2155C780}"/>
              </a:ext>
            </a:extLst>
          </p:cNvPr>
          <p:cNvSpPr txBox="1"/>
          <p:nvPr/>
        </p:nvSpPr>
        <p:spPr>
          <a:xfrm>
            <a:off x="1877960" y="1253613"/>
            <a:ext cx="9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6AC29-3F71-8F8E-D8FD-1D8E1F623ADC}"/>
              </a:ext>
            </a:extLst>
          </p:cNvPr>
          <p:cNvSpPr txBox="1"/>
          <p:nvPr/>
        </p:nvSpPr>
        <p:spPr>
          <a:xfrm>
            <a:off x="1877959" y="1553185"/>
            <a:ext cx="9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70148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A134C-BFF5-D798-82B7-1AE4E914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7373-94E5-C3B2-A210-E4849EB90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CE613F-0820-EAFC-CF15-85F718A3CE54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建立你的第一個原理圖：</a:t>
            </a:r>
            <a:endParaRPr lang="en-US" sz="2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1EEF92-AF25-2023-6DD9-9B671BD86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338" y="1111045"/>
            <a:ext cx="9002381" cy="567769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F542C2-A34C-D8BF-C3AA-5B24CA15721F}"/>
              </a:ext>
            </a:extLst>
          </p:cNvPr>
          <p:cNvSpPr/>
          <p:nvPr/>
        </p:nvSpPr>
        <p:spPr>
          <a:xfrm>
            <a:off x="5830529" y="6105832"/>
            <a:ext cx="1858297" cy="619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8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0663-F1EE-0987-ECFB-22E389D8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BD6DDF-376E-0309-DDF1-F6F7D98E8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068" y="1466619"/>
            <a:ext cx="3524742" cy="33151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E54FA2-12F8-76DB-56D4-542DDB22A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D3F45A-FA3E-0058-D2AA-1608B53D2120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建立你的第一個原理圖：</a:t>
            </a:r>
            <a:endParaRPr lang="en-US" sz="2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272AC0-1BDE-11BC-28C4-1D3D565D3E40}"/>
              </a:ext>
            </a:extLst>
          </p:cNvPr>
          <p:cNvSpPr/>
          <p:nvPr/>
        </p:nvSpPr>
        <p:spPr>
          <a:xfrm>
            <a:off x="4203290" y="2477730"/>
            <a:ext cx="1858297" cy="283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C3FAF-95D6-AAB0-7249-8B0F0BB8F4A5}"/>
              </a:ext>
            </a:extLst>
          </p:cNvPr>
          <p:cNvSpPr/>
          <p:nvPr/>
        </p:nvSpPr>
        <p:spPr>
          <a:xfrm>
            <a:off x="4203290" y="2761253"/>
            <a:ext cx="1858297" cy="283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DA4B65-3901-85B9-BE6F-D1F4831D06ED}"/>
              </a:ext>
            </a:extLst>
          </p:cNvPr>
          <p:cNvCxnSpPr/>
          <p:nvPr/>
        </p:nvCxnSpPr>
        <p:spPr>
          <a:xfrm>
            <a:off x="2910348" y="2619491"/>
            <a:ext cx="1292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A3B2CA-B76E-5D3A-5F8B-31F266FBA288}"/>
              </a:ext>
            </a:extLst>
          </p:cNvPr>
          <p:cNvCxnSpPr/>
          <p:nvPr/>
        </p:nvCxnSpPr>
        <p:spPr>
          <a:xfrm>
            <a:off x="2910348" y="2903014"/>
            <a:ext cx="1292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0C0F03-DC50-AF4D-71B1-7E2AD39228AC}"/>
              </a:ext>
            </a:extLst>
          </p:cNvPr>
          <p:cNvSpPr txBox="1"/>
          <p:nvPr/>
        </p:nvSpPr>
        <p:spPr>
          <a:xfrm>
            <a:off x="1077830" y="2391921"/>
            <a:ext cx="1602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PCB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3BC81-38CD-BE7F-A945-3421BA32A26B}"/>
              </a:ext>
            </a:extLst>
          </p:cNvPr>
          <p:cNvSpPr txBox="1"/>
          <p:nvPr/>
        </p:nvSpPr>
        <p:spPr>
          <a:xfrm>
            <a:off x="1077830" y="2718348"/>
            <a:ext cx="1602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Schematic file</a:t>
            </a:r>
          </a:p>
        </p:txBody>
      </p:sp>
    </p:spTree>
    <p:extLst>
      <p:ext uri="{BB962C8B-B14F-4D97-AF65-F5344CB8AC3E}">
        <p14:creationId xmlns:p14="http://schemas.microsoft.com/office/powerpoint/2010/main" val="142420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20BD-4ED1-DC1C-66B7-3C47C2E4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4B79-E712-D16B-8D1C-48F494F38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15BA0FF-0B85-AF9C-EE63-F4C562D7B098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製作您的第一個原理圖：</a:t>
            </a:r>
            <a:r>
              <a:rPr lang="en-US" altLang="zh-TW" sz="2800"/>
              <a:t>5V </a:t>
            </a:r>
            <a:r>
              <a:rPr lang="zh-TW" altLang="en-US" sz="2800"/>
              <a:t>輸出穩定電源電路</a:t>
            </a:r>
            <a:endParaRPr lang="en-US" sz="2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9D1EC-403D-9DC8-C72B-B37786C01816}"/>
              </a:ext>
            </a:extLst>
          </p:cNvPr>
          <p:cNvSpPr txBox="1"/>
          <p:nvPr/>
        </p:nvSpPr>
        <p:spPr>
          <a:xfrm>
            <a:off x="0" y="111104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Datasheet: https://www.onsemi.com/download/data-sheet/pdf/lm1117-d.pdf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3ED1F4-4BF7-219E-7605-38B9BD6BD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1737851"/>
            <a:ext cx="8297433" cy="2819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3A28AEE-7C17-C132-AEE5-F68299244C28}"/>
              </a:ext>
            </a:extLst>
          </p:cNvPr>
          <p:cNvSpPr/>
          <p:nvPr/>
        </p:nvSpPr>
        <p:spPr>
          <a:xfrm>
            <a:off x="1947282" y="2359741"/>
            <a:ext cx="2152769" cy="234007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44D84-D733-AF37-6105-B8A635F1461D}"/>
              </a:ext>
            </a:extLst>
          </p:cNvPr>
          <p:cNvSpPr txBox="1"/>
          <p:nvPr/>
        </p:nvSpPr>
        <p:spPr>
          <a:xfrm>
            <a:off x="334296" y="5394516"/>
            <a:ext cx="105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繪製一個固定輸出穩壓器 </a:t>
            </a:r>
            <a:r>
              <a:rPr lang="en-US" altLang="zh-TW"/>
              <a:t>LM1117-5V</a:t>
            </a:r>
            <a:r>
              <a:rPr lang="zh-TW" altLang="en-US"/>
              <a:t>，具有特定技術參數：輸出 </a:t>
            </a:r>
            <a:r>
              <a:rPr lang="en-US" altLang="zh-TW"/>
              <a:t>5V-1A</a:t>
            </a:r>
            <a:r>
              <a:rPr lang="zh-TW" altLang="en-US"/>
              <a:t>，輸入低於 </a:t>
            </a:r>
            <a:r>
              <a:rPr lang="en-US" altLang="zh-TW"/>
              <a:t>20V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26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DD30D-83A7-8598-3094-66FD88187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33D5-29F7-5A71-666A-E60B73C0D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8ED5519-13FB-7F50-0AA1-2B7F23B6879F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1: </a:t>
            </a:r>
            <a:r>
              <a:rPr lang="en-US" sz="2600"/>
              <a:t>Built </a:t>
            </a:r>
            <a:r>
              <a:rPr lang="zh-TW" altLang="en-US" sz="2600"/>
              <a:t>原理圖</a:t>
            </a:r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8DDF4-5BD8-0F3D-369B-0318C1763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27" y="1519427"/>
            <a:ext cx="5696745" cy="29722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6D6BA0-7BD6-EFCE-3C37-BD7BCA680F86}"/>
              </a:ext>
            </a:extLst>
          </p:cNvPr>
          <p:cNvSpPr/>
          <p:nvPr/>
        </p:nvSpPr>
        <p:spPr>
          <a:xfrm>
            <a:off x="4316819" y="2881423"/>
            <a:ext cx="1073888" cy="7655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CEF4B-208F-7A77-AD4A-65771C65F743}"/>
              </a:ext>
            </a:extLst>
          </p:cNvPr>
          <p:cNvSpPr/>
          <p:nvPr/>
        </p:nvSpPr>
        <p:spPr>
          <a:xfrm>
            <a:off x="7330406" y="2881423"/>
            <a:ext cx="1073888" cy="7655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746C61-468F-0F22-41A2-95918AE9E978}"/>
              </a:ext>
            </a:extLst>
          </p:cNvPr>
          <p:cNvCxnSpPr/>
          <p:nvPr/>
        </p:nvCxnSpPr>
        <p:spPr>
          <a:xfrm flipV="1">
            <a:off x="3247627" y="3646967"/>
            <a:ext cx="1069192" cy="14953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1D9FBA-97D1-96A4-612F-7D97411FBDC4}"/>
              </a:ext>
            </a:extLst>
          </p:cNvPr>
          <p:cNvSpPr txBox="1"/>
          <p:nvPr/>
        </p:nvSpPr>
        <p:spPr>
          <a:xfrm>
            <a:off x="1818968" y="5142271"/>
            <a:ext cx="291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有極性電容</a:t>
            </a:r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DB542-EB01-3CC2-ACF3-34D091CC48FF}"/>
              </a:ext>
            </a:extLst>
          </p:cNvPr>
          <p:cNvSpPr/>
          <p:nvPr/>
        </p:nvSpPr>
        <p:spPr>
          <a:xfrm>
            <a:off x="5410371" y="2109933"/>
            <a:ext cx="1865500" cy="119719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9E55EE-A31E-8CD5-412C-31B190AAF9E5}"/>
              </a:ext>
            </a:extLst>
          </p:cNvPr>
          <p:cNvCxnSpPr/>
          <p:nvPr/>
        </p:nvCxnSpPr>
        <p:spPr>
          <a:xfrm>
            <a:off x="3441290" y="1730477"/>
            <a:ext cx="1969081" cy="3794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72D725C-97AC-5DA0-FD37-51F8185BB584}"/>
              </a:ext>
            </a:extLst>
          </p:cNvPr>
          <p:cNvSpPr txBox="1"/>
          <p:nvPr/>
        </p:nvSpPr>
        <p:spPr>
          <a:xfrm>
            <a:off x="1818968" y="1348716"/>
            <a:ext cx="2910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IC LM1117-5V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273F88-EBA5-5270-5D80-A1EDAE041C88}"/>
              </a:ext>
            </a:extLst>
          </p:cNvPr>
          <p:cNvSpPr/>
          <p:nvPr/>
        </p:nvSpPr>
        <p:spPr>
          <a:xfrm>
            <a:off x="4640826" y="3716594"/>
            <a:ext cx="3392129" cy="58100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19364F-B523-DFE0-37C5-300F41CEC1FA}"/>
              </a:ext>
            </a:extLst>
          </p:cNvPr>
          <p:cNvCxnSpPr/>
          <p:nvPr/>
        </p:nvCxnSpPr>
        <p:spPr>
          <a:xfrm flipV="1">
            <a:off x="3247627" y="3646967"/>
            <a:ext cx="4082779" cy="15051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D632A9-BE09-0BAA-2979-39D8B56C5539}"/>
              </a:ext>
            </a:extLst>
          </p:cNvPr>
          <p:cNvCxnSpPr/>
          <p:nvPr/>
        </p:nvCxnSpPr>
        <p:spPr>
          <a:xfrm flipH="1">
            <a:off x="8032955" y="4100052"/>
            <a:ext cx="13961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73EECDC-E19A-0D97-28A7-520F999F01E1}"/>
              </a:ext>
            </a:extLst>
          </p:cNvPr>
          <p:cNvSpPr txBox="1"/>
          <p:nvPr/>
        </p:nvSpPr>
        <p:spPr>
          <a:xfrm>
            <a:off x="9384433" y="3913239"/>
            <a:ext cx="988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GND part</a:t>
            </a:r>
          </a:p>
        </p:txBody>
      </p:sp>
    </p:spTree>
    <p:extLst>
      <p:ext uri="{BB962C8B-B14F-4D97-AF65-F5344CB8AC3E}">
        <p14:creationId xmlns:p14="http://schemas.microsoft.com/office/powerpoint/2010/main" val="383852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88B1-677B-01D0-056A-423AA9AD4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5C84CEF-C494-38D2-295C-0EF77161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737851"/>
            <a:ext cx="10180320" cy="49425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06E500-7F07-6C2A-925B-7DE96124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CD37E69-71C0-4327-7899-375040D3ECEC}"/>
              </a:ext>
            </a:extLst>
          </p:cNvPr>
          <p:cNvSpPr txBox="1">
            <a:spLocks/>
          </p:cNvSpPr>
          <p:nvPr/>
        </p:nvSpPr>
        <p:spPr>
          <a:xfrm>
            <a:off x="0" y="524504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F1255-37DC-B992-6131-0006F3F283A9}"/>
              </a:ext>
            </a:extLst>
          </p:cNvPr>
          <p:cNvSpPr txBox="1"/>
          <p:nvPr/>
        </p:nvSpPr>
        <p:spPr>
          <a:xfrm>
            <a:off x="0" y="982100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前往 </a:t>
            </a:r>
            <a:r>
              <a:rPr lang="en-US" altLang="zh-TW"/>
              <a:t>LCSC.com </a:t>
            </a:r>
            <a:r>
              <a:rPr lang="zh-TW" altLang="en-US"/>
              <a:t>尋找合適的元件和封裝： </a:t>
            </a:r>
            <a:r>
              <a:rPr lang="en-US" altLang="zh-TW"/>
              <a:t>
</a:t>
            </a:r>
            <a:r>
              <a:rPr lang="en-US"/>
              <a:t>https://www.lcsc.com/product-detail/C126028.html?s_z=n_lm1117%25205v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4E8070-B99F-AC1D-209F-DE6B6C7C82D3}"/>
              </a:ext>
            </a:extLst>
          </p:cNvPr>
          <p:cNvSpPr/>
          <p:nvPr/>
        </p:nvSpPr>
        <p:spPr>
          <a:xfrm>
            <a:off x="3078480" y="6106160"/>
            <a:ext cx="2052320" cy="2946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54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B2790-599C-9F7B-6E1F-488CC986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E8A3673-468B-0FFD-E2CA-E94390908069}"/>
              </a:ext>
            </a:extLst>
          </p:cNvPr>
          <p:cNvSpPr txBox="1"/>
          <p:nvPr/>
        </p:nvSpPr>
        <p:spPr>
          <a:xfrm>
            <a:off x="-47036" y="3852594"/>
            <a:ext cx="211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假設輸入電壓低於 </a:t>
            </a:r>
            <a:r>
              <a:rPr lang="en-US" altLang="zh-TW"/>
              <a:t>20V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5EB39D-8AED-2FF9-C01A-814827467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836" y="1361786"/>
            <a:ext cx="8440328" cy="41344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7705800-375F-1ED2-6FB9-B64C5F6D75E0}"/>
              </a:ext>
            </a:extLst>
          </p:cNvPr>
          <p:cNvSpPr txBox="1">
            <a:spLocks/>
          </p:cNvSpPr>
          <p:nvPr/>
        </p:nvSpPr>
        <p:spPr>
          <a:xfrm>
            <a:off x="0" y="-27038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8E554-B2B2-7C64-230D-C64291E75199}"/>
              </a:ext>
            </a:extLst>
          </p:cNvPr>
          <p:cNvSpPr txBox="1"/>
          <p:nvPr/>
        </p:nvSpPr>
        <p:spPr>
          <a:xfrm>
            <a:off x="0" y="45720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檢查數據手冊以查找電氣規格和封裝類型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86295-4AF8-F040-23D6-22E3CA027D64}"/>
              </a:ext>
            </a:extLst>
          </p:cNvPr>
          <p:cNvSpPr/>
          <p:nvPr/>
        </p:nvSpPr>
        <p:spPr>
          <a:xfrm>
            <a:off x="2113280" y="4029947"/>
            <a:ext cx="2326640" cy="2474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D71583-6FD4-6AA0-2635-08F3AB123498}"/>
              </a:ext>
            </a:extLst>
          </p:cNvPr>
          <p:cNvSpPr/>
          <p:nvPr/>
        </p:nvSpPr>
        <p:spPr>
          <a:xfrm>
            <a:off x="2113280" y="2908428"/>
            <a:ext cx="4064000" cy="4748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63C8AD-A8AD-FD5A-66E5-1E4072A92CCF}"/>
              </a:ext>
            </a:extLst>
          </p:cNvPr>
          <p:cNvSpPr txBox="1"/>
          <p:nvPr/>
        </p:nvSpPr>
        <p:spPr>
          <a:xfrm>
            <a:off x="-6396" y="2822688"/>
            <a:ext cx="211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輸出電壓固定在 </a:t>
            </a:r>
            <a:r>
              <a:rPr lang="en-US" altLang="zh-TW"/>
              <a:t>5V</a:t>
            </a: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60700D-FFC6-CACB-1057-DCF6E048DFDA}"/>
              </a:ext>
            </a:extLst>
          </p:cNvPr>
          <p:cNvSpPr/>
          <p:nvPr/>
        </p:nvSpPr>
        <p:spPr>
          <a:xfrm>
            <a:off x="2072640" y="2479753"/>
            <a:ext cx="4104640" cy="19462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4E07F1-7312-9823-11C0-750BA505199F}"/>
              </a:ext>
            </a:extLst>
          </p:cNvPr>
          <p:cNvSpPr txBox="1"/>
          <p:nvPr/>
        </p:nvSpPr>
        <p:spPr>
          <a:xfrm>
            <a:off x="-6396" y="2253901"/>
            <a:ext cx="211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最大輸出電流為 </a:t>
            </a:r>
            <a:r>
              <a:rPr lang="en-US" altLang="zh-TW"/>
              <a:t>1A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690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42698-0494-8F71-FCF5-B4F352BE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2952AA-6E0F-96EC-22C7-48B73521E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779" y="1310770"/>
            <a:ext cx="8459381" cy="484890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99A6C7-6F97-3A09-2662-7E5146111B16}"/>
              </a:ext>
            </a:extLst>
          </p:cNvPr>
          <p:cNvSpPr txBox="1">
            <a:spLocks/>
          </p:cNvSpPr>
          <p:nvPr/>
        </p:nvSpPr>
        <p:spPr>
          <a:xfrm>
            <a:off x="0" y="-27038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E02C8E-72D3-4B75-CB6E-AC99487A8E18}"/>
              </a:ext>
            </a:extLst>
          </p:cNvPr>
          <p:cNvSpPr txBox="1"/>
          <p:nvPr/>
        </p:nvSpPr>
        <p:spPr>
          <a:xfrm>
            <a:off x="0" y="457200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檢查數據手冊以查找電氣規格和封裝類型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FA756C-DFFE-7616-1455-732E2B024C83}"/>
              </a:ext>
            </a:extLst>
          </p:cNvPr>
          <p:cNvSpPr/>
          <p:nvPr/>
        </p:nvSpPr>
        <p:spPr>
          <a:xfrm>
            <a:off x="3058160" y="2690608"/>
            <a:ext cx="8128000" cy="5605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A1889-9D13-CB5B-4783-F4CBB6567FCF}"/>
              </a:ext>
            </a:extLst>
          </p:cNvPr>
          <p:cNvSpPr txBox="1"/>
          <p:nvPr/>
        </p:nvSpPr>
        <p:spPr>
          <a:xfrm>
            <a:off x="-6396" y="4604600"/>
            <a:ext cx="3135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輸入電壓處電容的耐壓值應大於 </a:t>
            </a:r>
            <a:r>
              <a:rPr lang="en-US" altLang="zh-TW"/>
              <a:t>20V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E9283-10FE-28ED-7DFC-F9CDAC1AE1A4}"/>
              </a:ext>
            </a:extLst>
          </p:cNvPr>
          <p:cNvSpPr/>
          <p:nvPr/>
        </p:nvSpPr>
        <p:spPr>
          <a:xfrm>
            <a:off x="3058160" y="4196080"/>
            <a:ext cx="8107680" cy="2540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9E285F-533A-1491-95E5-7B6A07FEA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026044"/>
            <a:ext cx="312928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建議輸出電容為 10uF 或更大</a:t>
            </a:r>
          </a:p>
        </p:txBody>
      </p:sp>
    </p:spTree>
    <p:extLst>
      <p:ext uri="{BB962C8B-B14F-4D97-AF65-F5344CB8AC3E}">
        <p14:creationId xmlns:p14="http://schemas.microsoft.com/office/powerpoint/2010/main" val="1662136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5379-475A-5661-4E8C-4CBE4A109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ABB011-CBAE-4777-4AC9-4344314F0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13" y="370393"/>
            <a:ext cx="3753374" cy="64016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42D1A5-23EF-85B6-6AFA-1F1FBFBB7699}"/>
              </a:ext>
            </a:extLst>
          </p:cNvPr>
          <p:cNvSpPr txBox="1"/>
          <p:nvPr/>
        </p:nvSpPr>
        <p:spPr>
          <a:xfrm>
            <a:off x="976211" y="4230469"/>
            <a:ext cx="2119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檢查封裝、電壓輸出及零件名稱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1A9C30-F535-2299-A3E7-011724BE4DBF}"/>
              </a:ext>
            </a:extLst>
          </p:cNvPr>
          <p:cNvSpPr txBox="1">
            <a:spLocks/>
          </p:cNvSpPr>
          <p:nvPr/>
        </p:nvSpPr>
        <p:spPr>
          <a:xfrm>
            <a:off x="0" y="-27038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91A31-2B37-E014-DD74-1CB1B6724948}"/>
              </a:ext>
            </a:extLst>
          </p:cNvPr>
          <p:cNvSpPr txBox="1"/>
          <p:nvPr/>
        </p:nvSpPr>
        <p:spPr>
          <a:xfrm>
            <a:off x="0" y="457200"/>
            <a:ext cx="35487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檢查數據手冊以查找電氣規格和封裝類型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53C16F-1B2B-D41F-52D2-D96ABE5EC32E}"/>
              </a:ext>
            </a:extLst>
          </p:cNvPr>
          <p:cNvSpPr/>
          <p:nvPr/>
        </p:nvSpPr>
        <p:spPr>
          <a:xfrm>
            <a:off x="3548753" y="4450254"/>
            <a:ext cx="3441327" cy="2284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1A9D03-C589-69C6-7A14-F619923E389E}"/>
              </a:ext>
            </a:extLst>
          </p:cNvPr>
          <p:cNvSpPr/>
          <p:nvPr/>
        </p:nvSpPr>
        <p:spPr>
          <a:xfrm>
            <a:off x="3718560" y="497840"/>
            <a:ext cx="3088640" cy="10974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51D56-BA5C-0638-6D52-7347652705F2}"/>
              </a:ext>
            </a:extLst>
          </p:cNvPr>
          <p:cNvSpPr txBox="1"/>
          <p:nvPr/>
        </p:nvSpPr>
        <p:spPr>
          <a:xfrm>
            <a:off x="1125734" y="1182463"/>
            <a:ext cx="2119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封裝類型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2111A2-5AB4-B78B-434D-44380B34B4E9}"/>
              </a:ext>
            </a:extLst>
          </p:cNvPr>
          <p:cNvCxnSpPr/>
          <p:nvPr/>
        </p:nvCxnSpPr>
        <p:spPr>
          <a:xfrm>
            <a:off x="2481953" y="1376961"/>
            <a:ext cx="92456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A76B8FE-3891-4D14-BD1F-4EF38B014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0" y="457200"/>
            <a:ext cx="2695951" cy="2943636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4E4F2E-83FF-7B0A-A8F5-937758205636}"/>
              </a:ext>
            </a:extLst>
          </p:cNvPr>
          <p:cNvCxnSpPr>
            <a:cxnSpLocks/>
          </p:cNvCxnSpPr>
          <p:nvPr/>
        </p:nvCxnSpPr>
        <p:spPr>
          <a:xfrm>
            <a:off x="6990080" y="1379279"/>
            <a:ext cx="20595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08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6F80-C0E0-DA98-1BC1-A1400C09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6BE54E1-277C-CC03-8468-ACE749FB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1778836"/>
            <a:ext cx="9966960" cy="4781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B67E01-6766-60B2-3751-B6FFF2FD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558D345-2BBF-D284-7CCC-0DC6140360F4}"/>
              </a:ext>
            </a:extLst>
          </p:cNvPr>
          <p:cNvSpPr txBox="1">
            <a:spLocks/>
          </p:cNvSpPr>
          <p:nvPr/>
        </p:nvSpPr>
        <p:spPr>
          <a:xfrm>
            <a:off x="0" y="524504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41B04-50C0-D536-A5AA-84FA1774A09F}"/>
              </a:ext>
            </a:extLst>
          </p:cNvPr>
          <p:cNvSpPr txBox="1"/>
          <p:nvPr/>
        </p:nvSpPr>
        <p:spPr>
          <a:xfrm>
            <a:off x="0" y="95483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/>
              <a:t>前往 </a:t>
            </a:r>
            <a:r>
              <a:rPr lang="en-US"/>
              <a:t>LCSC.com </a:t>
            </a:r>
            <a:r>
              <a:rPr lang="zh-TW" altLang="en-US"/>
              <a:t>尋找合適的元件和封裝：</a:t>
            </a:r>
            <a:r>
              <a:rPr lang="en-US">
                <a:hlinkClick r:id="rId3"/>
              </a:rPr>
              <a:t>https://www.lcsc.com/product-detail/C4747974.html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2BC2EF-65BD-D364-89A6-6A84FABBCE0F}"/>
              </a:ext>
            </a:extLst>
          </p:cNvPr>
          <p:cNvSpPr/>
          <p:nvPr/>
        </p:nvSpPr>
        <p:spPr>
          <a:xfrm>
            <a:off x="3098800" y="5820864"/>
            <a:ext cx="2275840" cy="2548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697D61-B645-25B1-E5B3-D68438AE19D4}"/>
              </a:ext>
            </a:extLst>
          </p:cNvPr>
          <p:cNvSpPr/>
          <p:nvPr/>
        </p:nvSpPr>
        <p:spPr>
          <a:xfrm>
            <a:off x="3098800" y="4656708"/>
            <a:ext cx="2275840" cy="2548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4E0D3-3CDF-99F8-F9DA-E32381DA8DAA}"/>
              </a:ext>
            </a:extLst>
          </p:cNvPr>
          <p:cNvSpPr txBox="1"/>
          <p:nvPr/>
        </p:nvSpPr>
        <p:spPr>
          <a:xfrm>
            <a:off x="5374640" y="4599450"/>
            <a:ext cx="128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封裝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1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0B57-3218-3126-1A0D-725661F7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37EA2C2-EB93-4B92-2055-3117186F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12" y="1090725"/>
            <a:ext cx="10298248" cy="5450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D1EED4-534F-2E26-E65F-291000DF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6DA937-782E-9880-7786-7B11530B3E39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60FFDC-D221-A620-9511-1A8EE472530E}"/>
              </a:ext>
            </a:extLst>
          </p:cNvPr>
          <p:cNvSpPr/>
          <p:nvPr/>
        </p:nvSpPr>
        <p:spPr>
          <a:xfrm>
            <a:off x="1148080" y="2011680"/>
            <a:ext cx="2611120" cy="2374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7D0B02-2C3B-0D57-677E-E01592AF7BCB}"/>
              </a:ext>
            </a:extLst>
          </p:cNvPr>
          <p:cNvSpPr/>
          <p:nvPr/>
        </p:nvSpPr>
        <p:spPr>
          <a:xfrm>
            <a:off x="3495041" y="3742414"/>
            <a:ext cx="2387600" cy="18807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9E5502-9254-788C-ACC6-77FCA37D5A22}"/>
              </a:ext>
            </a:extLst>
          </p:cNvPr>
          <p:cNvSpPr/>
          <p:nvPr/>
        </p:nvSpPr>
        <p:spPr>
          <a:xfrm>
            <a:off x="10539912" y="2249100"/>
            <a:ext cx="290648" cy="323166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20C609-F309-0659-B83E-7B1E5AEDF161}"/>
              </a:ext>
            </a:extLst>
          </p:cNvPr>
          <p:cNvSpPr txBox="1"/>
          <p:nvPr/>
        </p:nvSpPr>
        <p:spPr>
          <a:xfrm>
            <a:off x="10830560" y="2174240"/>
            <a:ext cx="1488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1: </a:t>
            </a:r>
            <a:r>
              <a:rPr lang="zh-TW" altLang="en-US"/>
              <a:t>按下 “選擇 元件”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E86D4-C41F-0B1E-BB55-1DC066CBBB2F}"/>
              </a:ext>
            </a:extLst>
          </p:cNvPr>
          <p:cNvSpPr txBox="1"/>
          <p:nvPr/>
        </p:nvSpPr>
        <p:spPr>
          <a:xfrm>
            <a:off x="3929519" y="1925934"/>
            <a:ext cx="1148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2</a:t>
            </a:r>
            <a:r>
              <a:rPr lang="zh-TW" altLang="en-US"/>
              <a:t>：尋找元件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C02FCD-296F-7B51-9C63-54C11B3DD875}"/>
              </a:ext>
            </a:extLst>
          </p:cNvPr>
          <p:cNvSpPr txBox="1"/>
          <p:nvPr/>
        </p:nvSpPr>
        <p:spPr>
          <a:xfrm>
            <a:off x="6410960" y="3676374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3: </a:t>
            </a:r>
            <a:r>
              <a:rPr lang="zh-TW" altLang="en-US"/>
              <a:t>選擇 元件 封裝 </a:t>
            </a:r>
            <a:r>
              <a:rPr lang="en-US" altLang="zh-TW"/>
              <a:t>type</a:t>
            </a:r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ED4C3D-5666-536B-13FF-180C2DC31728}"/>
              </a:ext>
            </a:extLst>
          </p:cNvPr>
          <p:cNvSpPr/>
          <p:nvPr/>
        </p:nvSpPr>
        <p:spPr>
          <a:xfrm>
            <a:off x="1148080" y="2819084"/>
            <a:ext cx="2611120" cy="2374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7F8428-9EF6-B6FF-646C-08975266D92A}"/>
              </a:ext>
            </a:extLst>
          </p:cNvPr>
          <p:cNvSpPr/>
          <p:nvPr/>
        </p:nvSpPr>
        <p:spPr>
          <a:xfrm>
            <a:off x="5110480" y="5579197"/>
            <a:ext cx="568960" cy="18807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0279B-37C4-29BC-0706-AD02D3B1FA9B}"/>
              </a:ext>
            </a:extLst>
          </p:cNvPr>
          <p:cNvSpPr txBox="1"/>
          <p:nvPr/>
        </p:nvSpPr>
        <p:spPr>
          <a:xfrm>
            <a:off x="6319520" y="54645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/>
              <a:t>4: </a:t>
            </a:r>
            <a:r>
              <a:rPr lang="zh-TW" altLang="en-US"/>
              <a:t>按下 </a:t>
            </a:r>
            <a:r>
              <a:rPr lang="en-US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34751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6A46-CA49-9DB0-2A46-662AD889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5525D4B-58E4-28F1-60A6-A5667A19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978" y="1047309"/>
            <a:ext cx="7173326" cy="5601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D84C31-8809-C417-768C-71545C1A9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245802-2B30-1502-1922-C593C93CA867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：選擇元件</a:t>
            </a:r>
            <a:endParaRPr lang="en-US" sz="26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641651-1B5A-61E5-EE61-9A3E1D2E2768}"/>
              </a:ext>
            </a:extLst>
          </p:cNvPr>
          <p:cNvSpPr/>
          <p:nvPr/>
        </p:nvSpPr>
        <p:spPr>
          <a:xfrm>
            <a:off x="2295977" y="1384690"/>
            <a:ext cx="3586663" cy="2374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9D3A03-8BBE-C054-2092-2618C9F8A4DD}"/>
              </a:ext>
            </a:extLst>
          </p:cNvPr>
          <p:cNvSpPr/>
          <p:nvPr/>
        </p:nvSpPr>
        <p:spPr>
          <a:xfrm>
            <a:off x="5974078" y="3779520"/>
            <a:ext cx="3495225" cy="27431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55600-B8F0-C7BE-EE9F-8A1AFE853690}"/>
              </a:ext>
            </a:extLst>
          </p:cNvPr>
          <p:cNvSpPr txBox="1"/>
          <p:nvPr/>
        </p:nvSpPr>
        <p:spPr>
          <a:xfrm>
            <a:off x="0" y="2174240"/>
            <a:ext cx="196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選擇 </a:t>
            </a:r>
            <a:r>
              <a:rPr lang="en-US"/>
              <a:t>LM1117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305743-C32C-0F8E-EAB5-4EAB6B3B5178}"/>
              </a:ext>
            </a:extLst>
          </p:cNvPr>
          <p:cNvSpPr/>
          <p:nvPr/>
        </p:nvSpPr>
        <p:spPr>
          <a:xfrm>
            <a:off x="2326457" y="2517195"/>
            <a:ext cx="3586662" cy="2374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29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44397-B900-06B1-3B50-C65BE96CB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977F1A-54B2-4EB2-4119-69C621FC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60" y="1111045"/>
            <a:ext cx="9865543" cy="52221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F599A3-C14D-B2C6-0A6E-D9F91E4C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7CD653-6793-CC49-4521-DE379BE58093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雙擊以更改數值</a:t>
            </a:r>
            <a:endParaRPr lang="en-US" sz="2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7D834A-E5A7-8B24-2ABE-29F31E544EDB}"/>
              </a:ext>
            </a:extLst>
          </p:cNvPr>
          <p:cNvSpPr/>
          <p:nvPr/>
        </p:nvSpPr>
        <p:spPr>
          <a:xfrm>
            <a:off x="8818787" y="3810001"/>
            <a:ext cx="1280253" cy="23368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676175-6ABD-6C3B-5260-98E54A0BA357}"/>
              </a:ext>
            </a:extLst>
          </p:cNvPr>
          <p:cNvSpPr/>
          <p:nvPr/>
        </p:nvSpPr>
        <p:spPr>
          <a:xfrm>
            <a:off x="2245176" y="3181420"/>
            <a:ext cx="4308023" cy="2374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3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345CD-86B4-28ED-0BE3-CE49A233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7CD90A-46AE-95C4-69F9-1D5F1DC7E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089811"/>
            <a:ext cx="10271760" cy="54403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85DD1-6BAC-DBD9-9E4E-3B2C0442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069F01-9F90-2A7D-BEB9-090C4FE9FF02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元件佈線：點選佈線符號或按下 </a:t>
            </a:r>
            <a:r>
              <a:rPr lang="en-US" altLang="zh-TW" sz="2800"/>
              <a:t>"W" </a:t>
            </a:r>
            <a:r>
              <a:rPr lang="zh-TW" altLang="en-US" sz="2800"/>
              <a:t>鍵</a:t>
            </a:r>
            <a:endParaRPr lang="en-US" sz="2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55FA66-7BB8-4E5C-BA28-06DA4110B45A}"/>
              </a:ext>
            </a:extLst>
          </p:cNvPr>
          <p:cNvSpPr/>
          <p:nvPr/>
        </p:nvSpPr>
        <p:spPr>
          <a:xfrm>
            <a:off x="10668000" y="2743200"/>
            <a:ext cx="284480" cy="2438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8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CDA8-A9DD-0B6E-63EF-75FBE077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B09112F-EB30-B08E-A8F7-BBA5DEE96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1035898"/>
            <a:ext cx="10739120" cy="56916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BAB48-1E94-F941-61CE-190CDF60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建立你自己的 </a:t>
            </a:r>
            <a:r>
              <a:rPr lang="en-US"/>
              <a:t>PCB：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9D9FB95-9415-F0C6-CB79-FF640BFA8FEA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元件佈線：新增電源符號</a:t>
            </a:r>
            <a:endParaRPr lang="en-US" sz="2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1C4F1-B7D5-9BCA-A39D-213EF2785668}"/>
              </a:ext>
            </a:extLst>
          </p:cNvPr>
          <p:cNvSpPr/>
          <p:nvPr/>
        </p:nvSpPr>
        <p:spPr>
          <a:xfrm>
            <a:off x="10982960" y="2550160"/>
            <a:ext cx="284480" cy="2438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46DA11-806C-8387-B390-B35ECF4BF7B2}"/>
              </a:ext>
            </a:extLst>
          </p:cNvPr>
          <p:cNvSpPr/>
          <p:nvPr/>
        </p:nvSpPr>
        <p:spPr>
          <a:xfrm>
            <a:off x="8818880" y="2989580"/>
            <a:ext cx="447040" cy="6959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F3A78-D690-1B7F-2577-E9342B90ECD8}"/>
              </a:ext>
            </a:extLst>
          </p:cNvPr>
          <p:cNvSpPr/>
          <p:nvPr/>
        </p:nvSpPr>
        <p:spPr>
          <a:xfrm>
            <a:off x="4257040" y="2997200"/>
            <a:ext cx="447040" cy="6959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145E41-F4BC-C634-26EE-1B9B218EBA85}"/>
              </a:ext>
            </a:extLst>
          </p:cNvPr>
          <p:cNvSpPr/>
          <p:nvPr/>
        </p:nvSpPr>
        <p:spPr>
          <a:xfrm>
            <a:off x="6350000" y="4592320"/>
            <a:ext cx="447040" cy="69596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2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38E72-8E6F-13E3-2667-B77EC952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C3E1-E680-9C05-7831-5B09FB17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269F182-D08F-1BF8-36E9-BADD25B6AC33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H </a:t>
            </a:r>
            <a:r>
              <a:rPr lang="zh-TW" altLang="en-US" sz="2800"/>
              <a:t>橋工作原理</a:t>
            </a:r>
            <a:r>
              <a:rPr lang="en-US" altLang="zh-TW" sz="2800"/>
              <a:t>:</a:t>
            </a:r>
            <a:endParaRPr lang="en-US" sz="26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7252528-CD54-1765-7C5D-255C3DDED203}"/>
              </a:ext>
            </a:extLst>
          </p:cNvPr>
          <p:cNvGrpSpPr/>
          <p:nvPr/>
        </p:nvGrpSpPr>
        <p:grpSpPr>
          <a:xfrm>
            <a:off x="3755985" y="54411"/>
            <a:ext cx="5172075" cy="6705293"/>
            <a:chOff x="3755985" y="54411"/>
            <a:chExt cx="5172075" cy="670529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6D38D22-5BED-221A-F4D6-D20DCBA65A23}"/>
                </a:ext>
              </a:extLst>
            </p:cNvPr>
            <p:cNvSpPr/>
            <p:nvPr/>
          </p:nvSpPr>
          <p:spPr>
            <a:xfrm>
              <a:off x="6218469" y="6344653"/>
              <a:ext cx="532563" cy="4150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FA83AB-E211-2832-BE3A-72EE7C12EF3F}"/>
                </a:ext>
              </a:extLst>
            </p:cNvPr>
            <p:cNvGrpSpPr/>
            <p:nvPr/>
          </p:nvGrpSpPr>
          <p:grpSpPr>
            <a:xfrm>
              <a:off x="3755985" y="54411"/>
              <a:ext cx="5172075" cy="6541651"/>
              <a:chOff x="3755985" y="54411"/>
              <a:chExt cx="5172075" cy="6541651"/>
            </a:xfrm>
          </p:grpSpPr>
          <p:pic>
            <p:nvPicPr>
              <p:cNvPr id="1028" name="Picture 4" descr="How to Build an H bridge Circuit with Transistors">
                <a:extLst>
                  <a:ext uri="{FF2B5EF4-FFF2-40B4-BE49-F238E27FC236}">
                    <a16:creationId xmlns:a16="http://schemas.microsoft.com/office/drawing/2014/main" id="{F07BFA8C-0346-9C41-E867-DD110FCA69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5985" y="261937"/>
                <a:ext cx="5172075" cy="63341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75FFA5C-90F8-CF60-9B41-BE1373542026}"/>
                  </a:ext>
                </a:extLst>
              </p:cNvPr>
              <p:cNvSpPr/>
              <p:nvPr/>
            </p:nvSpPr>
            <p:spPr>
              <a:xfrm>
                <a:off x="3858567" y="1035898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3F295BB-FDE0-9708-4AC7-CF0DB8E5C594}"/>
                  </a:ext>
                </a:extLst>
              </p:cNvPr>
              <p:cNvSpPr/>
              <p:nvPr/>
            </p:nvSpPr>
            <p:spPr>
              <a:xfrm>
                <a:off x="8205416" y="981130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A4690E-F7FF-742D-BC2B-E836A774ADA4}"/>
                  </a:ext>
                </a:extLst>
              </p:cNvPr>
              <p:cNvSpPr/>
              <p:nvPr/>
            </p:nvSpPr>
            <p:spPr>
              <a:xfrm>
                <a:off x="3858566" y="1896221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D2E16E-F080-875D-3A1A-7C6F64011C87}"/>
                  </a:ext>
                </a:extLst>
              </p:cNvPr>
              <p:cNvSpPr/>
              <p:nvPr/>
            </p:nvSpPr>
            <p:spPr>
              <a:xfrm>
                <a:off x="8278167" y="1906029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20F7223-BBEB-864E-6813-40D65268022C}"/>
                  </a:ext>
                </a:extLst>
              </p:cNvPr>
              <p:cNvSpPr/>
              <p:nvPr/>
            </p:nvSpPr>
            <p:spPr>
              <a:xfrm>
                <a:off x="4124847" y="3563876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31D5830-24E0-6F8D-E2DB-D56928CEB742}"/>
                  </a:ext>
                </a:extLst>
              </p:cNvPr>
              <p:cNvSpPr/>
              <p:nvPr/>
            </p:nvSpPr>
            <p:spPr>
              <a:xfrm>
                <a:off x="8147113" y="3563876"/>
                <a:ext cx="532563" cy="2619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EDF8E0A-133E-185B-24D1-D1E815F4B09E}"/>
                  </a:ext>
                </a:extLst>
              </p:cNvPr>
              <p:cNvSpPr/>
              <p:nvPr/>
            </p:nvSpPr>
            <p:spPr>
              <a:xfrm>
                <a:off x="4712512" y="981129"/>
                <a:ext cx="532563" cy="415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27CF215-A89E-6BD4-3A18-4E244922AC37}"/>
                  </a:ext>
                </a:extLst>
              </p:cNvPr>
              <p:cNvSpPr/>
              <p:nvPr/>
            </p:nvSpPr>
            <p:spPr>
              <a:xfrm>
                <a:off x="7351471" y="959340"/>
                <a:ext cx="532563" cy="415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CF6B2D-C953-A739-D005-FCE06D1DBC2E}"/>
                  </a:ext>
                </a:extLst>
              </p:cNvPr>
              <p:cNvSpPr/>
              <p:nvPr/>
            </p:nvSpPr>
            <p:spPr>
              <a:xfrm>
                <a:off x="4712511" y="3259079"/>
                <a:ext cx="532563" cy="415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12BF866-7A37-F785-3ED8-24C8E05387D6}"/>
                  </a:ext>
                </a:extLst>
              </p:cNvPr>
              <p:cNvSpPr/>
              <p:nvPr/>
            </p:nvSpPr>
            <p:spPr>
              <a:xfrm>
                <a:off x="7395228" y="3231683"/>
                <a:ext cx="532563" cy="415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C0115E-155E-18AD-159C-19C9FB5996E8}"/>
                  </a:ext>
                </a:extLst>
              </p:cNvPr>
              <p:cNvSpPr/>
              <p:nvPr/>
            </p:nvSpPr>
            <p:spPr>
              <a:xfrm>
                <a:off x="5685906" y="5661283"/>
                <a:ext cx="532563" cy="48423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C3F52A8-D287-5B1C-44A4-EB433A5EB34A}"/>
                  </a:ext>
                </a:extLst>
              </p:cNvPr>
              <p:cNvSpPr/>
              <p:nvPr/>
            </p:nvSpPr>
            <p:spPr>
              <a:xfrm>
                <a:off x="6075740" y="54411"/>
                <a:ext cx="532563" cy="41505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50E81-412F-15A7-5268-214A46ED278C}"/>
              </a:ext>
            </a:extLst>
          </p:cNvPr>
          <p:cNvSpPr/>
          <p:nvPr/>
        </p:nvSpPr>
        <p:spPr>
          <a:xfrm>
            <a:off x="6096000" y="6403647"/>
            <a:ext cx="532563" cy="41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30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B701-512C-EF8B-B971-4C3CCFA8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8F421-F259-095C-8F37-08EFAF14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5813BE-D6C7-4F80-E3FA-8481ACB8E2E4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H </a:t>
            </a:r>
            <a:r>
              <a:rPr lang="zh-TW" altLang="en-US" sz="2800"/>
              <a:t>橋工作原理</a:t>
            </a:r>
            <a:endParaRPr lang="en-US" sz="2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18D1DE-C526-3068-B76F-77BD75898EC3}"/>
              </a:ext>
            </a:extLst>
          </p:cNvPr>
          <p:cNvSpPr/>
          <p:nvPr/>
        </p:nvSpPr>
        <p:spPr>
          <a:xfrm>
            <a:off x="6096000" y="6403647"/>
            <a:ext cx="532563" cy="41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multiple motor h bridge? - Electrical Engineering Stack Exchange">
            <a:extLst>
              <a:ext uri="{FF2B5EF4-FFF2-40B4-BE49-F238E27FC236}">
                <a16:creationId xmlns:a16="http://schemas.microsoft.com/office/drawing/2014/main" id="{DA3AFC05-2B76-5F89-D3EC-81F5A4E97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35898"/>
            <a:ext cx="8116781" cy="43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7CA9D1-78B9-6AD7-F118-58AC05188B56}"/>
              </a:ext>
            </a:extLst>
          </p:cNvPr>
          <p:cNvSpPr txBox="1"/>
          <p:nvPr/>
        </p:nvSpPr>
        <p:spPr>
          <a:xfrm>
            <a:off x="0" y="5571744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/>
              <a:t>H </a:t>
            </a:r>
            <a:r>
              <a:rPr lang="zh-TW" altLang="en-US" sz="2400"/>
              <a:t>橋使用四個電晶體作為開關，用以反轉流經馬達 </a:t>
            </a:r>
            <a:r>
              <a:rPr lang="en-US" altLang="zh-TW" sz="2400"/>
              <a:t>(M) </a:t>
            </a:r>
            <a:r>
              <a:rPr lang="zh-TW" altLang="en-US" sz="2400"/>
              <a:t>的電流方向，使其能夠雙向旋轉</a:t>
            </a:r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4D3ABEE-299D-3077-2D63-2FD06DCBBAA8}"/>
              </a:ext>
            </a:extLst>
          </p:cNvPr>
          <p:cNvSpPr txBox="1">
            <a:spLocks/>
          </p:cNvSpPr>
          <p:nvPr/>
        </p:nvSpPr>
        <p:spPr>
          <a:xfrm>
            <a:off x="1902543" y="1002208"/>
            <a:ext cx="2236839" cy="5969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>
                <a:latin typeface="PMingLiU" panose="02020500000000000000" pitchFamily="18" charset="-120"/>
                <a:ea typeface="PMingLiU" panose="02020500000000000000" pitchFamily="18" charset="-120"/>
              </a:rPr>
              <a:t>H 橋拓撲結構</a:t>
            </a:r>
            <a:endParaRPr lang="en-US" sz="260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48E46B-765A-8438-156A-D2E54C27BDBB}"/>
              </a:ext>
            </a:extLst>
          </p:cNvPr>
          <p:cNvSpPr txBox="1">
            <a:spLocks/>
          </p:cNvSpPr>
          <p:nvPr/>
        </p:nvSpPr>
        <p:spPr>
          <a:xfrm>
            <a:off x="4616370" y="792854"/>
            <a:ext cx="2236839" cy="8361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>
                <a:latin typeface="PMingLiU" panose="02020500000000000000" pitchFamily="18" charset="-120"/>
                <a:ea typeface="PMingLiU" panose="02020500000000000000" pitchFamily="18" charset="-120"/>
              </a:rPr>
              <a:t>將負載連接至其中一個方向</a:t>
            </a:r>
            <a:endParaRPr lang="en-US" sz="260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FD4C8E-4EFA-5DF6-AC8F-EF547DE35A1C}"/>
              </a:ext>
            </a:extLst>
          </p:cNvPr>
          <p:cNvSpPr txBox="1">
            <a:spLocks/>
          </p:cNvSpPr>
          <p:nvPr/>
        </p:nvSpPr>
        <p:spPr>
          <a:xfrm>
            <a:off x="7330197" y="777934"/>
            <a:ext cx="2462981" cy="8361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>
                <a:latin typeface="+mj-ea"/>
              </a:rPr>
              <a:t>將負載連接至另 </a:t>
            </a:r>
            <a:r>
              <a:rPr lang="en-US" altLang="zh-TW" sz="2800">
                <a:latin typeface="+mj-ea"/>
              </a:rPr>
              <a:t>footer </a:t>
            </a:r>
            <a:r>
              <a:rPr lang="zh-TW" altLang="en-US" sz="2800">
                <a:latin typeface="+mj-ea"/>
              </a:rPr>
              <a:t>一個方向</a:t>
            </a:r>
            <a:endParaRPr lang="en-US" sz="260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12497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12A2-4056-6E09-6CA6-CB481E1F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A8E3-DA41-DFEC-9F69-3F0FF0442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19027BD-5829-9E2E-F942-DA755C1A593B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/>
              <a:t>H </a:t>
            </a:r>
            <a:r>
              <a:rPr lang="zh-TW" altLang="en-US" sz="2400"/>
              <a:t>橋工作原理</a:t>
            </a:r>
            <a:endParaRPr lang="en-US" sz="24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5A1A74-814F-781D-2BAF-96F68D655981}"/>
              </a:ext>
            </a:extLst>
          </p:cNvPr>
          <p:cNvSpPr/>
          <p:nvPr/>
        </p:nvSpPr>
        <p:spPr>
          <a:xfrm>
            <a:off x="6096000" y="6403647"/>
            <a:ext cx="532563" cy="4150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multiple motor h bridge? - Electrical Engineering Stack Exchange">
            <a:extLst>
              <a:ext uri="{FF2B5EF4-FFF2-40B4-BE49-F238E27FC236}">
                <a16:creationId xmlns:a16="http://schemas.microsoft.com/office/drawing/2014/main" id="{33324BB5-3B63-0763-573D-60DC5BF01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683" y="1035898"/>
            <a:ext cx="8116781" cy="436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3486F2-10C9-48C4-D07E-14BFE1DC93F6}"/>
              </a:ext>
            </a:extLst>
          </p:cNvPr>
          <p:cNvSpPr/>
          <p:nvPr/>
        </p:nvSpPr>
        <p:spPr>
          <a:xfrm>
            <a:off x="3687097" y="2340077"/>
            <a:ext cx="491613" cy="7669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B89A0-6C40-A31F-6131-40B99F8EDAFE}"/>
              </a:ext>
            </a:extLst>
          </p:cNvPr>
          <p:cNvSpPr/>
          <p:nvPr/>
        </p:nvSpPr>
        <p:spPr>
          <a:xfrm>
            <a:off x="3687097" y="3743632"/>
            <a:ext cx="491613" cy="76691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FE2B720-A203-0CC7-E34C-A071774B4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7" y="1199405"/>
            <a:ext cx="3652683" cy="2807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/>
              <a:t>PNP（</a:t>
            </a:r>
            <a:r>
              <a:rPr lang="zh-TW" altLang="en-US" sz="2000" b="1"/>
              <a:t>上側 </a:t>
            </a:r>
            <a:r>
              <a:rPr lang="en-US" altLang="zh-TW" sz="2000" b="1"/>
              <a:t>/ </a:t>
            </a:r>
            <a:r>
              <a:rPr lang="zh-TW" altLang="en-US" sz="2000" b="1"/>
              <a:t>高側</a:t>
            </a:r>
            <a:r>
              <a:rPr lang="en-US" sz="2000" b="1"/>
              <a:t>）：</a:t>
            </a:r>
            <a:br>
              <a:rPr lang="en-US" sz="2000"/>
            </a:br>
            <a:r>
              <a:rPr lang="zh-TW" altLang="en-US" sz="2000"/>
              <a:t>這些元件作為「供電端開關</a:t>
            </a:r>
            <a:r>
              <a:rPr lang="en-US" sz="2000"/>
              <a:t>」。</a:t>
            </a:r>
            <a:r>
              <a:rPr lang="zh-TW" altLang="en-US" sz="2000"/>
              <a:t>當 </a:t>
            </a:r>
            <a:r>
              <a:rPr lang="en-US" sz="2000"/>
              <a:t>PNP </a:t>
            </a:r>
            <a:r>
              <a:rPr lang="zh-TW" altLang="en-US" sz="2000"/>
              <a:t>電晶體（</a:t>
            </a:r>
            <a:r>
              <a:rPr lang="en-US" sz="2000"/>
              <a:t>transistor）</a:t>
            </a:r>
            <a:r>
              <a:rPr lang="zh-TW" altLang="en-US" sz="2000"/>
              <a:t>的 </a:t>
            </a:r>
            <a:r>
              <a:rPr lang="en-US" sz="2000"/>
              <a:t>Base </a:t>
            </a:r>
            <a:r>
              <a:rPr lang="zh-TW" altLang="en-US" sz="2000"/>
              <a:t>被拉低（接近 </a:t>
            </a:r>
            <a:r>
              <a:rPr lang="en-US" altLang="zh-TW" sz="2000"/>
              <a:t>0</a:t>
            </a:r>
            <a:r>
              <a:rPr lang="en-US" sz="2000"/>
              <a:t>V）</a:t>
            </a:r>
            <a:r>
              <a:rPr lang="zh-TW" altLang="en-US" sz="2000"/>
              <a:t>時，電晶體導通，將馬達連接到正電源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DBEB5-3846-38E2-C1F5-471A417A6477}"/>
              </a:ext>
            </a:extLst>
          </p:cNvPr>
          <p:cNvSpPr txBox="1"/>
          <p:nvPr/>
        </p:nvSpPr>
        <p:spPr>
          <a:xfrm>
            <a:off x="-1" y="3888859"/>
            <a:ext cx="3669891" cy="281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/>
              <a:t>NPN（</a:t>
            </a:r>
            <a:r>
              <a:rPr lang="zh-TW" altLang="en-US" sz="2000" b="1"/>
              <a:t>下側 </a:t>
            </a:r>
            <a:r>
              <a:rPr lang="en-US" altLang="zh-TW" sz="2000" b="1"/>
              <a:t>/ </a:t>
            </a:r>
            <a:r>
              <a:rPr lang="zh-TW" altLang="en-US" sz="2000" b="1"/>
              <a:t>低側</a:t>
            </a:r>
            <a:r>
              <a:rPr lang="en-US" sz="2000" b="1"/>
              <a:t>）：</a:t>
            </a:r>
            <a:br>
              <a:rPr lang="en-US" sz="2000"/>
            </a:br>
            <a:r>
              <a:rPr lang="zh-TW" altLang="en-US" sz="2000"/>
              <a:t>這些元件作為「接地端開關</a:t>
            </a:r>
            <a:r>
              <a:rPr lang="en-US" sz="2000"/>
              <a:t>」。</a:t>
            </a:r>
            <a:r>
              <a:rPr lang="zh-TW" altLang="en-US" sz="2000"/>
              <a:t>當 </a:t>
            </a:r>
            <a:r>
              <a:rPr lang="en-US" sz="2000"/>
              <a:t>NPN </a:t>
            </a:r>
            <a:r>
              <a:rPr lang="zh-TW" altLang="en-US" sz="2000"/>
              <a:t>電晶體（</a:t>
            </a:r>
            <a:r>
              <a:rPr lang="en-US" sz="2000"/>
              <a:t>transistor）</a:t>
            </a:r>
            <a:r>
              <a:rPr lang="zh-TW" altLang="en-US" sz="2000"/>
              <a:t>的 </a:t>
            </a:r>
            <a:r>
              <a:rPr lang="en-US" sz="2000"/>
              <a:t>Base </a:t>
            </a:r>
            <a:r>
              <a:rPr lang="zh-TW" altLang="en-US" sz="2000"/>
              <a:t>被拉高（接近 </a:t>
            </a:r>
            <a:r>
              <a:rPr lang="en-US" altLang="zh-TW" sz="2000"/>
              <a:t>12</a:t>
            </a:r>
            <a:r>
              <a:rPr lang="en-US" sz="2000"/>
              <a:t>V）</a:t>
            </a:r>
            <a:r>
              <a:rPr lang="zh-TW" altLang="en-US" sz="2000"/>
              <a:t>時，電晶體導通，將馬達連接到接地（</a:t>
            </a:r>
            <a:r>
              <a:rPr lang="en-US" sz="2000"/>
              <a:t>Ground）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EC59EAA-CAE5-BF85-73A5-C06E16ACC1A4}"/>
              </a:ext>
            </a:extLst>
          </p:cNvPr>
          <p:cNvSpPr txBox="1">
            <a:spLocks/>
          </p:cNvSpPr>
          <p:nvPr/>
        </p:nvSpPr>
        <p:spPr>
          <a:xfrm>
            <a:off x="3865059" y="1045614"/>
            <a:ext cx="2236839" cy="59696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>
                <a:latin typeface="PMingLiU" panose="02020500000000000000" pitchFamily="18" charset="-120"/>
                <a:ea typeface="PMingLiU" panose="02020500000000000000" pitchFamily="18" charset="-120"/>
              </a:rPr>
              <a:t>H 橋拓撲結構</a:t>
            </a:r>
            <a:endParaRPr lang="en-US" sz="260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DF81EBC-B7AA-8FB6-9B22-5B5B384C9ADA}"/>
              </a:ext>
            </a:extLst>
          </p:cNvPr>
          <p:cNvSpPr txBox="1">
            <a:spLocks/>
          </p:cNvSpPr>
          <p:nvPr/>
        </p:nvSpPr>
        <p:spPr>
          <a:xfrm>
            <a:off x="6578886" y="836260"/>
            <a:ext cx="2236839" cy="8361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>
                <a:latin typeface="PMingLiU" panose="02020500000000000000" pitchFamily="18" charset="-120"/>
                <a:ea typeface="PMingLiU" panose="02020500000000000000" pitchFamily="18" charset="-120"/>
              </a:rPr>
              <a:t>將負載連接至其中一個方向</a:t>
            </a:r>
            <a:endParaRPr lang="en-US" sz="2600">
              <a:latin typeface="PMingLiU" panose="02020500000000000000" pitchFamily="18" charset="-120"/>
              <a:ea typeface="PMingLiU" panose="02020500000000000000" pitchFamily="18" charset="-12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3939C88-30A3-278E-0A06-6CB9136D1B89}"/>
              </a:ext>
            </a:extLst>
          </p:cNvPr>
          <p:cNvSpPr txBox="1">
            <a:spLocks/>
          </p:cNvSpPr>
          <p:nvPr/>
        </p:nvSpPr>
        <p:spPr>
          <a:xfrm>
            <a:off x="9292713" y="821340"/>
            <a:ext cx="2462981" cy="83615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>
                <a:latin typeface="+mj-ea"/>
              </a:rPr>
              <a:t>將負載連接至另 </a:t>
            </a:r>
            <a:r>
              <a:rPr lang="en-US" altLang="zh-TW" sz="2800">
                <a:latin typeface="+mj-ea"/>
              </a:rPr>
              <a:t>footer </a:t>
            </a:r>
            <a:r>
              <a:rPr lang="zh-TW" altLang="en-US" sz="2800">
                <a:latin typeface="+mj-ea"/>
              </a:rPr>
              <a:t>一個方向</a:t>
            </a:r>
            <a:endParaRPr lang="en-US" sz="260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28928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B1C8-D845-7762-D304-08D19DDA9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36793-585C-C9FC-9657-C67128CF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DFE899-F61D-5982-1C8F-163287C520EF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建立 </a:t>
            </a:r>
            <a:r>
              <a:rPr lang="en-US" altLang="zh-TW" sz="2800"/>
              <a:t>H </a:t>
            </a:r>
            <a:r>
              <a:rPr lang="zh-TW" altLang="en-US" sz="2800"/>
              <a:t>橋電路原理圖範例</a:t>
            </a:r>
            <a:r>
              <a:rPr lang="en-US" altLang="zh-TW" sz="2800"/>
              <a:t>:</a:t>
            </a:r>
            <a:endParaRPr lang="en-US" sz="2600"/>
          </a:p>
        </p:txBody>
      </p:sp>
      <p:pic>
        <p:nvPicPr>
          <p:cNvPr id="1026" name="Picture 2" descr="GitHub - Arrakark/H-THING: An h-bridge circuit for ENPH 253 robot lab ·  GitHub">
            <a:extLst>
              <a:ext uri="{FF2B5EF4-FFF2-40B4-BE49-F238E27FC236}">
                <a16:creationId xmlns:a16="http://schemas.microsoft.com/office/drawing/2014/main" id="{D055A96D-E129-17B7-5C0A-D56EBFA4F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41" y="1178466"/>
            <a:ext cx="10881281" cy="5457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621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8699-5D0C-BEB6-B2E3-A0E5078C1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12F1-3885-B4C0-953D-2B2287DE1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8BA5F-D978-C8F4-9A90-259154E6A092}"/>
              </a:ext>
            </a:extLst>
          </p:cNvPr>
          <p:cNvSpPr txBox="1">
            <a:spLocks/>
          </p:cNvSpPr>
          <p:nvPr/>
        </p:nvSpPr>
        <p:spPr>
          <a:xfrm>
            <a:off x="0" y="606868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800"/>
              <a:t>建立心形 </a:t>
            </a:r>
            <a:r>
              <a:rPr lang="en-US" sz="2800"/>
              <a:t>LED </a:t>
            </a:r>
            <a:r>
              <a:rPr lang="zh-TW" altLang="en-US" sz="2800"/>
              <a:t>電路</a:t>
            </a:r>
            <a:endParaRPr lang="en-US" sz="2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6B13D-2137-BED5-B584-E81A741C4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470" y="1071167"/>
            <a:ext cx="8806098" cy="523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19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0C86-4FD0-4A6A-FA38-5ED2397A3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2F48-C661-FDCD-CDC2-9AF5AE370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ED467E-2F19-2A1A-3733-0D24CE053009}"/>
              </a:ext>
            </a:extLst>
          </p:cNvPr>
          <p:cNvSpPr txBox="1">
            <a:spLocks/>
          </p:cNvSpPr>
          <p:nvPr/>
        </p:nvSpPr>
        <p:spPr>
          <a:xfrm>
            <a:off x="0" y="626807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LED </a:t>
            </a:r>
            <a:r>
              <a:rPr lang="zh-TW" altLang="en-US" sz="2800"/>
              <a:t>原理：</a:t>
            </a:r>
            <a:endParaRPr lang="en-US" sz="26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E960F8-BA5A-1F69-E027-BBEBDDE8E8D3}"/>
              </a:ext>
            </a:extLst>
          </p:cNvPr>
          <p:cNvGrpSpPr/>
          <p:nvPr/>
        </p:nvGrpSpPr>
        <p:grpSpPr>
          <a:xfrm>
            <a:off x="1436149" y="1035898"/>
            <a:ext cx="8549149" cy="5754680"/>
            <a:chOff x="1436149" y="1035898"/>
            <a:chExt cx="8549149" cy="57546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B2754A9-897F-8B35-1C4E-27663FA20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3349" y="1035898"/>
              <a:ext cx="7975865" cy="557083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5AA776-4D77-551F-23F4-75BA148F054F}"/>
                </a:ext>
              </a:extLst>
            </p:cNvPr>
            <p:cNvSpPr/>
            <p:nvPr/>
          </p:nvSpPr>
          <p:spPr>
            <a:xfrm>
              <a:off x="1436149" y="6306340"/>
              <a:ext cx="914400" cy="4842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23F283-F8AB-A870-ECDB-1E6EA2FBC163}"/>
                </a:ext>
              </a:extLst>
            </p:cNvPr>
            <p:cNvSpPr/>
            <p:nvPr/>
          </p:nvSpPr>
          <p:spPr>
            <a:xfrm>
              <a:off x="9070898" y="6064221"/>
              <a:ext cx="914400" cy="4842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74892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77B5F-E57E-A306-5685-F8E10B47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16E94-7FF5-2225-3765-7F70CD20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D89EE7-3BA0-4594-67F9-34380D3931A8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LED </a:t>
            </a:r>
            <a:r>
              <a:rPr lang="zh-TW" altLang="en-US" sz="2800"/>
              <a:t>電壓供應</a:t>
            </a:r>
            <a:endParaRPr lang="en-US" sz="2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24414-B32E-5550-6424-7B9A830BA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92" y="237679"/>
            <a:ext cx="5401429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750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30C2D-4ED9-0F3D-8B30-8B6E8542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CC3E-9B07-649E-8A33-66B4E056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919E3-2D91-A427-F8C2-4352842BE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717261"/>
            <a:ext cx="10440857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24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660C-8445-4C96-5022-9146353A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07E6-CC9B-CB19-F1DF-2B5FD3AB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en-US"/>
              <a:t>Practice: Calculate 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62DC0-FB55-D22A-2012-3C586C9702B2}"/>
                  </a:ext>
                </a:extLst>
              </p:cNvPr>
              <p:cNvSpPr txBox="1"/>
              <p:nvPr/>
            </p:nvSpPr>
            <p:spPr>
              <a:xfrm>
                <a:off x="3749177" y="1418311"/>
                <a:ext cx="1437467" cy="689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E62DC0-FB55-D22A-2012-3C586C970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177" y="1418311"/>
                <a:ext cx="1437467" cy="6890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3C5412-32BC-CB3D-1D58-518D5B525AB1}"/>
              </a:ext>
            </a:extLst>
          </p:cNvPr>
          <p:cNvSpPr txBox="1"/>
          <p:nvPr/>
        </p:nvSpPr>
        <p:spPr>
          <a:xfrm>
            <a:off x="5319881" y="1215019"/>
            <a:ext cx="32046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I: </a:t>
            </a:r>
            <a:r>
              <a:rPr lang="zh-TW" altLang="en-US" sz="2400"/>
              <a:t>電流
</a:t>
            </a:r>
            <a:r>
              <a:rPr lang="en-US" sz="2400"/>
              <a:t>U: Voltage
R: registor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97E4DB-3DDF-EDF3-4D63-13912753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662" y="928551"/>
            <a:ext cx="1352739" cy="19528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822032-C310-EEF9-D490-4915DA97054E}"/>
              </a:ext>
            </a:extLst>
          </p:cNvPr>
          <p:cNvSpPr txBox="1"/>
          <p:nvPr/>
        </p:nvSpPr>
        <p:spPr>
          <a:xfrm>
            <a:off x="511277" y="3270154"/>
            <a:ext cx="1091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Red led:</a:t>
            </a:r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87320C-0512-AF9D-55A3-CBA939FF2406}"/>
              </a:ext>
            </a:extLst>
          </p:cNvPr>
          <p:cNvSpPr txBox="1"/>
          <p:nvPr/>
        </p:nvSpPr>
        <p:spPr>
          <a:xfrm>
            <a:off x="1602657" y="3270153"/>
            <a:ext cx="2939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Voltage = 3.3V
Current = 20mA
Peak </a:t>
            </a:r>
            <a:r>
              <a:rPr lang="zh-TW" altLang="en-US"/>
              <a:t>電流 </a:t>
            </a:r>
            <a:r>
              <a:rPr lang="en-US" altLang="zh-TW"/>
              <a:t>= 75</a:t>
            </a:r>
            <a:r>
              <a:rPr lang="en-US"/>
              <a:t>mA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3FE575-3108-786E-0F2B-DD7FF19F9CBD}"/>
              </a:ext>
            </a:extLst>
          </p:cNvPr>
          <p:cNvCxnSpPr/>
          <p:nvPr/>
        </p:nvCxnSpPr>
        <p:spPr>
          <a:xfrm>
            <a:off x="4188542" y="3844413"/>
            <a:ext cx="14256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9CA994-6827-4F30-7B95-821F7D6CDC51}"/>
                  </a:ext>
                </a:extLst>
              </p:cNvPr>
              <p:cNvSpPr txBox="1"/>
              <p:nvPr/>
            </p:nvSpPr>
            <p:spPr>
              <a:xfrm>
                <a:off x="6096000" y="3067341"/>
                <a:ext cx="2993923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5−0.7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20∗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=215</m:t>
                      </m:r>
                      <m:r>
                        <m:rPr>
                          <m:nor/>
                        </m:rPr>
                        <a:rPr lang="el-GR"/>
                        <m:t>Ω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9CA994-6827-4F30-7B95-821F7D6CD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067341"/>
                <a:ext cx="2993923" cy="5259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072FC2-2528-E91B-9242-417AE116736C}"/>
                  </a:ext>
                </a:extLst>
              </p:cNvPr>
              <p:cNvSpPr txBox="1"/>
              <p:nvPr/>
            </p:nvSpPr>
            <p:spPr>
              <a:xfrm>
                <a:off x="5706601" y="3870317"/>
                <a:ext cx="3885797" cy="5259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5−0.7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75∗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58</m:t>
                      </m:r>
                      <m:r>
                        <m:rPr>
                          <m:nor/>
                        </m:rPr>
                        <a:rPr lang="el-GR"/>
                        <m:t>Ω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F072FC2-2528-E91B-9242-417AE1167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601" y="3870317"/>
                <a:ext cx="3885797" cy="5259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78BD63-FF53-5B02-7B0F-02E42CBB0F10}"/>
              </a:ext>
            </a:extLst>
          </p:cNvPr>
          <p:cNvCxnSpPr>
            <a:cxnSpLocks/>
          </p:cNvCxnSpPr>
          <p:nvPr/>
        </p:nvCxnSpPr>
        <p:spPr>
          <a:xfrm>
            <a:off x="4188542" y="5090965"/>
            <a:ext cx="13854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D889E6-28D0-48DB-7A35-6A233AC5B66E}"/>
                  </a:ext>
                </a:extLst>
              </p:cNvPr>
              <p:cNvSpPr txBox="1"/>
              <p:nvPr/>
            </p:nvSpPr>
            <p:spPr>
              <a:xfrm>
                <a:off x="5706601" y="4952651"/>
                <a:ext cx="41885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Choose: R=1k5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Ω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D889E6-28D0-48DB-7A35-6A233AC5B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601" y="4952651"/>
                <a:ext cx="4188542" cy="369332"/>
              </a:xfrm>
              <a:prstGeom prst="rect">
                <a:avLst/>
              </a:prstGeom>
              <a:blipFill>
                <a:blip r:embed="rId6"/>
                <a:stretch>
                  <a:fillRect l="-116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8544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91E9-6DE1-4DC7-AF81-D52842ED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9E41-B9A0-E619-A29C-72113857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28814C-AF82-78C0-9663-7E9C38FEF56C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Oscilator IC: NE555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11479E-1849-1396-5981-3519F6057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88" y="1297930"/>
            <a:ext cx="9916683" cy="51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57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EC55C-36EF-4C04-B903-1C44D9AE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7100-288B-881C-612A-C7C4FAC1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B851AD-4CF3-3D39-B0FE-7E877C64C2EF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IC74HC4017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BC8B6-1B0A-1C8B-6DE7-FEEED7821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1321725"/>
            <a:ext cx="11088647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11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D01C9-730C-A91E-EE57-2415FEA35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F386-6040-22A1-35AF-EE479E031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BA50AB-08BC-ED74-C0D6-1A780CBCA135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Schematic 1：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3DB71-88E9-686C-9923-B63B96DE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10" y="1045730"/>
            <a:ext cx="10802858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70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11C3-B0D6-D006-D0C7-DED057F0F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B9BDE-FD44-9CDB-7EE9-68CA5A0D0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28E501-ECCF-66DE-6EC5-0AFC669A2888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Schematic 2：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62B3B8-F562-C860-A25B-2B28C7048806}"/>
              </a:ext>
            </a:extLst>
          </p:cNvPr>
          <p:cNvGrpSpPr/>
          <p:nvPr/>
        </p:nvGrpSpPr>
        <p:grpSpPr>
          <a:xfrm>
            <a:off x="885163" y="1263131"/>
            <a:ext cx="10319887" cy="4934639"/>
            <a:chOff x="885163" y="1263131"/>
            <a:chExt cx="10319887" cy="49346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6E843B-1745-CCD6-87FC-EE5321AEC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163" y="1263131"/>
              <a:ext cx="10240804" cy="493463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B4533A-741E-0956-09FE-322B00E93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82941" y="5754308"/>
              <a:ext cx="1762371" cy="304843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376C3A-86E6-1996-C669-C1C0480E5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28169" y="5759226"/>
              <a:ext cx="1762371" cy="30484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44EA31F-6583-AD5F-8799-6DF71A4EB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2679" y="5734644"/>
              <a:ext cx="1762371" cy="304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3260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2B68A-776C-818F-A369-27985597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51D9-9FA1-4E98-2B7F-DC64D6DDA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6806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練習：</a:t>
            </a:r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DE7805-54C9-681F-08AF-285BE4A5DA65}"/>
              </a:ext>
            </a:extLst>
          </p:cNvPr>
          <p:cNvSpPr txBox="1">
            <a:spLocks/>
          </p:cNvSpPr>
          <p:nvPr/>
        </p:nvSpPr>
        <p:spPr>
          <a:xfrm>
            <a:off x="0" y="551660"/>
            <a:ext cx="10515600" cy="48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Simple Bent Wire Game Circuit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52A0D-3D25-CA15-3AA5-9D46F160DDE7}"/>
              </a:ext>
            </a:extLst>
          </p:cNvPr>
          <p:cNvSpPr txBox="1"/>
          <p:nvPr/>
        </p:nvSpPr>
        <p:spPr>
          <a:xfrm>
            <a:off x="0" y="941226"/>
            <a:ext cx="11425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https://www.circuits-diy.com/simple-bent-wire-game-circuit/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45218-7BA1-8AF1-E316-CBC48E15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89" y="1350317"/>
            <a:ext cx="7127759" cy="50067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92A053E-36C2-2590-5CFA-873586C0B6B2}"/>
              </a:ext>
            </a:extLst>
          </p:cNvPr>
          <p:cNvSpPr/>
          <p:nvPr/>
        </p:nvSpPr>
        <p:spPr>
          <a:xfrm>
            <a:off x="2192594" y="1563329"/>
            <a:ext cx="6440129" cy="639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8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896</Words>
  <Application>Microsoft Office PowerPoint</Application>
  <PresentationFormat>Widescreen</PresentationFormat>
  <Paragraphs>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PMingLiU</vt:lpstr>
      <vt:lpstr>Aptos</vt:lpstr>
      <vt:lpstr>Aptos Display</vt:lpstr>
      <vt:lpstr>Arial</vt:lpstr>
      <vt:lpstr>Cambria Math</vt:lpstr>
      <vt:lpstr>Office Theme</vt:lpstr>
      <vt:lpstr>原理圖設計</vt:lpstr>
      <vt:lpstr>原理圖設計：</vt:lpstr>
      <vt:lpstr>建立你自己的 PCB：</vt:lpstr>
      <vt:lpstr>建立你自己的 PCB：</vt:lpstr>
      <vt:lpstr>建立你自己的 PCB：</vt:lpstr>
      <vt:lpstr>建立你自己的 PCB：</vt:lpstr>
      <vt:lpstr>建立你自己的 PCB：</vt:lpstr>
      <vt:lpstr>建立你自己的 PCB：</vt:lpstr>
      <vt:lpstr>PowerPoint Presentation</vt:lpstr>
      <vt:lpstr>PowerPoint Presentation</vt:lpstr>
      <vt:lpstr>PowerPoint Presentation</vt:lpstr>
      <vt:lpstr>建立你自己的 PCB：</vt:lpstr>
      <vt:lpstr>建立你自己的 PCB：</vt:lpstr>
      <vt:lpstr>建立你自己的 PCB：</vt:lpstr>
      <vt:lpstr>建立你自己的 PCB：</vt:lpstr>
      <vt:lpstr>建立你自己的 PCB：</vt:lpstr>
      <vt:lpstr>建立你自己的 PCB：</vt:lpstr>
      <vt:lpstr>練習：</vt:lpstr>
      <vt:lpstr>練習：</vt:lpstr>
      <vt:lpstr>練習：</vt:lpstr>
      <vt:lpstr>練習：</vt:lpstr>
      <vt:lpstr>練習：</vt:lpstr>
      <vt:lpstr>練習：</vt:lpstr>
      <vt:lpstr>練習：</vt:lpstr>
      <vt:lpstr>練習：</vt:lpstr>
      <vt:lpstr>Practice: Calculate R </vt:lpstr>
      <vt:lpstr>練習：</vt:lpstr>
      <vt:lpstr>練習：</vt:lpstr>
      <vt:lpstr>練習：</vt:lpstr>
      <vt:lpstr>練習：</vt:lpstr>
      <vt:lpstr>練習：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11</cp:revision>
  <dcterms:created xsi:type="dcterms:W3CDTF">2026-03-13T01:42:17Z</dcterms:created>
  <dcterms:modified xsi:type="dcterms:W3CDTF">2026-04-03T16:29:03Z</dcterms:modified>
</cp:coreProperties>
</file>