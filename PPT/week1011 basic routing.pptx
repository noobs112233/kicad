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45"/>
  </p:notesMasterIdLst>
  <p:sldIdLst>
    <p:sldId id="256" r:id="rId2"/>
    <p:sldId id="341" r:id="rId3"/>
    <p:sldId id="355" r:id="rId4"/>
    <p:sldId id="356" r:id="rId5"/>
    <p:sldId id="357" r:id="rId6"/>
    <p:sldId id="358" r:id="rId7"/>
    <p:sldId id="359" r:id="rId8"/>
    <p:sldId id="360" r:id="rId9"/>
    <p:sldId id="361" r:id="rId10"/>
    <p:sldId id="362" r:id="rId11"/>
    <p:sldId id="365" r:id="rId12"/>
    <p:sldId id="366" r:id="rId13"/>
    <p:sldId id="367" r:id="rId14"/>
    <p:sldId id="368" r:id="rId15"/>
    <p:sldId id="423" r:id="rId16"/>
    <p:sldId id="424" r:id="rId17"/>
    <p:sldId id="425" r:id="rId18"/>
    <p:sldId id="369" r:id="rId19"/>
    <p:sldId id="370" r:id="rId20"/>
    <p:sldId id="444" r:id="rId21"/>
    <p:sldId id="445" r:id="rId22"/>
    <p:sldId id="446" r:id="rId23"/>
    <p:sldId id="447" r:id="rId24"/>
    <p:sldId id="448" r:id="rId25"/>
    <p:sldId id="451" r:id="rId26"/>
    <p:sldId id="449" r:id="rId27"/>
    <p:sldId id="450" r:id="rId28"/>
    <p:sldId id="453" r:id="rId29"/>
    <p:sldId id="454" r:id="rId30"/>
    <p:sldId id="455" r:id="rId31"/>
    <p:sldId id="456" r:id="rId32"/>
    <p:sldId id="457" r:id="rId33"/>
    <p:sldId id="458" r:id="rId34"/>
    <p:sldId id="459" r:id="rId35"/>
    <p:sldId id="460" r:id="rId36"/>
    <p:sldId id="461" r:id="rId37"/>
    <p:sldId id="462" r:id="rId38"/>
    <p:sldId id="463" r:id="rId39"/>
    <p:sldId id="464" r:id="rId40"/>
    <p:sldId id="465" r:id="rId41"/>
    <p:sldId id="466" r:id="rId42"/>
    <p:sldId id="467" r:id="rId43"/>
    <p:sldId id="468" r:id="rId4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78" d="100"/>
          <a:sy n="78" d="100"/>
        </p:scale>
        <p:origin x="878" y="139"/>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theme" Target="theme/theme1.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presProps" Target="presProps.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128C30B-ABFF-413D-AE00-CFC3CA8B0FF1}" type="datetimeFigureOut">
              <a:rPr lang="en-US" smtClean="0"/>
              <a:t>4/4/2026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308CE05-229F-450C-840C-2FDEB44C421A}" type="slidenum">
              <a:rPr lang="en-US" smtClean="0"/>
              <a:t>‹#›</a:t>
            </a:fld>
            <a:endParaRPr lang="en-US"/>
          </a:p>
        </p:txBody>
      </p:sp>
    </p:spTree>
    <p:extLst>
      <p:ext uri="{BB962C8B-B14F-4D97-AF65-F5344CB8AC3E}">
        <p14:creationId xmlns:p14="http://schemas.microsoft.com/office/powerpoint/2010/main" val="63531563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884A1B25-A431-4677-8629-E8601868AE81}" type="slidenum">
              <a:rPr lang="en-US" smtClean="0"/>
              <a:t>3</a:t>
            </a:fld>
            <a:endParaRPr lang="en-US"/>
          </a:p>
        </p:txBody>
      </p:sp>
    </p:spTree>
    <p:extLst>
      <p:ext uri="{BB962C8B-B14F-4D97-AF65-F5344CB8AC3E}">
        <p14:creationId xmlns:p14="http://schemas.microsoft.com/office/powerpoint/2010/main" val="383634023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6F4533-91E1-9193-CADD-647B7CADF11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24518EB-459F-702C-0C14-D6AEA05E85D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EACAE31-BC94-1000-17F6-F4A7BCE54350}"/>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B0BC3F14-A99A-C319-1E60-03598FC340E2}"/>
              </a:ext>
            </a:extLst>
          </p:cNvPr>
          <p:cNvSpPr>
            <a:spLocks noGrp="1"/>
          </p:cNvSpPr>
          <p:nvPr>
            <p:ph type="sldNum" sz="quarter" idx="5"/>
          </p:nvPr>
        </p:nvSpPr>
        <p:spPr/>
        <p:txBody>
          <a:bodyPr/>
          <a:lstStyle/>
          <a:p>
            <a:fld id="{884A1B25-A431-4677-8629-E8601868AE81}" type="slidenum">
              <a:rPr lang="en-US" smtClean="0"/>
              <a:t>4</a:t>
            </a:fld>
            <a:endParaRPr lang="en-US"/>
          </a:p>
        </p:txBody>
      </p:sp>
    </p:spTree>
    <p:extLst>
      <p:ext uri="{BB962C8B-B14F-4D97-AF65-F5344CB8AC3E}">
        <p14:creationId xmlns:p14="http://schemas.microsoft.com/office/powerpoint/2010/main" val="62896529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1EFB8E-8560-D6A9-3967-1B1B0E7ABF6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D6C7A0A-2B92-765C-05B0-1EBDE505E2D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30EC382-DF72-BC75-C80A-3D13E09B6EAD}"/>
              </a:ext>
            </a:extLst>
          </p:cNvPr>
          <p:cNvSpPr>
            <a:spLocks noGrp="1"/>
          </p:cNvSpPr>
          <p:nvPr>
            <p:ph type="body" idx="1"/>
          </p:nvPr>
        </p:nvSpPr>
        <p:spPr/>
        <p:txBody>
          <a:bodyPr/>
          <a:lstStyle/>
          <a:p>
            <a:r>
              <a:rPr lang="en-US"/>
              <a:t>The angling of traces in PCB design is another critical factor. Opting for a 135-degree angle when routing traces is preferred over arbitrary angles, as improper angling can lead to manufacturing complications. The right angles help in reducing signal reflection and impedance changes, ensuring better signal integrity and reducing the potential for etching problems during fabrication. It’s a seemingly small detail that can have significant implications for the quality and manufacturability of the PCB.</a:t>
            </a:r>
          </a:p>
        </p:txBody>
      </p:sp>
      <p:sp>
        <p:nvSpPr>
          <p:cNvPr id="4" name="Slide Number Placeholder 3">
            <a:extLst>
              <a:ext uri="{FF2B5EF4-FFF2-40B4-BE49-F238E27FC236}">
                <a16:creationId xmlns:a16="http://schemas.microsoft.com/office/drawing/2014/main" id="{1DE3186C-F646-A77E-8076-F251E0A4892A}"/>
              </a:ext>
            </a:extLst>
          </p:cNvPr>
          <p:cNvSpPr>
            <a:spLocks noGrp="1"/>
          </p:cNvSpPr>
          <p:nvPr>
            <p:ph type="sldNum" sz="quarter" idx="5"/>
          </p:nvPr>
        </p:nvSpPr>
        <p:spPr/>
        <p:txBody>
          <a:bodyPr/>
          <a:lstStyle/>
          <a:p>
            <a:fld id="{884A1B25-A431-4677-8629-E8601868AE81}" type="slidenum">
              <a:rPr lang="en-US" smtClean="0"/>
              <a:t>5</a:t>
            </a:fld>
            <a:endParaRPr lang="en-US"/>
          </a:p>
        </p:txBody>
      </p:sp>
    </p:spTree>
    <p:extLst>
      <p:ext uri="{BB962C8B-B14F-4D97-AF65-F5344CB8AC3E}">
        <p14:creationId xmlns:p14="http://schemas.microsoft.com/office/powerpoint/2010/main" val="69975252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6921ED5-6F60-9333-D968-9DC52675C51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C6F60F6-962F-EE21-8AEA-420C8488529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264AF66-CBCF-11F3-90CA-57FA71DD8BD7}"/>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F03AEE2B-2B87-118C-6AD8-5590600A7753}"/>
              </a:ext>
            </a:extLst>
          </p:cNvPr>
          <p:cNvSpPr>
            <a:spLocks noGrp="1"/>
          </p:cNvSpPr>
          <p:nvPr>
            <p:ph type="sldNum" sz="quarter" idx="5"/>
          </p:nvPr>
        </p:nvSpPr>
        <p:spPr/>
        <p:txBody>
          <a:bodyPr/>
          <a:lstStyle/>
          <a:p>
            <a:fld id="{884A1B25-A431-4677-8629-E8601868AE81}" type="slidenum">
              <a:rPr lang="en-US" smtClean="0"/>
              <a:t>6</a:t>
            </a:fld>
            <a:endParaRPr lang="en-US"/>
          </a:p>
        </p:txBody>
      </p:sp>
    </p:spTree>
    <p:extLst>
      <p:ext uri="{BB962C8B-B14F-4D97-AF65-F5344CB8AC3E}">
        <p14:creationId xmlns:p14="http://schemas.microsoft.com/office/powerpoint/2010/main" val="346831181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6B9ABBD-BFDB-19E5-ECC2-F308CBD22F0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A111882-1B04-ED55-3AC3-F6BC67754F7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746F1D7-A681-AC91-18E6-20831C1E4B7A}"/>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123E1164-3B15-7DE0-BB5E-EBBCA5B86D5E}"/>
              </a:ext>
            </a:extLst>
          </p:cNvPr>
          <p:cNvSpPr>
            <a:spLocks noGrp="1"/>
          </p:cNvSpPr>
          <p:nvPr>
            <p:ph type="sldNum" sz="quarter" idx="5"/>
          </p:nvPr>
        </p:nvSpPr>
        <p:spPr/>
        <p:txBody>
          <a:bodyPr/>
          <a:lstStyle/>
          <a:p>
            <a:fld id="{884A1B25-A431-4677-8629-E8601868AE81}" type="slidenum">
              <a:rPr lang="en-US" smtClean="0"/>
              <a:t>7</a:t>
            </a:fld>
            <a:endParaRPr lang="en-US"/>
          </a:p>
        </p:txBody>
      </p:sp>
    </p:spTree>
    <p:extLst>
      <p:ext uri="{BB962C8B-B14F-4D97-AF65-F5344CB8AC3E}">
        <p14:creationId xmlns:p14="http://schemas.microsoft.com/office/powerpoint/2010/main" val="118220686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7772F0-340E-9C45-219A-A0ADA6F74D6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9870C29-8FAA-A0FA-C7A6-A527B9B285E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69DFAEE-B3CC-B358-1CB5-1F47C665CCF2}"/>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F1CEE1C2-AC5A-56C8-88FE-4CE09D9A8952}"/>
              </a:ext>
            </a:extLst>
          </p:cNvPr>
          <p:cNvSpPr>
            <a:spLocks noGrp="1"/>
          </p:cNvSpPr>
          <p:nvPr>
            <p:ph type="sldNum" sz="quarter" idx="5"/>
          </p:nvPr>
        </p:nvSpPr>
        <p:spPr/>
        <p:txBody>
          <a:bodyPr/>
          <a:lstStyle/>
          <a:p>
            <a:fld id="{884A1B25-A431-4677-8629-E8601868AE81}" type="slidenum">
              <a:rPr lang="en-US" smtClean="0"/>
              <a:t>8</a:t>
            </a:fld>
            <a:endParaRPr lang="en-US"/>
          </a:p>
        </p:txBody>
      </p:sp>
    </p:spTree>
    <p:extLst>
      <p:ext uri="{BB962C8B-B14F-4D97-AF65-F5344CB8AC3E}">
        <p14:creationId xmlns:p14="http://schemas.microsoft.com/office/powerpoint/2010/main" val="202373110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AA6662-83F4-4923-11E5-9057F86A488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7A7323B-141E-0A4A-B3F8-2A03DB98A1D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5253285-11B7-1A88-94D1-A31A7731F1B0}"/>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141F0063-97E9-0AC2-5D51-FBBA8FCEC911}"/>
              </a:ext>
            </a:extLst>
          </p:cNvPr>
          <p:cNvSpPr>
            <a:spLocks noGrp="1"/>
          </p:cNvSpPr>
          <p:nvPr>
            <p:ph type="sldNum" sz="quarter" idx="5"/>
          </p:nvPr>
        </p:nvSpPr>
        <p:spPr/>
        <p:txBody>
          <a:bodyPr/>
          <a:lstStyle/>
          <a:p>
            <a:fld id="{884A1B25-A431-4677-8629-E8601868AE81}" type="slidenum">
              <a:rPr lang="en-US" smtClean="0"/>
              <a:t>9</a:t>
            </a:fld>
            <a:endParaRPr lang="en-US"/>
          </a:p>
        </p:txBody>
      </p:sp>
    </p:spTree>
    <p:extLst>
      <p:ext uri="{BB962C8B-B14F-4D97-AF65-F5344CB8AC3E}">
        <p14:creationId xmlns:p14="http://schemas.microsoft.com/office/powerpoint/2010/main" val="214727996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517D78B-C38D-92E9-2263-2BE827746A5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EAF4A82-1C1E-710B-BB80-6007258630F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1FE92EA-EF85-841E-21E7-452E1A345D77}"/>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8B450DCD-F6DC-5B65-A7FA-7A864CD0AE36}"/>
              </a:ext>
            </a:extLst>
          </p:cNvPr>
          <p:cNvSpPr>
            <a:spLocks noGrp="1"/>
          </p:cNvSpPr>
          <p:nvPr>
            <p:ph type="sldNum" sz="quarter" idx="5"/>
          </p:nvPr>
        </p:nvSpPr>
        <p:spPr/>
        <p:txBody>
          <a:bodyPr/>
          <a:lstStyle/>
          <a:p>
            <a:fld id="{884A1B25-A431-4677-8629-E8601868AE81}" type="slidenum">
              <a:rPr lang="en-US" smtClean="0"/>
              <a:t>10</a:t>
            </a:fld>
            <a:endParaRPr lang="en-US"/>
          </a:p>
        </p:txBody>
      </p:sp>
    </p:spTree>
    <p:extLst>
      <p:ext uri="{BB962C8B-B14F-4D97-AF65-F5344CB8AC3E}">
        <p14:creationId xmlns:p14="http://schemas.microsoft.com/office/powerpoint/2010/main" val="119133643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5E29951-77D5-5789-3775-6D0FAC838AF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E01DA59-E308-1D6C-14AC-276F27199B7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F3BFE40-BA78-E853-2171-04FBBCEFDFC9}"/>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EFA1B7A9-75C6-3DD0-380D-999B760D9621}"/>
              </a:ext>
            </a:extLst>
          </p:cNvPr>
          <p:cNvSpPr>
            <a:spLocks noGrp="1"/>
          </p:cNvSpPr>
          <p:nvPr>
            <p:ph type="sldNum" sz="quarter" idx="5"/>
          </p:nvPr>
        </p:nvSpPr>
        <p:spPr/>
        <p:txBody>
          <a:bodyPr/>
          <a:lstStyle/>
          <a:p>
            <a:fld id="{884A1B25-A431-4677-8629-E8601868AE81}" type="slidenum">
              <a:rPr lang="en-US" smtClean="0"/>
              <a:t>11</a:t>
            </a:fld>
            <a:endParaRPr lang="en-US"/>
          </a:p>
        </p:txBody>
      </p:sp>
    </p:spTree>
    <p:extLst>
      <p:ext uri="{BB962C8B-B14F-4D97-AF65-F5344CB8AC3E}">
        <p14:creationId xmlns:p14="http://schemas.microsoft.com/office/powerpoint/2010/main" val="106943695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DCBEA79-39E3-2B11-A853-712D9BE10C8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5CFEABB-2D31-4571-4BA8-8F3CDB7BF63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20D7CF5-DB7F-F87A-AF51-88529DDE2347}"/>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A912A185-B37C-6AE7-F767-C0DB42C2872C}"/>
              </a:ext>
            </a:extLst>
          </p:cNvPr>
          <p:cNvSpPr>
            <a:spLocks noGrp="1"/>
          </p:cNvSpPr>
          <p:nvPr>
            <p:ph type="sldNum" sz="quarter" idx="5"/>
          </p:nvPr>
        </p:nvSpPr>
        <p:spPr/>
        <p:txBody>
          <a:bodyPr/>
          <a:lstStyle/>
          <a:p>
            <a:fld id="{884A1B25-A431-4677-8629-E8601868AE81}" type="slidenum">
              <a:rPr lang="en-US" smtClean="0"/>
              <a:t>12</a:t>
            </a:fld>
            <a:endParaRPr lang="en-US"/>
          </a:p>
        </p:txBody>
      </p:sp>
    </p:spTree>
    <p:extLst>
      <p:ext uri="{BB962C8B-B14F-4D97-AF65-F5344CB8AC3E}">
        <p14:creationId xmlns:p14="http://schemas.microsoft.com/office/powerpoint/2010/main" val="230240398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7DD51A-6E0C-B52B-C0E7-D43B3288D35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30D0E00-3B58-B56D-97CD-AA6BF294046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5CF3D2F-13DB-8782-5031-BF4CA8E7A475}"/>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37327C1F-C595-93E1-681E-42F0643356F2}"/>
              </a:ext>
            </a:extLst>
          </p:cNvPr>
          <p:cNvSpPr>
            <a:spLocks noGrp="1"/>
          </p:cNvSpPr>
          <p:nvPr>
            <p:ph type="sldNum" sz="quarter" idx="5"/>
          </p:nvPr>
        </p:nvSpPr>
        <p:spPr/>
        <p:txBody>
          <a:bodyPr/>
          <a:lstStyle/>
          <a:p>
            <a:fld id="{884A1B25-A431-4677-8629-E8601868AE81}" type="slidenum">
              <a:rPr lang="en-US" smtClean="0"/>
              <a:t>13</a:t>
            </a:fld>
            <a:endParaRPr lang="en-US"/>
          </a:p>
        </p:txBody>
      </p:sp>
    </p:spTree>
    <p:extLst>
      <p:ext uri="{BB962C8B-B14F-4D97-AF65-F5344CB8AC3E}">
        <p14:creationId xmlns:p14="http://schemas.microsoft.com/office/powerpoint/2010/main" val="271310283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DCDCA8-5F5C-0C49-8826-12634F246C7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2D0B48B-11F4-97D2-2359-CB898BFCE24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F92353E-3C98-9289-892B-4D506BFDBBA9}"/>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70F4066C-46D0-D60B-E581-181B506263D6}"/>
              </a:ext>
            </a:extLst>
          </p:cNvPr>
          <p:cNvSpPr>
            <a:spLocks noGrp="1"/>
          </p:cNvSpPr>
          <p:nvPr>
            <p:ph type="sldNum" sz="quarter" idx="5"/>
          </p:nvPr>
        </p:nvSpPr>
        <p:spPr/>
        <p:txBody>
          <a:bodyPr/>
          <a:lstStyle/>
          <a:p>
            <a:fld id="{884A1B25-A431-4677-8629-E8601868AE81}" type="slidenum">
              <a:rPr lang="en-US" smtClean="0"/>
              <a:t>14</a:t>
            </a:fld>
            <a:endParaRPr lang="en-US"/>
          </a:p>
        </p:txBody>
      </p:sp>
    </p:spTree>
    <p:extLst>
      <p:ext uri="{BB962C8B-B14F-4D97-AF65-F5344CB8AC3E}">
        <p14:creationId xmlns:p14="http://schemas.microsoft.com/office/powerpoint/2010/main" val="241126532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76B4712-08BA-89F0-6A61-CBCFE88C056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071C839-AED7-6A8A-1A8C-A76303BCE4D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E4AB40A-B4B1-F9DD-4492-31571345F847}"/>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7ADFA3B1-3BEF-94DB-62AE-39FF13547439}"/>
              </a:ext>
            </a:extLst>
          </p:cNvPr>
          <p:cNvSpPr>
            <a:spLocks noGrp="1"/>
          </p:cNvSpPr>
          <p:nvPr>
            <p:ph type="sldNum" sz="quarter" idx="5"/>
          </p:nvPr>
        </p:nvSpPr>
        <p:spPr/>
        <p:txBody>
          <a:bodyPr/>
          <a:lstStyle/>
          <a:p>
            <a:fld id="{884A1B25-A431-4677-8629-E8601868AE81}" type="slidenum">
              <a:rPr lang="en-US" smtClean="0"/>
              <a:t>15</a:t>
            </a:fld>
            <a:endParaRPr lang="en-US"/>
          </a:p>
        </p:txBody>
      </p:sp>
    </p:spTree>
    <p:extLst>
      <p:ext uri="{BB962C8B-B14F-4D97-AF65-F5344CB8AC3E}">
        <p14:creationId xmlns:p14="http://schemas.microsoft.com/office/powerpoint/2010/main" val="284656782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42B703-AD18-A8BD-6669-0CA4815B871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0341B68-86A2-E9E3-3E8A-91D7B6C82EF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ECE43CD-5635-61D1-29D4-183B30486FB7}"/>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71BB026D-C585-D077-A91A-8D0BCE1FD473}"/>
              </a:ext>
            </a:extLst>
          </p:cNvPr>
          <p:cNvSpPr>
            <a:spLocks noGrp="1"/>
          </p:cNvSpPr>
          <p:nvPr>
            <p:ph type="sldNum" sz="quarter" idx="5"/>
          </p:nvPr>
        </p:nvSpPr>
        <p:spPr/>
        <p:txBody>
          <a:bodyPr/>
          <a:lstStyle/>
          <a:p>
            <a:fld id="{884A1B25-A431-4677-8629-E8601868AE81}" type="slidenum">
              <a:rPr lang="en-US" smtClean="0"/>
              <a:t>16</a:t>
            </a:fld>
            <a:endParaRPr lang="en-US"/>
          </a:p>
        </p:txBody>
      </p:sp>
    </p:spTree>
    <p:extLst>
      <p:ext uri="{BB962C8B-B14F-4D97-AF65-F5344CB8AC3E}">
        <p14:creationId xmlns:p14="http://schemas.microsoft.com/office/powerpoint/2010/main" val="310224281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0233F3-CB89-21B5-76B0-D86E1DF3DD4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EC28226-E6D9-E202-13D4-47C8F12A37C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39A13AE-8BD0-3AC6-0CDC-3CA1499AD0C7}"/>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635143E5-3AAA-0C9F-F64E-66C4A67A8744}"/>
              </a:ext>
            </a:extLst>
          </p:cNvPr>
          <p:cNvSpPr>
            <a:spLocks noGrp="1"/>
          </p:cNvSpPr>
          <p:nvPr>
            <p:ph type="sldNum" sz="quarter" idx="5"/>
          </p:nvPr>
        </p:nvSpPr>
        <p:spPr/>
        <p:txBody>
          <a:bodyPr/>
          <a:lstStyle/>
          <a:p>
            <a:fld id="{884A1B25-A431-4677-8629-E8601868AE81}" type="slidenum">
              <a:rPr lang="en-US" smtClean="0"/>
              <a:t>17</a:t>
            </a:fld>
            <a:endParaRPr lang="en-US"/>
          </a:p>
        </p:txBody>
      </p:sp>
    </p:spTree>
    <p:extLst>
      <p:ext uri="{BB962C8B-B14F-4D97-AF65-F5344CB8AC3E}">
        <p14:creationId xmlns:p14="http://schemas.microsoft.com/office/powerpoint/2010/main" val="534791079"/>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FB41D0-E523-4C95-25C2-21A18DB7C96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369A491-7635-9308-16E6-8857848BA11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95FB3ED-95A9-CB25-DC55-150BF57DDA2C}"/>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3AFE60D0-92AF-3D62-0F75-65D32EB45C2B}"/>
              </a:ext>
            </a:extLst>
          </p:cNvPr>
          <p:cNvSpPr>
            <a:spLocks noGrp="1"/>
          </p:cNvSpPr>
          <p:nvPr>
            <p:ph type="sldNum" sz="quarter" idx="5"/>
          </p:nvPr>
        </p:nvSpPr>
        <p:spPr/>
        <p:txBody>
          <a:bodyPr/>
          <a:lstStyle/>
          <a:p>
            <a:fld id="{884A1B25-A431-4677-8629-E8601868AE81}" type="slidenum">
              <a:rPr lang="en-US" smtClean="0"/>
              <a:t>18</a:t>
            </a:fld>
            <a:endParaRPr lang="en-US"/>
          </a:p>
        </p:txBody>
      </p:sp>
    </p:spTree>
    <p:extLst>
      <p:ext uri="{BB962C8B-B14F-4D97-AF65-F5344CB8AC3E}">
        <p14:creationId xmlns:p14="http://schemas.microsoft.com/office/powerpoint/2010/main" val="16210827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4D92FC-C94C-3CE5-21E2-FD587B174D6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10E574B-34F8-6D06-3E5B-72A3F0713D8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49F6791-3F1A-F84D-EF02-AE90D826AC9B}"/>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6FABC8EE-8C70-54A4-9A74-1BEB2F2CA201}"/>
              </a:ext>
            </a:extLst>
          </p:cNvPr>
          <p:cNvSpPr>
            <a:spLocks noGrp="1"/>
          </p:cNvSpPr>
          <p:nvPr>
            <p:ph type="sldNum" sz="quarter" idx="5"/>
          </p:nvPr>
        </p:nvSpPr>
        <p:spPr/>
        <p:txBody>
          <a:bodyPr/>
          <a:lstStyle/>
          <a:p>
            <a:fld id="{884A1B25-A431-4677-8629-E8601868AE81}" type="slidenum">
              <a:rPr lang="en-US" smtClean="0"/>
              <a:t>19</a:t>
            </a:fld>
            <a:endParaRPr lang="en-US"/>
          </a:p>
        </p:txBody>
      </p:sp>
    </p:spTree>
    <p:extLst>
      <p:ext uri="{BB962C8B-B14F-4D97-AF65-F5344CB8AC3E}">
        <p14:creationId xmlns:p14="http://schemas.microsoft.com/office/powerpoint/2010/main" val="107648609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B49DDD-4AE2-7A02-8690-AC69331D9529}"/>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70D51FCA-58DD-3727-896A-E2A67F3F621E}"/>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2B65F755-BC9F-4C54-1E3D-79AD3BEE8F5C}"/>
              </a:ext>
            </a:extLst>
          </p:cNvPr>
          <p:cNvSpPr>
            <a:spLocks noGrp="1"/>
          </p:cNvSpPr>
          <p:nvPr>
            <p:ph type="dt" sz="half" idx="10"/>
          </p:nvPr>
        </p:nvSpPr>
        <p:spPr/>
        <p:txBody>
          <a:bodyPr/>
          <a:lstStyle/>
          <a:p>
            <a:fld id="{92535AEE-EA34-4F0D-8996-E3C9F0479283}" type="datetimeFigureOut">
              <a:rPr lang="en-US" smtClean="0"/>
              <a:t>4/4/2026</a:t>
            </a:fld>
            <a:endParaRPr lang="en-US"/>
          </a:p>
        </p:txBody>
      </p:sp>
      <p:sp>
        <p:nvSpPr>
          <p:cNvPr id="5" name="Footer Placeholder 4">
            <a:extLst>
              <a:ext uri="{FF2B5EF4-FFF2-40B4-BE49-F238E27FC236}">
                <a16:creationId xmlns:a16="http://schemas.microsoft.com/office/drawing/2014/main" id="{FA366D35-EA09-D443-B852-8F94D63B15B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3F83CBC-EA21-39F5-A8F4-508D25C282C0}"/>
              </a:ext>
            </a:extLst>
          </p:cNvPr>
          <p:cNvSpPr>
            <a:spLocks noGrp="1"/>
          </p:cNvSpPr>
          <p:nvPr>
            <p:ph type="sldNum" sz="quarter" idx="12"/>
          </p:nvPr>
        </p:nvSpPr>
        <p:spPr/>
        <p:txBody>
          <a:bodyPr/>
          <a:lstStyle/>
          <a:p>
            <a:fld id="{C55F2360-4262-4BCF-AD4F-762B3A92D445}" type="slidenum">
              <a:rPr lang="en-US" smtClean="0"/>
              <a:t>‹#›</a:t>
            </a:fld>
            <a:endParaRPr lang="en-US"/>
          </a:p>
        </p:txBody>
      </p:sp>
    </p:spTree>
    <p:extLst>
      <p:ext uri="{BB962C8B-B14F-4D97-AF65-F5344CB8AC3E}">
        <p14:creationId xmlns:p14="http://schemas.microsoft.com/office/powerpoint/2010/main" val="157058727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60CE19-5BB8-3855-C840-70D20C1579B8}"/>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81EE1C8C-A9B6-DA5F-DB77-920FDD12BA34}"/>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F0C2248-5306-6C50-4A5E-4C0AF2227A4A}"/>
              </a:ext>
            </a:extLst>
          </p:cNvPr>
          <p:cNvSpPr>
            <a:spLocks noGrp="1"/>
          </p:cNvSpPr>
          <p:nvPr>
            <p:ph type="dt" sz="half" idx="10"/>
          </p:nvPr>
        </p:nvSpPr>
        <p:spPr/>
        <p:txBody>
          <a:bodyPr/>
          <a:lstStyle/>
          <a:p>
            <a:fld id="{92535AEE-EA34-4F0D-8996-E3C9F0479283}" type="datetimeFigureOut">
              <a:rPr lang="en-US" smtClean="0"/>
              <a:t>4/4/2026</a:t>
            </a:fld>
            <a:endParaRPr lang="en-US"/>
          </a:p>
        </p:txBody>
      </p:sp>
      <p:sp>
        <p:nvSpPr>
          <p:cNvPr id="5" name="Footer Placeholder 4">
            <a:extLst>
              <a:ext uri="{FF2B5EF4-FFF2-40B4-BE49-F238E27FC236}">
                <a16:creationId xmlns:a16="http://schemas.microsoft.com/office/drawing/2014/main" id="{23998CC5-8839-7B73-E88B-7E8D3485B7E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854A10F-E7CC-E08D-A919-453515E94100}"/>
              </a:ext>
            </a:extLst>
          </p:cNvPr>
          <p:cNvSpPr>
            <a:spLocks noGrp="1"/>
          </p:cNvSpPr>
          <p:nvPr>
            <p:ph type="sldNum" sz="quarter" idx="12"/>
          </p:nvPr>
        </p:nvSpPr>
        <p:spPr/>
        <p:txBody>
          <a:bodyPr/>
          <a:lstStyle/>
          <a:p>
            <a:fld id="{C55F2360-4262-4BCF-AD4F-762B3A92D445}" type="slidenum">
              <a:rPr lang="en-US" smtClean="0"/>
              <a:t>‹#›</a:t>
            </a:fld>
            <a:endParaRPr lang="en-US"/>
          </a:p>
        </p:txBody>
      </p:sp>
    </p:spTree>
    <p:extLst>
      <p:ext uri="{BB962C8B-B14F-4D97-AF65-F5344CB8AC3E}">
        <p14:creationId xmlns:p14="http://schemas.microsoft.com/office/powerpoint/2010/main" val="267962656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CDD799-E528-DA7C-3035-17CC0BACC885}"/>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CE4D5F92-0CB4-F171-294F-C72F14370547}"/>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CFA73DB0-0236-6146-1FB1-9DC052F3EEB3}"/>
              </a:ext>
            </a:extLst>
          </p:cNvPr>
          <p:cNvSpPr>
            <a:spLocks noGrp="1"/>
          </p:cNvSpPr>
          <p:nvPr>
            <p:ph type="dt" sz="half" idx="10"/>
          </p:nvPr>
        </p:nvSpPr>
        <p:spPr/>
        <p:txBody>
          <a:bodyPr/>
          <a:lstStyle/>
          <a:p>
            <a:fld id="{92535AEE-EA34-4F0D-8996-E3C9F0479283}" type="datetimeFigureOut">
              <a:rPr lang="en-US" smtClean="0"/>
              <a:t>4/4/2026</a:t>
            </a:fld>
            <a:endParaRPr lang="en-US"/>
          </a:p>
        </p:txBody>
      </p:sp>
      <p:sp>
        <p:nvSpPr>
          <p:cNvPr id="5" name="Footer Placeholder 4">
            <a:extLst>
              <a:ext uri="{FF2B5EF4-FFF2-40B4-BE49-F238E27FC236}">
                <a16:creationId xmlns:a16="http://schemas.microsoft.com/office/drawing/2014/main" id="{200172A0-5934-B034-0C63-2995E5085AC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4D80FC3-E2E1-78A4-DBD2-8341C1BBB14B}"/>
              </a:ext>
            </a:extLst>
          </p:cNvPr>
          <p:cNvSpPr>
            <a:spLocks noGrp="1"/>
          </p:cNvSpPr>
          <p:nvPr>
            <p:ph type="sldNum" sz="quarter" idx="12"/>
          </p:nvPr>
        </p:nvSpPr>
        <p:spPr/>
        <p:txBody>
          <a:bodyPr/>
          <a:lstStyle/>
          <a:p>
            <a:fld id="{C55F2360-4262-4BCF-AD4F-762B3A92D445}" type="slidenum">
              <a:rPr lang="en-US" smtClean="0"/>
              <a:t>‹#›</a:t>
            </a:fld>
            <a:endParaRPr lang="en-US"/>
          </a:p>
        </p:txBody>
      </p:sp>
    </p:spTree>
    <p:extLst>
      <p:ext uri="{BB962C8B-B14F-4D97-AF65-F5344CB8AC3E}">
        <p14:creationId xmlns:p14="http://schemas.microsoft.com/office/powerpoint/2010/main" val="293845255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174B44-62AF-2F8B-CF09-A1DAA6F4D611}"/>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07C3840F-80E4-88C2-C749-6D725ED2F856}"/>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B7BA58EE-3D9E-D74E-AFA7-E5C654D843D2}"/>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75FEB353-597A-3922-9D90-3BEE4C3BB328}"/>
              </a:ext>
            </a:extLst>
          </p:cNvPr>
          <p:cNvSpPr>
            <a:spLocks noGrp="1"/>
          </p:cNvSpPr>
          <p:nvPr>
            <p:ph type="dt" sz="half" idx="10"/>
          </p:nvPr>
        </p:nvSpPr>
        <p:spPr/>
        <p:txBody>
          <a:bodyPr/>
          <a:lstStyle/>
          <a:p>
            <a:fld id="{92535AEE-EA34-4F0D-8996-E3C9F0479283}" type="datetimeFigureOut">
              <a:rPr lang="en-US" smtClean="0"/>
              <a:t>4/4/2026</a:t>
            </a:fld>
            <a:endParaRPr lang="en-US"/>
          </a:p>
        </p:txBody>
      </p:sp>
      <p:sp>
        <p:nvSpPr>
          <p:cNvPr id="6" name="Footer Placeholder 5">
            <a:extLst>
              <a:ext uri="{FF2B5EF4-FFF2-40B4-BE49-F238E27FC236}">
                <a16:creationId xmlns:a16="http://schemas.microsoft.com/office/drawing/2014/main" id="{BE5876D6-364B-F9A9-B022-5BA933783518}"/>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E47F4D88-592E-0791-1E9E-D3D4EE3C94F1}"/>
              </a:ext>
            </a:extLst>
          </p:cNvPr>
          <p:cNvSpPr>
            <a:spLocks noGrp="1"/>
          </p:cNvSpPr>
          <p:nvPr>
            <p:ph type="sldNum" sz="quarter" idx="12"/>
          </p:nvPr>
        </p:nvSpPr>
        <p:spPr/>
        <p:txBody>
          <a:bodyPr/>
          <a:lstStyle/>
          <a:p>
            <a:fld id="{C55F2360-4262-4BCF-AD4F-762B3A92D445}" type="slidenum">
              <a:rPr lang="en-US" smtClean="0"/>
              <a:t>‹#›</a:t>
            </a:fld>
            <a:endParaRPr lang="en-US"/>
          </a:p>
        </p:txBody>
      </p:sp>
    </p:spTree>
    <p:extLst>
      <p:ext uri="{BB962C8B-B14F-4D97-AF65-F5344CB8AC3E}">
        <p14:creationId xmlns:p14="http://schemas.microsoft.com/office/powerpoint/2010/main" val="402899829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D11D7F-AA3F-12A5-3C31-028422ED0BED}"/>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0503F334-7848-A750-B7DF-19CE98BF6991}"/>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569D6293-90D9-7834-BC1E-4ECB863FDDBC}"/>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CFA15378-9F88-F3C0-2CEE-701717DFE43C}"/>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F9E46BF0-2A7C-D8C9-1C3F-A310A00E5763}"/>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62E0258D-050C-FF6C-47E1-6E29A2B8F3B6}"/>
              </a:ext>
            </a:extLst>
          </p:cNvPr>
          <p:cNvSpPr>
            <a:spLocks noGrp="1"/>
          </p:cNvSpPr>
          <p:nvPr>
            <p:ph type="dt" sz="half" idx="10"/>
          </p:nvPr>
        </p:nvSpPr>
        <p:spPr/>
        <p:txBody>
          <a:bodyPr/>
          <a:lstStyle/>
          <a:p>
            <a:fld id="{92535AEE-EA34-4F0D-8996-E3C9F0479283}" type="datetimeFigureOut">
              <a:rPr lang="en-US" smtClean="0"/>
              <a:t>4/4/2026</a:t>
            </a:fld>
            <a:endParaRPr lang="en-US"/>
          </a:p>
        </p:txBody>
      </p:sp>
      <p:sp>
        <p:nvSpPr>
          <p:cNvPr id="8" name="Footer Placeholder 7">
            <a:extLst>
              <a:ext uri="{FF2B5EF4-FFF2-40B4-BE49-F238E27FC236}">
                <a16:creationId xmlns:a16="http://schemas.microsoft.com/office/drawing/2014/main" id="{EADF1DB0-9944-F94F-054F-B60AC58854D1}"/>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3A8A736C-8E09-4B54-E620-162B6FD0E551}"/>
              </a:ext>
            </a:extLst>
          </p:cNvPr>
          <p:cNvSpPr>
            <a:spLocks noGrp="1"/>
          </p:cNvSpPr>
          <p:nvPr>
            <p:ph type="sldNum" sz="quarter" idx="12"/>
          </p:nvPr>
        </p:nvSpPr>
        <p:spPr/>
        <p:txBody>
          <a:bodyPr/>
          <a:lstStyle/>
          <a:p>
            <a:fld id="{C55F2360-4262-4BCF-AD4F-762B3A92D445}" type="slidenum">
              <a:rPr lang="en-US" smtClean="0"/>
              <a:t>‹#›</a:t>
            </a:fld>
            <a:endParaRPr lang="en-US"/>
          </a:p>
        </p:txBody>
      </p:sp>
    </p:spTree>
    <p:extLst>
      <p:ext uri="{BB962C8B-B14F-4D97-AF65-F5344CB8AC3E}">
        <p14:creationId xmlns:p14="http://schemas.microsoft.com/office/powerpoint/2010/main" val="307536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8CDABA-0904-1D84-C25F-B2AEC1825CD2}"/>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4F1C0431-1AD0-3E40-0363-89EBF6B3253E}"/>
              </a:ext>
            </a:extLst>
          </p:cNvPr>
          <p:cNvSpPr>
            <a:spLocks noGrp="1"/>
          </p:cNvSpPr>
          <p:nvPr>
            <p:ph type="dt" sz="half" idx="10"/>
          </p:nvPr>
        </p:nvSpPr>
        <p:spPr/>
        <p:txBody>
          <a:bodyPr/>
          <a:lstStyle/>
          <a:p>
            <a:fld id="{92535AEE-EA34-4F0D-8996-E3C9F0479283}" type="datetimeFigureOut">
              <a:rPr lang="en-US" smtClean="0"/>
              <a:t>4/4/2026</a:t>
            </a:fld>
            <a:endParaRPr lang="en-US"/>
          </a:p>
        </p:txBody>
      </p:sp>
      <p:sp>
        <p:nvSpPr>
          <p:cNvPr id="4" name="Footer Placeholder 3">
            <a:extLst>
              <a:ext uri="{FF2B5EF4-FFF2-40B4-BE49-F238E27FC236}">
                <a16:creationId xmlns:a16="http://schemas.microsoft.com/office/drawing/2014/main" id="{F45AB1D9-A8CF-399E-2C6B-4045E70626FE}"/>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685DE9AA-6BD1-5475-3C8F-5F08CE510B26}"/>
              </a:ext>
            </a:extLst>
          </p:cNvPr>
          <p:cNvSpPr>
            <a:spLocks noGrp="1"/>
          </p:cNvSpPr>
          <p:nvPr>
            <p:ph type="sldNum" sz="quarter" idx="12"/>
          </p:nvPr>
        </p:nvSpPr>
        <p:spPr/>
        <p:txBody>
          <a:bodyPr/>
          <a:lstStyle/>
          <a:p>
            <a:fld id="{C55F2360-4262-4BCF-AD4F-762B3A92D445}" type="slidenum">
              <a:rPr lang="en-US" smtClean="0"/>
              <a:t>‹#›</a:t>
            </a:fld>
            <a:endParaRPr lang="en-US"/>
          </a:p>
        </p:txBody>
      </p:sp>
    </p:spTree>
    <p:extLst>
      <p:ext uri="{BB962C8B-B14F-4D97-AF65-F5344CB8AC3E}">
        <p14:creationId xmlns:p14="http://schemas.microsoft.com/office/powerpoint/2010/main" val="196651885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3C910428-D174-9883-8842-50CD8FFE6EBE}"/>
              </a:ext>
            </a:extLst>
          </p:cNvPr>
          <p:cNvSpPr>
            <a:spLocks noGrp="1"/>
          </p:cNvSpPr>
          <p:nvPr>
            <p:ph type="dt" sz="half" idx="10"/>
          </p:nvPr>
        </p:nvSpPr>
        <p:spPr/>
        <p:txBody>
          <a:bodyPr/>
          <a:lstStyle/>
          <a:p>
            <a:fld id="{92535AEE-EA34-4F0D-8996-E3C9F0479283}" type="datetimeFigureOut">
              <a:rPr lang="en-US" smtClean="0"/>
              <a:t>4/4/2026</a:t>
            </a:fld>
            <a:endParaRPr lang="en-US"/>
          </a:p>
        </p:txBody>
      </p:sp>
      <p:sp>
        <p:nvSpPr>
          <p:cNvPr id="3" name="Footer Placeholder 2">
            <a:extLst>
              <a:ext uri="{FF2B5EF4-FFF2-40B4-BE49-F238E27FC236}">
                <a16:creationId xmlns:a16="http://schemas.microsoft.com/office/drawing/2014/main" id="{83078A1F-E1E9-2401-7D1F-A09F326CA931}"/>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6F74ADF5-6B2C-3933-1792-2F1759356511}"/>
              </a:ext>
            </a:extLst>
          </p:cNvPr>
          <p:cNvSpPr>
            <a:spLocks noGrp="1"/>
          </p:cNvSpPr>
          <p:nvPr>
            <p:ph type="sldNum" sz="quarter" idx="12"/>
          </p:nvPr>
        </p:nvSpPr>
        <p:spPr/>
        <p:txBody>
          <a:bodyPr/>
          <a:lstStyle/>
          <a:p>
            <a:fld id="{C55F2360-4262-4BCF-AD4F-762B3A92D445}" type="slidenum">
              <a:rPr lang="en-US" smtClean="0"/>
              <a:t>‹#›</a:t>
            </a:fld>
            <a:endParaRPr lang="en-US"/>
          </a:p>
        </p:txBody>
      </p:sp>
    </p:spTree>
    <p:extLst>
      <p:ext uri="{BB962C8B-B14F-4D97-AF65-F5344CB8AC3E}">
        <p14:creationId xmlns:p14="http://schemas.microsoft.com/office/powerpoint/2010/main" val="261555338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7E98BC-A562-EBEA-EB32-262ADF23DB7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8CF9F04E-DFD0-FA49-EC74-78F459C72234}"/>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CF1AA203-0126-9091-2FB0-B139E4BABB1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B77BAD0-363F-8918-F3E8-5F98D6467A46}"/>
              </a:ext>
            </a:extLst>
          </p:cNvPr>
          <p:cNvSpPr>
            <a:spLocks noGrp="1"/>
          </p:cNvSpPr>
          <p:nvPr>
            <p:ph type="dt" sz="half" idx="10"/>
          </p:nvPr>
        </p:nvSpPr>
        <p:spPr/>
        <p:txBody>
          <a:bodyPr/>
          <a:lstStyle/>
          <a:p>
            <a:fld id="{92535AEE-EA34-4F0D-8996-E3C9F0479283}" type="datetimeFigureOut">
              <a:rPr lang="en-US" smtClean="0"/>
              <a:t>4/4/2026</a:t>
            </a:fld>
            <a:endParaRPr lang="en-US"/>
          </a:p>
        </p:txBody>
      </p:sp>
      <p:sp>
        <p:nvSpPr>
          <p:cNvPr id="6" name="Footer Placeholder 5">
            <a:extLst>
              <a:ext uri="{FF2B5EF4-FFF2-40B4-BE49-F238E27FC236}">
                <a16:creationId xmlns:a16="http://schemas.microsoft.com/office/drawing/2014/main" id="{8851F64D-FD05-F0BC-EC4A-5A5811E5E7FF}"/>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46FFB635-B4D3-061F-C9CB-173D42430EC7}"/>
              </a:ext>
            </a:extLst>
          </p:cNvPr>
          <p:cNvSpPr>
            <a:spLocks noGrp="1"/>
          </p:cNvSpPr>
          <p:nvPr>
            <p:ph type="sldNum" sz="quarter" idx="12"/>
          </p:nvPr>
        </p:nvSpPr>
        <p:spPr/>
        <p:txBody>
          <a:bodyPr/>
          <a:lstStyle/>
          <a:p>
            <a:fld id="{C55F2360-4262-4BCF-AD4F-762B3A92D445}" type="slidenum">
              <a:rPr lang="en-US" smtClean="0"/>
              <a:t>‹#›</a:t>
            </a:fld>
            <a:endParaRPr lang="en-US"/>
          </a:p>
        </p:txBody>
      </p:sp>
    </p:spTree>
    <p:extLst>
      <p:ext uri="{BB962C8B-B14F-4D97-AF65-F5344CB8AC3E}">
        <p14:creationId xmlns:p14="http://schemas.microsoft.com/office/powerpoint/2010/main" val="18441641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40B229-E2DA-05E8-B386-262BF4F78E82}"/>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FDFC28FE-151C-68D4-3E92-EC3A7F9F7E11}"/>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A08C0BA5-7257-7E04-2C04-E5DD9869EE7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7EE1B579-825B-1F7D-E657-9C5B0D90CA8F}"/>
              </a:ext>
            </a:extLst>
          </p:cNvPr>
          <p:cNvSpPr>
            <a:spLocks noGrp="1"/>
          </p:cNvSpPr>
          <p:nvPr>
            <p:ph type="dt" sz="half" idx="10"/>
          </p:nvPr>
        </p:nvSpPr>
        <p:spPr/>
        <p:txBody>
          <a:bodyPr/>
          <a:lstStyle/>
          <a:p>
            <a:fld id="{92535AEE-EA34-4F0D-8996-E3C9F0479283}" type="datetimeFigureOut">
              <a:rPr lang="en-US" smtClean="0"/>
              <a:t>4/4/2026</a:t>
            </a:fld>
            <a:endParaRPr lang="en-US"/>
          </a:p>
        </p:txBody>
      </p:sp>
      <p:sp>
        <p:nvSpPr>
          <p:cNvPr id="6" name="Footer Placeholder 5">
            <a:extLst>
              <a:ext uri="{FF2B5EF4-FFF2-40B4-BE49-F238E27FC236}">
                <a16:creationId xmlns:a16="http://schemas.microsoft.com/office/drawing/2014/main" id="{E27C282D-938A-FF3A-ABDD-E95869CF368E}"/>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99B2795F-D83B-1721-CAAA-F92F7CF3D5CB}"/>
              </a:ext>
            </a:extLst>
          </p:cNvPr>
          <p:cNvSpPr>
            <a:spLocks noGrp="1"/>
          </p:cNvSpPr>
          <p:nvPr>
            <p:ph type="sldNum" sz="quarter" idx="12"/>
          </p:nvPr>
        </p:nvSpPr>
        <p:spPr/>
        <p:txBody>
          <a:bodyPr/>
          <a:lstStyle/>
          <a:p>
            <a:fld id="{C55F2360-4262-4BCF-AD4F-762B3A92D445}" type="slidenum">
              <a:rPr lang="en-US" smtClean="0"/>
              <a:t>‹#›</a:t>
            </a:fld>
            <a:endParaRPr lang="en-US"/>
          </a:p>
        </p:txBody>
      </p:sp>
    </p:spTree>
    <p:extLst>
      <p:ext uri="{BB962C8B-B14F-4D97-AF65-F5344CB8AC3E}">
        <p14:creationId xmlns:p14="http://schemas.microsoft.com/office/powerpoint/2010/main" val="429238181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C2D49A-A295-3074-4406-672A2C824362}"/>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60F88D92-6CCE-3A3B-EBDB-A6D9BE951D2D}"/>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8312A84-9C33-4593-6BBB-5E7642CB39C8}"/>
              </a:ext>
            </a:extLst>
          </p:cNvPr>
          <p:cNvSpPr>
            <a:spLocks noGrp="1"/>
          </p:cNvSpPr>
          <p:nvPr>
            <p:ph type="dt" sz="half" idx="10"/>
          </p:nvPr>
        </p:nvSpPr>
        <p:spPr/>
        <p:txBody>
          <a:bodyPr/>
          <a:lstStyle/>
          <a:p>
            <a:fld id="{92535AEE-EA34-4F0D-8996-E3C9F0479283}" type="datetimeFigureOut">
              <a:rPr lang="en-US" smtClean="0"/>
              <a:t>4/4/2026</a:t>
            </a:fld>
            <a:endParaRPr lang="en-US"/>
          </a:p>
        </p:txBody>
      </p:sp>
      <p:sp>
        <p:nvSpPr>
          <p:cNvPr id="5" name="Footer Placeholder 4">
            <a:extLst>
              <a:ext uri="{FF2B5EF4-FFF2-40B4-BE49-F238E27FC236}">
                <a16:creationId xmlns:a16="http://schemas.microsoft.com/office/drawing/2014/main" id="{129CEFF1-BC00-84C7-28AC-C044CC8FC1F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55F161B-E3BA-D24E-EB34-52F516EF7963}"/>
              </a:ext>
            </a:extLst>
          </p:cNvPr>
          <p:cNvSpPr>
            <a:spLocks noGrp="1"/>
          </p:cNvSpPr>
          <p:nvPr>
            <p:ph type="sldNum" sz="quarter" idx="12"/>
          </p:nvPr>
        </p:nvSpPr>
        <p:spPr/>
        <p:txBody>
          <a:bodyPr/>
          <a:lstStyle/>
          <a:p>
            <a:fld id="{C55F2360-4262-4BCF-AD4F-762B3A92D445}" type="slidenum">
              <a:rPr lang="en-US" smtClean="0"/>
              <a:t>‹#›</a:t>
            </a:fld>
            <a:endParaRPr lang="en-US"/>
          </a:p>
        </p:txBody>
      </p:sp>
    </p:spTree>
    <p:extLst>
      <p:ext uri="{BB962C8B-B14F-4D97-AF65-F5344CB8AC3E}">
        <p14:creationId xmlns:p14="http://schemas.microsoft.com/office/powerpoint/2010/main" val="320302965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F867EB47-185B-4C14-6C46-20B862CF7DD7}"/>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FAC95885-B9CB-27AB-F052-5505A1E8BFB9}"/>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8E7F085-C0B2-DF52-39E7-18F9760071E4}"/>
              </a:ext>
            </a:extLst>
          </p:cNvPr>
          <p:cNvSpPr>
            <a:spLocks noGrp="1"/>
          </p:cNvSpPr>
          <p:nvPr>
            <p:ph type="dt" sz="half" idx="10"/>
          </p:nvPr>
        </p:nvSpPr>
        <p:spPr/>
        <p:txBody>
          <a:bodyPr/>
          <a:lstStyle/>
          <a:p>
            <a:fld id="{92535AEE-EA34-4F0D-8996-E3C9F0479283}" type="datetimeFigureOut">
              <a:rPr lang="en-US" smtClean="0"/>
              <a:t>4/4/2026</a:t>
            </a:fld>
            <a:endParaRPr lang="en-US"/>
          </a:p>
        </p:txBody>
      </p:sp>
      <p:sp>
        <p:nvSpPr>
          <p:cNvPr id="5" name="Footer Placeholder 4">
            <a:extLst>
              <a:ext uri="{FF2B5EF4-FFF2-40B4-BE49-F238E27FC236}">
                <a16:creationId xmlns:a16="http://schemas.microsoft.com/office/drawing/2014/main" id="{74E4D413-1CAD-87ED-E3F0-BD4ADB2A541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15DAD4C-4F08-00F0-9672-B0BB1548C570}"/>
              </a:ext>
            </a:extLst>
          </p:cNvPr>
          <p:cNvSpPr>
            <a:spLocks noGrp="1"/>
          </p:cNvSpPr>
          <p:nvPr>
            <p:ph type="sldNum" sz="quarter" idx="12"/>
          </p:nvPr>
        </p:nvSpPr>
        <p:spPr/>
        <p:txBody>
          <a:bodyPr/>
          <a:lstStyle/>
          <a:p>
            <a:fld id="{C55F2360-4262-4BCF-AD4F-762B3A92D445}" type="slidenum">
              <a:rPr lang="en-US" smtClean="0"/>
              <a:t>‹#›</a:t>
            </a:fld>
            <a:endParaRPr lang="en-US"/>
          </a:p>
        </p:txBody>
      </p:sp>
    </p:spTree>
    <p:extLst>
      <p:ext uri="{BB962C8B-B14F-4D97-AF65-F5344CB8AC3E}">
        <p14:creationId xmlns:p14="http://schemas.microsoft.com/office/powerpoint/2010/main" val="410044675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83531359-7DD8-6D0A-3B1C-DE781E3D46D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26BA9706-C498-DC50-8C19-6FD9718FB7EF}"/>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8BCCB09-0985-3684-BE6E-C19A3C7EB466}"/>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92535AEE-EA34-4F0D-8996-E3C9F0479283}" type="datetimeFigureOut">
              <a:rPr lang="en-US" smtClean="0"/>
              <a:t>4/4/2026</a:t>
            </a:fld>
            <a:endParaRPr lang="en-US"/>
          </a:p>
        </p:txBody>
      </p:sp>
      <p:sp>
        <p:nvSpPr>
          <p:cNvPr id="5" name="Footer Placeholder 4">
            <a:extLst>
              <a:ext uri="{FF2B5EF4-FFF2-40B4-BE49-F238E27FC236}">
                <a16:creationId xmlns:a16="http://schemas.microsoft.com/office/drawing/2014/main" id="{84BB3D2F-4327-F5E9-B20F-79F9C3AA25AB}"/>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61BF14B6-917B-CE91-4F8C-DFC425EB835B}"/>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C55F2360-4262-4BCF-AD4F-762B3A92D445}" type="slidenum">
              <a:rPr lang="en-US" smtClean="0"/>
              <a:t>‹#›</a:t>
            </a:fld>
            <a:endParaRPr lang="en-US"/>
          </a:p>
        </p:txBody>
      </p:sp>
    </p:spTree>
    <p:extLst>
      <p:ext uri="{BB962C8B-B14F-4D97-AF65-F5344CB8AC3E}">
        <p14:creationId xmlns:p14="http://schemas.microsoft.com/office/powerpoint/2010/main" val="4351019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image" Target="../media/image7.png"/></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6.xml"/><Relationship Id="rId1" Type="http://schemas.openxmlformats.org/officeDocument/2006/relationships/slideLayout" Target="../slideLayouts/slideLayout2.xml"/><Relationship Id="rId4" Type="http://schemas.openxmlformats.org/officeDocument/2006/relationships/image" Target="../media/image19.png"/></Relationships>
</file>

<file path=ppt/slides/_rels/slide19.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image" Target="../media/image33.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42.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43.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image" Target="../media/image44.pn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image" Target="../media/image45.pn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image" Target="../media/image46.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AC51B8-DFB7-1F41-68A2-4082C42A0853}"/>
              </a:ext>
            </a:extLst>
          </p:cNvPr>
          <p:cNvSpPr>
            <a:spLocks noGrp="1"/>
          </p:cNvSpPr>
          <p:nvPr>
            <p:ph type="ctrTitle"/>
          </p:nvPr>
        </p:nvSpPr>
        <p:spPr/>
        <p:txBody>
          <a:bodyPr/>
          <a:lstStyle/>
          <a:p>
            <a:r>
              <a:rPr lang="zh-TW" altLang="en-US"/>
              <a:t>基礎佈線</a:t>
            </a:r>
            <a:endParaRPr lang="en-US"/>
          </a:p>
        </p:txBody>
      </p:sp>
    </p:spTree>
    <p:extLst>
      <p:ext uri="{BB962C8B-B14F-4D97-AF65-F5344CB8AC3E}">
        <p14:creationId xmlns:p14="http://schemas.microsoft.com/office/powerpoint/2010/main" val="51164532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B63884B-6D58-E19F-F0C1-26F4FFE5203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84D8F21-B4B5-2361-CDA8-31ECBBEFF2BA}"/>
              </a:ext>
            </a:extLst>
          </p:cNvPr>
          <p:cNvSpPr>
            <a:spLocks noGrp="1"/>
          </p:cNvSpPr>
          <p:nvPr>
            <p:ph type="title"/>
          </p:nvPr>
        </p:nvSpPr>
        <p:spPr>
          <a:xfrm>
            <a:off x="91440" y="2886997"/>
            <a:ext cx="10515600" cy="626806"/>
          </a:xfrm>
        </p:spPr>
        <p:txBody>
          <a:bodyPr>
            <a:normAutofit fontScale="90000"/>
          </a:bodyPr>
          <a:lstStyle/>
          <a:p>
            <a:r>
              <a:rPr lang="zh-TW" altLang="en-US"/>
              <a:t>基礎佈線</a:t>
            </a:r>
            <a:endParaRPr lang="en-US"/>
          </a:p>
        </p:txBody>
      </p:sp>
      <p:sp>
        <p:nvSpPr>
          <p:cNvPr id="3" name="Title 1">
            <a:extLst>
              <a:ext uri="{FF2B5EF4-FFF2-40B4-BE49-F238E27FC236}">
                <a16:creationId xmlns:a16="http://schemas.microsoft.com/office/drawing/2014/main" id="{5BD8A3B4-C408-954A-A6B0-01F1C50520FE}"/>
              </a:ext>
            </a:extLst>
          </p:cNvPr>
          <p:cNvSpPr txBox="1">
            <a:spLocks/>
          </p:cNvSpPr>
          <p:nvPr/>
        </p:nvSpPr>
        <p:spPr>
          <a:xfrm>
            <a:off x="91440" y="3732571"/>
            <a:ext cx="12100560" cy="626806"/>
          </a:xfrm>
          <a:prstGeom prst="rect">
            <a:avLst/>
          </a:prstGeom>
        </p:spPr>
        <p:txBody>
          <a:bodyPr vert="horz" lIns="91440" tIns="45720" rIns="91440" bIns="45720" rtlCol="0" anchor="ctr">
            <a:normAutofit fontScale="75000" lnSpcReduction="2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zh-TW" altLang="en-US"/>
              <a:t>規則：所有 走線 </a:t>
            </a:r>
            <a:r>
              <a:rPr lang="en-US" altLang="zh-TW"/>
              <a:t>(</a:t>
            </a:r>
            <a:r>
              <a:rPr lang="en-US"/>
              <a:t>Tracks) </a:t>
            </a:r>
            <a:r>
              <a:rPr lang="zh-TW" altLang="en-US"/>
              <a:t>應儘可能大，且與 間距 </a:t>
            </a:r>
            <a:r>
              <a:rPr lang="en-US" altLang="zh-TW"/>
              <a:t>(</a:t>
            </a:r>
            <a:r>
              <a:rPr lang="en-US"/>
              <a:t>Clearance) </a:t>
            </a:r>
            <a:r>
              <a:rPr lang="zh-TW" altLang="en-US"/>
              <a:t>相同</a:t>
            </a:r>
            <a:endParaRPr lang="en-US"/>
          </a:p>
        </p:txBody>
      </p:sp>
    </p:spTree>
    <p:extLst>
      <p:ext uri="{BB962C8B-B14F-4D97-AF65-F5344CB8AC3E}">
        <p14:creationId xmlns:p14="http://schemas.microsoft.com/office/powerpoint/2010/main" val="55333870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F8FA5F5-F27A-6C89-4583-D5F1192723B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E97B709-F5BA-D522-F11A-F6DA2CB1F032}"/>
              </a:ext>
            </a:extLst>
          </p:cNvPr>
          <p:cNvSpPr>
            <a:spLocks noGrp="1"/>
          </p:cNvSpPr>
          <p:nvPr>
            <p:ph type="title"/>
          </p:nvPr>
        </p:nvSpPr>
        <p:spPr>
          <a:xfrm>
            <a:off x="0" y="0"/>
            <a:ext cx="10515600" cy="626806"/>
          </a:xfrm>
        </p:spPr>
        <p:txBody>
          <a:bodyPr>
            <a:normAutofit fontScale="90000"/>
          </a:bodyPr>
          <a:lstStyle/>
          <a:p>
            <a:r>
              <a:rPr lang="zh-TW" altLang="en-US"/>
              <a:t>基礎佈線</a:t>
            </a:r>
            <a:endParaRPr lang="en-US"/>
          </a:p>
        </p:txBody>
      </p:sp>
      <p:sp>
        <p:nvSpPr>
          <p:cNvPr id="3" name="Title 1">
            <a:extLst>
              <a:ext uri="{FF2B5EF4-FFF2-40B4-BE49-F238E27FC236}">
                <a16:creationId xmlns:a16="http://schemas.microsoft.com/office/drawing/2014/main" id="{022764C3-2277-FA4D-EF90-553ECA82D42E}"/>
              </a:ext>
            </a:extLst>
          </p:cNvPr>
          <p:cNvSpPr txBox="1">
            <a:spLocks/>
          </p:cNvSpPr>
          <p:nvPr/>
        </p:nvSpPr>
        <p:spPr>
          <a:xfrm>
            <a:off x="0" y="626806"/>
            <a:ext cx="12100560" cy="626806"/>
          </a:xfrm>
          <a:prstGeom prst="rect">
            <a:avLst/>
          </a:prstGeom>
        </p:spPr>
        <p:txBody>
          <a:bodyPr vert="horz" lIns="91440" tIns="45720" rIns="91440" bIns="45720" rtlCol="0" anchor="ctr">
            <a:normAutofit fontScale="90000" lnSpcReduction="1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zh-TW" altLang="en-US"/>
              <a:t>嘗試連接相同顏色的點，且不要讓線彼此交叉。</a:t>
            </a:r>
            <a:endParaRPr lang="en-US"/>
          </a:p>
        </p:txBody>
      </p:sp>
      <p:pic>
        <p:nvPicPr>
          <p:cNvPr id="5" name="Picture 4">
            <a:extLst>
              <a:ext uri="{FF2B5EF4-FFF2-40B4-BE49-F238E27FC236}">
                <a16:creationId xmlns:a16="http://schemas.microsoft.com/office/drawing/2014/main" id="{982D7B7C-5B84-AF54-76BA-B9A63914D1EA}"/>
              </a:ext>
            </a:extLst>
          </p:cNvPr>
          <p:cNvPicPr>
            <a:picLocks noChangeAspect="1"/>
          </p:cNvPicPr>
          <p:nvPr/>
        </p:nvPicPr>
        <p:blipFill>
          <a:blip r:embed="rId3"/>
          <a:stretch>
            <a:fillRect/>
          </a:stretch>
        </p:blipFill>
        <p:spPr>
          <a:xfrm>
            <a:off x="0" y="1253612"/>
            <a:ext cx="12192000" cy="5473959"/>
          </a:xfrm>
          <a:prstGeom prst="rect">
            <a:avLst/>
          </a:prstGeom>
        </p:spPr>
      </p:pic>
      <p:sp>
        <p:nvSpPr>
          <p:cNvPr id="6" name="Rectangle 5">
            <a:extLst>
              <a:ext uri="{FF2B5EF4-FFF2-40B4-BE49-F238E27FC236}">
                <a16:creationId xmlns:a16="http://schemas.microsoft.com/office/drawing/2014/main" id="{E38FD3A0-97C4-8E46-1CFB-D900B49C1FFC}"/>
              </a:ext>
            </a:extLst>
          </p:cNvPr>
          <p:cNvSpPr/>
          <p:nvPr/>
        </p:nvSpPr>
        <p:spPr>
          <a:xfrm>
            <a:off x="0" y="6231194"/>
            <a:ext cx="650240" cy="494726"/>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68743988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794CB45-640E-217A-637A-31591B332ECB}"/>
            </a:ext>
          </a:extLst>
        </p:cNvPr>
        <p:cNvGrpSpPr/>
        <p:nvPr/>
      </p:nvGrpSpPr>
      <p:grpSpPr>
        <a:xfrm>
          <a:off x="0" y="0"/>
          <a:ext cx="0" cy="0"/>
          <a:chOff x="0" y="0"/>
          <a:chExt cx="0" cy="0"/>
        </a:xfrm>
      </p:grpSpPr>
      <p:pic>
        <p:nvPicPr>
          <p:cNvPr id="7" name="Picture 6">
            <a:extLst>
              <a:ext uri="{FF2B5EF4-FFF2-40B4-BE49-F238E27FC236}">
                <a16:creationId xmlns:a16="http://schemas.microsoft.com/office/drawing/2014/main" id="{701B375E-2638-4075-C9B0-A6B0431D6109}"/>
              </a:ext>
            </a:extLst>
          </p:cNvPr>
          <p:cNvPicPr>
            <a:picLocks noChangeAspect="1"/>
          </p:cNvPicPr>
          <p:nvPr/>
        </p:nvPicPr>
        <p:blipFill>
          <a:blip r:embed="rId3"/>
          <a:stretch>
            <a:fillRect/>
          </a:stretch>
        </p:blipFill>
        <p:spPr>
          <a:xfrm>
            <a:off x="0" y="1394684"/>
            <a:ext cx="12192000" cy="5463316"/>
          </a:xfrm>
          <a:prstGeom prst="rect">
            <a:avLst/>
          </a:prstGeom>
        </p:spPr>
      </p:pic>
      <p:sp>
        <p:nvSpPr>
          <p:cNvPr id="2" name="Title 1">
            <a:extLst>
              <a:ext uri="{FF2B5EF4-FFF2-40B4-BE49-F238E27FC236}">
                <a16:creationId xmlns:a16="http://schemas.microsoft.com/office/drawing/2014/main" id="{96ABD5E5-DBE9-D438-7B40-B3FA70E2E1C8}"/>
              </a:ext>
            </a:extLst>
          </p:cNvPr>
          <p:cNvSpPr>
            <a:spLocks noGrp="1"/>
          </p:cNvSpPr>
          <p:nvPr>
            <p:ph type="title"/>
          </p:nvPr>
        </p:nvSpPr>
        <p:spPr>
          <a:xfrm>
            <a:off x="0" y="0"/>
            <a:ext cx="10515600" cy="626806"/>
          </a:xfrm>
        </p:spPr>
        <p:txBody>
          <a:bodyPr>
            <a:normAutofit fontScale="90000"/>
          </a:bodyPr>
          <a:lstStyle/>
          <a:p>
            <a:r>
              <a:rPr lang="zh-TW" altLang="en-US"/>
              <a:t>基礎佈線</a:t>
            </a:r>
            <a:endParaRPr lang="en-US"/>
          </a:p>
        </p:txBody>
      </p:sp>
      <p:sp>
        <p:nvSpPr>
          <p:cNvPr id="3" name="Title 1">
            <a:extLst>
              <a:ext uri="{FF2B5EF4-FFF2-40B4-BE49-F238E27FC236}">
                <a16:creationId xmlns:a16="http://schemas.microsoft.com/office/drawing/2014/main" id="{BE3C9832-FF49-1D3E-2ABF-6883A3CD4984}"/>
              </a:ext>
            </a:extLst>
          </p:cNvPr>
          <p:cNvSpPr txBox="1">
            <a:spLocks/>
          </p:cNvSpPr>
          <p:nvPr/>
        </p:nvSpPr>
        <p:spPr>
          <a:xfrm>
            <a:off x="0" y="626806"/>
            <a:ext cx="12100560" cy="626806"/>
          </a:xfrm>
          <a:prstGeom prst="rect">
            <a:avLst/>
          </a:prstGeom>
        </p:spPr>
        <p:txBody>
          <a:bodyPr vert="horz" lIns="91440" tIns="45720" rIns="91440" bIns="45720" rtlCol="0" anchor="ctr">
            <a:normAutofit fontScale="90000" lnSpcReduction="1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zh-TW" altLang="en-US"/>
              <a:t>結果：</a:t>
            </a:r>
            <a:endParaRPr lang="en-US"/>
          </a:p>
        </p:txBody>
      </p:sp>
      <p:sp>
        <p:nvSpPr>
          <p:cNvPr id="6" name="Rectangle 5">
            <a:extLst>
              <a:ext uri="{FF2B5EF4-FFF2-40B4-BE49-F238E27FC236}">
                <a16:creationId xmlns:a16="http://schemas.microsoft.com/office/drawing/2014/main" id="{5219E245-A303-1F34-A796-AF9A8F17FB2B}"/>
              </a:ext>
            </a:extLst>
          </p:cNvPr>
          <p:cNvSpPr/>
          <p:nvPr/>
        </p:nvSpPr>
        <p:spPr>
          <a:xfrm>
            <a:off x="481781" y="6363274"/>
            <a:ext cx="1505646" cy="494726"/>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30022419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9EEA15-4976-E4EA-FC91-FF057CFDD48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C56487C-0469-7D6B-43FF-F9A26C9BDEE4}"/>
              </a:ext>
            </a:extLst>
          </p:cNvPr>
          <p:cNvSpPr>
            <a:spLocks noGrp="1"/>
          </p:cNvSpPr>
          <p:nvPr>
            <p:ph type="title"/>
          </p:nvPr>
        </p:nvSpPr>
        <p:spPr>
          <a:xfrm>
            <a:off x="0" y="0"/>
            <a:ext cx="10515600" cy="626806"/>
          </a:xfrm>
        </p:spPr>
        <p:txBody>
          <a:bodyPr>
            <a:normAutofit fontScale="90000"/>
          </a:bodyPr>
          <a:lstStyle/>
          <a:p>
            <a:r>
              <a:rPr lang="zh-TW" altLang="en-US"/>
              <a:t>最佳走線角度：</a:t>
            </a:r>
            <a:endParaRPr lang="en-US"/>
          </a:p>
        </p:txBody>
      </p:sp>
      <p:sp>
        <p:nvSpPr>
          <p:cNvPr id="19" name="TextBox 18">
            <a:extLst>
              <a:ext uri="{FF2B5EF4-FFF2-40B4-BE49-F238E27FC236}">
                <a16:creationId xmlns:a16="http://schemas.microsoft.com/office/drawing/2014/main" id="{26399908-ABFB-0911-C90E-B8D89F7F83DA}"/>
              </a:ext>
            </a:extLst>
          </p:cNvPr>
          <p:cNvSpPr txBox="1"/>
          <p:nvPr/>
        </p:nvSpPr>
        <p:spPr>
          <a:xfrm>
            <a:off x="0" y="576507"/>
            <a:ext cx="12192000" cy="830997"/>
          </a:xfrm>
          <a:prstGeom prst="rect">
            <a:avLst/>
          </a:prstGeom>
          <a:noFill/>
        </p:spPr>
        <p:txBody>
          <a:bodyPr wrap="square">
            <a:spAutoFit/>
          </a:bodyPr>
          <a:lstStyle/>
          <a:p>
            <a:r>
              <a:rPr lang="zh-TW" altLang="en-US" sz="2400"/>
              <a:t>在 </a:t>
            </a:r>
            <a:r>
              <a:rPr lang="en-US" altLang="zh-TW" sz="2400"/>
              <a:t>PCB </a:t>
            </a:r>
            <a:r>
              <a:rPr lang="zh-TW" altLang="en-US" sz="2400"/>
              <a:t>設計中使用 </a:t>
            </a:r>
            <a:r>
              <a:rPr lang="en-US" altLang="zh-TW" sz="2400"/>
              <a:t>135 </a:t>
            </a:r>
            <a:r>
              <a:rPr lang="zh-TW" altLang="en-US" sz="2400"/>
              <a:t>度 走線 </a:t>
            </a:r>
            <a:r>
              <a:rPr lang="en-US" altLang="zh-TW" sz="2400"/>
              <a:t>(Track) </a:t>
            </a:r>
            <a:r>
              <a:rPr lang="zh-TW" altLang="en-US" sz="2400"/>
              <a:t>角度至關重要，可以最大限度地減少信號反射並防止蝕刻問題等製造缺陷</a:t>
            </a:r>
            <a:endParaRPr lang="en-US" sz="2400">
              <a:latin typeface="Arial" panose="020B0604020202020204" pitchFamily="34" charset="0"/>
              <a:cs typeface="Arial" panose="020B0604020202020204" pitchFamily="34" charset="0"/>
            </a:endParaRPr>
          </a:p>
        </p:txBody>
      </p:sp>
      <p:pic>
        <p:nvPicPr>
          <p:cNvPr id="21" name="Picture 20">
            <a:extLst>
              <a:ext uri="{FF2B5EF4-FFF2-40B4-BE49-F238E27FC236}">
                <a16:creationId xmlns:a16="http://schemas.microsoft.com/office/drawing/2014/main" id="{D034B364-F7D9-2CA1-957C-38CBED3E6FFC}"/>
              </a:ext>
            </a:extLst>
          </p:cNvPr>
          <p:cNvPicPr>
            <a:picLocks noChangeAspect="1"/>
          </p:cNvPicPr>
          <p:nvPr/>
        </p:nvPicPr>
        <p:blipFill>
          <a:blip r:embed="rId3"/>
          <a:stretch>
            <a:fillRect/>
          </a:stretch>
        </p:blipFill>
        <p:spPr>
          <a:xfrm>
            <a:off x="1234604" y="1937073"/>
            <a:ext cx="9554908" cy="3972479"/>
          </a:xfrm>
          <a:prstGeom prst="rect">
            <a:avLst/>
          </a:prstGeom>
        </p:spPr>
      </p:pic>
      <p:sp>
        <p:nvSpPr>
          <p:cNvPr id="22" name="TextBox 21">
            <a:extLst>
              <a:ext uri="{FF2B5EF4-FFF2-40B4-BE49-F238E27FC236}">
                <a16:creationId xmlns:a16="http://schemas.microsoft.com/office/drawing/2014/main" id="{F22B2B8C-DAC1-3365-1E02-8B5CF637A293}"/>
              </a:ext>
            </a:extLst>
          </p:cNvPr>
          <p:cNvSpPr txBox="1"/>
          <p:nvPr/>
        </p:nvSpPr>
        <p:spPr>
          <a:xfrm>
            <a:off x="1234604" y="6153308"/>
            <a:ext cx="2335161" cy="369332"/>
          </a:xfrm>
          <a:prstGeom prst="rect">
            <a:avLst/>
          </a:prstGeom>
          <a:noFill/>
        </p:spPr>
        <p:txBody>
          <a:bodyPr wrap="square" rtlCol="0">
            <a:spAutoFit/>
          </a:bodyPr>
          <a:lstStyle/>
          <a:p>
            <a:r>
              <a:rPr lang="zh-TW" altLang="en-US"/>
              <a:t>最佳</a:t>
            </a:r>
            <a:endParaRPr lang="en-US"/>
          </a:p>
        </p:txBody>
      </p:sp>
      <p:sp>
        <p:nvSpPr>
          <p:cNvPr id="23" name="TextBox 22">
            <a:extLst>
              <a:ext uri="{FF2B5EF4-FFF2-40B4-BE49-F238E27FC236}">
                <a16:creationId xmlns:a16="http://schemas.microsoft.com/office/drawing/2014/main" id="{B530FDAF-FBF8-9AE3-05B5-26B655DD82F5}"/>
              </a:ext>
            </a:extLst>
          </p:cNvPr>
          <p:cNvSpPr txBox="1"/>
          <p:nvPr/>
        </p:nvSpPr>
        <p:spPr>
          <a:xfrm>
            <a:off x="6408176" y="6153308"/>
            <a:ext cx="2335161" cy="369332"/>
          </a:xfrm>
          <a:prstGeom prst="rect">
            <a:avLst/>
          </a:prstGeom>
          <a:noFill/>
        </p:spPr>
        <p:txBody>
          <a:bodyPr wrap="square" rtlCol="0">
            <a:spAutoFit/>
          </a:bodyPr>
          <a:lstStyle/>
          <a:p>
            <a:r>
              <a:rPr lang="zh-TW" altLang="en-US"/>
              <a:t>不建議</a:t>
            </a:r>
            <a:endParaRPr lang="en-US"/>
          </a:p>
        </p:txBody>
      </p:sp>
    </p:spTree>
    <p:extLst>
      <p:ext uri="{BB962C8B-B14F-4D97-AF65-F5344CB8AC3E}">
        <p14:creationId xmlns:p14="http://schemas.microsoft.com/office/powerpoint/2010/main" val="33975625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A7C17AF-462B-1774-ECA8-ED225DFC95B5}"/>
            </a:ext>
          </a:extLst>
        </p:cNvPr>
        <p:cNvGrpSpPr/>
        <p:nvPr/>
      </p:nvGrpSpPr>
      <p:grpSpPr>
        <a:xfrm>
          <a:off x="0" y="0"/>
          <a:ext cx="0" cy="0"/>
          <a:chOff x="0" y="0"/>
          <a:chExt cx="0" cy="0"/>
        </a:xfrm>
      </p:grpSpPr>
      <p:grpSp>
        <p:nvGrpSpPr>
          <p:cNvPr id="11" name="Group 10">
            <a:extLst>
              <a:ext uri="{FF2B5EF4-FFF2-40B4-BE49-F238E27FC236}">
                <a16:creationId xmlns:a16="http://schemas.microsoft.com/office/drawing/2014/main" id="{DF145488-CCC7-E14C-C3C1-CA9C2E788896}"/>
              </a:ext>
            </a:extLst>
          </p:cNvPr>
          <p:cNvGrpSpPr/>
          <p:nvPr/>
        </p:nvGrpSpPr>
        <p:grpSpPr>
          <a:xfrm>
            <a:off x="6592656" y="2236899"/>
            <a:ext cx="4229690" cy="2915057"/>
            <a:chOff x="3430549" y="2037511"/>
            <a:chExt cx="4229690" cy="2915057"/>
          </a:xfrm>
        </p:grpSpPr>
        <p:pic>
          <p:nvPicPr>
            <p:cNvPr id="5" name="Picture 4">
              <a:extLst>
                <a:ext uri="{FF2B5EF4-FFF2-40B4-BE49-F238E27FC236}">
                  <a16:creationId xmlns:a16="http://schemas.microsoft.com/office/drawing/2014/main" id="{6F9C5F96-712B-9913-A10B-562BBAE001C4}"/>
                </a:ext>
              </a:extLst>
            </p:cNvPr>
            <p:cNvPicPr>
              <a:picLocks noChangeAspect="1"/>
            </p:cNvPicPr>
            <p:nvPr/>
          </p:nvPicPr>
          <p:blipFill>
            <a:blip r:embed="rId3"/>
            <a:stretch>
              <a:fillRect/>
            </a:stretch>
          </p:blipFill>
          <p:spPr>
            <a:xfrm>
              <a:off x="3430549" y="2037511"/>
              <a:ext cx="4229690" cy="2915057"/>
            </a:xfrm>
            <a:prstGeom prst="rect">
              <a:avLst/>
            </a:prstGeom>
          </p:spPr>
        </p:pic>
        <p:sp>
          <p:nvSpPr>
            <p:cNvPr id="8" name="TextBox 7">
              <a:extLst>
                <a:ext uri="{FF2B5EF4-FFF2-40B4-BE49-F238E27FC236}">
                  <a16:creationId xmlns:a16="http://schemas.microsoft.com/office/drawing/2014/main" id="{1E65E77A-D606-6DB5-1E8F-35EBF4085DDF}"/>
                </a:ext>
              </a:extLst>
            </p:cNvPr>
            <p:cNvSpPr txBox="1"/>
            <p:nvPr/>
          </p:nvSpPr>
          <p:spPr>
            <a:xfrm>
              <a:off x="6331975" y="2290916"/>
              <a:ext cx="825910" cy="369332"/>
            </a:xfrm>
            <a:prstGeom prst="rect">
              <a:avLst/>
            </a:prstGeom>
            <a:solidFill>
              <a:schemeClr val="bg1"/>
            </a:solidFill>
          </p:spPr>
          <p:txBody>
            <a:bodyPr wrap="square" rtlCol="0">
              <a:spAutoFit/>
            </a:bodyPr>
            <a:lstStyle/>
            <a:p>
              <a:r>
                <a:rPr lang="zh-TW" altLang="en-US"/>
                <a:t>較差</a:t>
              </a:r>
              <a:endParaRPr lang="en-US"/>
            </a:p>
          </p:txBody>
        </p:sp>
        <p:sp>
          <p:nvSpPr>
            <p:cNvPr id="9" name="TextBox 8">
              <a:extLst>
                <a:ext uri="{FF2B5EF4-FFF2-40B4-BE49-F238E27FC236}">
                  <a16:creationId xmlns:a16="http://schemas.microsoft.com/office/drawing/2014/main" id="{36ADA80D-21C8-1697-8075-5369B1A251FE}"/>
                </a:ext>
              </a:extLst>
            </p:cNvPr>
            <p:cNvSpPr txBox="1"/>
            <p:nvPr/>
          </p:nvSpPr>
          <p:spPr>
            <a:xfrm>
              <a:off x="5815781" y="2941042"/>
              <a:ext cx="825910" cy="369332"/>
            </a:xfrm>
            <a:prstGeom prst="rect">
              <a:avLst/>
            </a:prstGeom>
            <a:solidFill>
              <a:schemeClr val="bg1"/>
            </a:solidFill>
          </p:spPr>
          <p:txBody>
            <a:bodyPr wrap="square" rtlCol="0">
              <a:spAutoFit/>
            </a:bodyPr>
            <a:lstStyle/>
            <a:p>
              <a:r>
                <a:rPr lang="zh-TW" altLang="en-US"/>
                <a:t>較佳</a:t>
              </a:r>
              <a:endParaRPr lang="en-US"/>
            </a:p>
          </p:txBody>
        </p:sp>
        <p:sp>
          <p:nvSpPr>
            <p:cNvPr id="10" name="TextBox 9">
              <a:extLst>
                <a:ext uri="{FF2B5EF4-FFF2-40B4-BE49-F238E27FC236}">
                  <a16:creationId xmlns:a16="http://schemas.microsoft.com/office/drawing/2014/main" id="{E2FEE887-EE1E-73FF-9186-13E61F88F981}"/>
                </a:ext>
              </a:extLst>
            </p:cNvPr>
            <p:cNvSpPr txBox="1"/>
            <p:nvPr/>
          </p:nvSpPr>
          <p:spPr>
            <a:xfrm>
              <a:off x="4827640" y="3711678"/>
              <a:ext cx="648928" cy="369332"/>
            </a:xfrm>
            <a:prstGeom prst="rect">
              <a:avLst/>
            </a:prstGeom>
            <a:solidFill>
              <a:schemeClr val="bg1"/>
            </a:solidFill>
          </p:spPr>
          <p:txBody>
            <a:bodyPr wrap="square" rtlCol="0">
              <a:spAutoFit/>
            </a:bodyPr>
            <a:lstStyle/>
            <a:p>
              <a:r>
                <a:rPr lang="zh-TW" altLang="en-US"/>
                <a:t>最佳</a:t>
              </a:r>
              <a:endParaRPr lang="en-US"/>
            </a:p>
          </p:txBody>
        </p:sp>
      </p:grpSp>
      <p:sp>
        <p:nvSpPr>
          <p:cNvPr id="25" name="TextBox 24">
            <a:extLst>
              <a:ext uri="{FF2B5EF4-FFF2-40B4-BE49-F238E27FC236}">
                <a16:creationId xmlns:a16="http://schemas.microsoft.com/office/drawing/2014/main" id="{5F4B7C98-2182-1428-90CA-EE0DC8319BCA}"/>
              </a:ext>
            </a:extLst>
          </p:cNvPr>
          <p:cNvSpPr txBox="1"/>
          <p:nvPr/>
        </p:nvSpPr>
        <p:spPr>
          <a:xfrm>
            <a:off x="2562903" y="5666718"/>
            <a:ext cx="5868716" cy="492443"/>
          </a:xfrm>
          <a:prstGeom prst="rect">
            <a:avLst/>
          </a:prstGeom>
          <a:noFill/>
          <a:ln w="19050">
            <a:solidFill>
              <a:srgbClr val="FF0000"/>
            </a:solidFill>
          </a:ln>
        </p:spPr>
        <p:txBody>
          <a:bodyPr wrap="square">
            <a:spAutoFit/>
          </a:bodyPr>
          <a:lstStyle/>
          <a:p>
            <a:r>
              <a:rPr lang="zh-TW" altLang="en-US" sz="2600"/>
              <a:t>避免在走線中使用銳角</a:t>
            </a:r>
            <a:endParaRPr lang="en-US" sz="2600"/>
          </a:p>
        </p:txBody>
      </p:sp>
      <p:cxnSp>
        <p:nvCxnSpPr>
          <p:cNvPr id="27" name="Straight Arrow Connector 26">
            <a:extLst>
              <a:ext uri="{FF2B5EF4-FFF2-40B4-BE49-F238E27FC236}">
                <a16:creationId xmlns:a16="http://schemas.microsoft.com/office/drawing/2014/main" id="{17D8CA89-C10E-406B-97BE-86DB6BC595C1}"/>
              </a:ext>
            </a:extLst>
          </p:cNvPr>
          <p:cNvCxnSpPr>
            <a:cxnSpLocks/>
          </p:cNvCxnSpPr>
          <p:nvPr/>
        </p:nvCxnSpPr>
        <p:spPr>
          <a:xfrm>
            <a:off x="1855522" y="5912939"/>
            <a:ext cx="629265" cy="0"/>
          </a:xfrm>
          <a:prstGeom prst="straightConnector1">
            <a:avLst/>
          </a:prstGeom>
          <a:ln w="38100">
            <a:solidFill>
              <a:srgbClr val="FF0000"/>
            </a:solidFill>
            <a:tailEnd type="triangle"/>
          </a:ln>
        </p:spPr>
        <p:style>
          <a:lnRef idx="2">
            <a:schemeClr val="accent1"/>
          </a:lnRef>
          <a:fillRef idx="0">
            <a:schemeClr val="accent1"/>
          </a:fillRef>
          <a:effectRef idx="1">
            <a:schemeClr val="accent1"/>
          </a:effectRef>
          <a:fontRef idx="minor">
            <a:schemeClr val="tx1"/>
          </a:fontRef>
        </p:style>
      </p:cxnSp>
      <p:pic>
        <p:nvPicPr>
          <p:cNvPr id="4" name="Picture 3">
            <a:extLst>
              <a:ext uri="{FF2B5EF4-FFF2-40B4-BE49-F238E27FC236}">
                <a16:creationId xmlns:a16="http://schemas.microsoft.com/office/drawing/2014/main" id="{0A5587BC-0494-7BBC-7C9F-6D6ECA2E39FF}"/>
              </a:ext>
            </a:extLst>
          </p:cNvPr>
          <p:cNvPicPr>
            <a:picLocks noChangeAspect="1"/>
          </p:cNvPicPr>
          <p:nvPr/>
        </p:nvPicPr>
        <p:blipFill>
          <a:blip r:embed="rId4"/>
          <a:stretch>
            <a:fillRect/>
          </a:stretch>
        </p:blipFill>
        <p:spPr>
          <a:xfrm>
            <a:off x="390296" y="1607802"/>
            <a:ext cx="5020376" cy="3820058"/>
          </a:xfrm>
          <a:prstGeom prst="rect">
            <a:avLst/>
          </a:prstGeom>
        </p:spPr>
      </p:pic>
      <p:sp>
        <p:nvSpPr>
          <p:cNvPr id="12" name="TextBox 11">
            <a:extLst>
              <a:ext uri="{FF2B5EF4-FFF2-40B4-BE49-F238E27FC236}">
                <a16:creationId xmlns:a16="http://schemas.microsoft.com/office/drawing/2014/main" id="{7026603F-8FCE-ADEF-31FF-F4BCECAA0071}"/>
              </a:ext>
            </a:extLst>
          </p:cNvPr>
          <p:cNvSpPr txBox="1"/>
          <p:nvPr/>
        </p:nvSpPr>
        <p:spPr>
          <a:xfrm>
            <a:off x="0" y="520100"/>
            <a:ext cx="12192000" cy="830997"/>
          </a:xfrm>
          <a:prstGeom prst="rect">
            <a:avLst/>
          </a:prstGeom>
          <a:noFill/>
        </p:spPr>
        <p:txBody>
          <a:bodyPr wrap="square">
            <a:spAutoFit/>
          </a:bodyPr>
          <a:lstStyle/>
          <a:p>
            <a:r>
              <a:rPr lang="zh-TW" altLang="en-US" sz="2400"/>
              <a:t>為了保持 訊號完整性 </a:t>
            </a:r>
            <a:r>
              <a:rPr lang="en-US" altLang="zh-TW" sz="2400"/>
              <a:t>(</a:t>
            </a:r>
            <a:r>
              <a:rPr lang="en-US" sz="2400"/>
              <a:t>Signal Integrity) </a:t>
            </a:r>
            <a:r>
              <a:rPr lang="zh-TW" altLang="en-US" sz="2400"/>
              <a:t>並儘可能減少電磁干擾 </a:t>
            </a:r>
            <a:r>
              <a:rPr lang="en-US" altLang="zh-TW" sz="2400"/>
              <a:t>(</a:t>
            </a:r>
            <a:r>
              <a:rPr lang="en-US" sz="2400"/>
              <a:t>EMI)，PCB </a:t>
            </a:r>
            <a:r>
              <a:rPr lang="zh-TW" altLang="en-US" sz="2400"/>
              <a:t>走線 </a:t>
            </a:r>
            <a:r>
              <a:rPr lang="en-US" altLang="zh-TW" sz="2400"/>
              <a:t>(</a:t>
            </a:r>
            <a:r>
              <a:rPr lang="en-US" sz="2400"/>
              <a:t>Tracks) </a:t>
            </a:r>
            <a:r>
              <a:rPr lang="zh-TW" altLang="en-US" sz="2400"/>
              <a:t>應避免銳角或直角，而改用曲線或 </a:t>
            </a:r>
            <a:r>
              <a:rPr lang="en-US" altLang="zh-TW" sz="2400"/>
              <a:t>45 </a:t>
            </a:r>
            <a:r>
              <a:rPr lang="zh-TW" altLang="en-US" sz="2400"/>
              <a:t>度轉角，以確保阻抗 </a:t>
            </a:r>
            <a:r>
              <a:rPr lang="en-US" altLang="zh-TW" sz="2400"/>
              <a:t>(</a:t>
            </a:r>
            <a:r>
              <a:rPr lang="en-US" sz="2400"/>
              <a:t>Impedance) </a:t>
            </a:r>
            <a:r>
              <a:rPr lang="zh-TW" altLang="en-US" sz="2400"/>
              <a:t>的一致性</a:t>
            </a:r>
            <a:endParaRPr lang="en-US" sz="2200">
              <a:latin typeface="Arial" panose="020B0604020202020204" pitchFamily="34" charset="0"/>
              <a:cs typeface="Arial" panose="020B0604020202020204" pitchFamily="34" charset="0"/>
            </a:endParaRPr>
          </a:p>
        </p:txBody>
      </p:sp>
      <p:sp>
        <p:nvSpPr>
          <p:cNvPr id="13" name="Title 1">
            <a:extLst>
              <a:ext uri="{FF2B5EF4-FFF2-40B4-BE49-F238E27FC236}">
                <a16:creationId xmlns:a16="http://schemas.microsoft.com/office/drawing/2014/main" id="{89353E99-01C8-61DD-A783-8E128C33BFA7}"/>
              </a:ext>
            </a:extLst>
          </p:cNvPr>
          <p:cNvSpPr txBox="1">
            <a:spLocks/>
          </p:cNvSpPr>
          <p:nvPr/>
        </p:nvSpPr>
        <p:spPr>
          <a:xfrm>
            <a:off x="0" y="0"/>
            <a:ext cx="10515600" cy="626806"/>
          </a:xfrm>
          <a:prstGeom prst="rect">
            <a:avLst/>
          </a:prstGeom>
        </p:spPr>
        <p:txBody>
          <a:bodyPr vert="horz" lIns="91440" tIns="45720" rIns="91440" bIns="45720" rtlCol="0" anchor="ctr">
            <a:normAutofit fontScale="90000" lnSpcReduction="1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zh-TW" altLang="en-US"/>
              <a:t>最佳走線角度：</a:t>
            </a:r>
            <a:endParaRPr lang="en-US"/>
          </a:p>
        </p:txBody>
      </p:sp>
    </p:spTree>
    <p:extLst>
      <p:ext uri="{BB962C8B-B14F-4D97-AF65-F5344CB8AC3E}">
        <p14:creationId xmlns:p14="http://schemas.microsoft.com/office/powerpoint/2010/main" val="31805706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C3C3A9-A430-F804-4CB5-12EF4B1EBDF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070D924-4FB1-FD65-570E-D32B9E2755D7}"/>
              </a:ext>
            </a:extLst>
          </p:cNvPr>
          <p:cNvSpPr>
            <a:spLocks noGrp="1"/>
          </p:cNvSpPr>
          <p:nvPr>
            <p:ph type="title"/>
          </p:nvPr>
        </p:nvSpPr>
        <p:spPr>
          <a:xfrm>
            <a:off x="0" y="0"/>
            <a:ext cx="6754761" cy="626806"/>
          </a:xfrm>
        </p:spPr>
        <p:txBody>
          <a:bodyPr>
            <a:normAutofit fontScale="90000"/>
          </a:bodyPr>
          <a:lstStyle/>
          <a:p>
            <a:r>
              <a:rPr lang="zh-TW" altLang="en-US"/>
              <a:t>從焊盤正確引出走線</a:t>
            </a:r>
            <a:endParaRPr lang="en-US"/>
          </a:p>
        </p:txBody>
      </p:sp>
      <p:sp>
        <p:nvSpPr>
          <p:cNvPr id="6" name="Rectangle 5">
            <a:extLst>
              <a:ext uri="{FF2B5EF4-FFF2-40B4-BE49-F238E27FC236}">
                <a16:creationId xmlns:a16="http://schemas.microsoft.com/office/drawing/2014/main" id="{5B475B4E-9E54-506A-33CD-4F2C24DB5448}"/>
              </a:ext>
            </a:extLst>
          </p:cNvPr>
          <p:cNvSpPr/>
          <p:nvPr/>
        </p:nvSpPr>
        <p:spPr>
          <a:xfrm>
            <a:off x="481781" y="6363274"/>
            <a:ext cx="1505646" cy="494726"/>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Picture 3">
            <a:extLst>
              <a:ext uri="{FF2B5EF4-FFF2-40B4-BE49-F238E27FC236}">
                <a16:creationId xmlns:a16="http://schemas.microsoft.com/office/drawing/2014/main" id="{D63EBEB3-1217-4190-12AD-6C33ACDC907F}"/>
              </a:ext>
            </a:extLst>
          </p:cNvPr>
          <p:cNvPicPr>
            <a:picLocks noChangeAspect="1"/>
          </p:cNvPicPr>
          <p:nvPr/>
        </p:nvPicPr>
        <p:blipFill>
          <a:blip r:embed="rId3"/>
          <a:stretch>
            <a:fillRect/>
          </a:stretch>
        </p:blipFill>
        <p:spPr>
          <a:xfrm>
            <a:off x="0" y="2710158"/>
            <a:ext cx="5481730" cy="2944373"/>
          </a:xfrm>
          <a:prstGeom prst="rect">
            <a:avLst/>
          </a:prstGeom>
        </p:spPr>
      </p:pic>
      <p:sp>
        <p:nvSpPr>
          <p:cNvPr id="12" name="TextBox 11">
            <a:extLst>
              <a:ext uri="{FF2B5EF4-FFF2-40B4-BE49-F238E27FC236}">
                <a16:creationId xmlns:a16="http://schemas.microsoft.com/office/drawing/2014/main" id="{12F80C66-C89C-1A18-84E7-37E59E0E227E}"/>
              </a:ext>
            </a:extLst>
          </p:cNvPr>
          <p:cNvSpPr txBox="1"/>
          <p:nvPr/>
        </p:nvSpPr>
        <p:spPr>
          <a:xfrm>
            <a:off x="0" y="767756"/>
            <a:ext cx="5481730" cy="1569660"/>
          </a:xfrm>
          <a:prstGeom prst="rect">
            <a:avLst/>
          </a:prstGeom>
          <a:noFill/>
        </p:spPr>
        <p:txBody>
          <a:bodyPr wrap="square">
            <a:spAutoFit/>
          </a:bodyPr>
          <a:lstStyle/>
          <a:p>
            <a:pPr algn="just"/>
            <a:r>
              <a:rPr lang="zh-TW" altLang="en-US" sz="2400"/>
              <a:t>從焊盤 </a:t>
            </a:r>
            <a:r>
              <a:rPr lang="en-US" altLang="zh-TW" sz="2400"/>
              <a:t>(Pads) </a:t>
            </a:r>
            <a:r>
              <a:rPr lang="zh-TW" altLang="en-US" sz="2400"/>
              <a:t>的縱向側面進行 佈線 </a:t>
            </a:r>
            <a:r>
              <a:rPr lang="en-US" altLang="zh-TW" sz="2400"/>
              <a:t>(Routing/</a:t>
            </a:r>
            <a:r>
              <a:rPr lang="zh-TW" altLang="en-US" sz="2400"/>
              <a:t>走線</a:t>
            </a:r>
            <a:r>
              <a:rPr lang="en-US" altLang="zh-TW" sz="2400"/>
              <a:t>)</a:t>
            </a:r>
            <a:r>
              <a:rPr lang="zh-TW" altLang="en-US" sz="2400"/>
              <a:t>，並保持至少 </a:t>
            </a:r>
            <a:r>
              <a:rPr lang="en-US" altLang="zh-TW" sz="2400"/>
              <a:t>6 mils </a:t>
            </a:r>
            <a:r>
              <a:rPr lang="zh-TW" altLang="en-US" sz="2400"/>
              <a:t>的 間距 </a:t>
            </a:r>
            <a:r>
              <a:rPr lang="en-US" altLang="zh-TW" sz="2400"/>
              <a:t>(Clearance)</a:t>
            </a:r>
            <a:r>
              <a:rPr lang="zh-TW" altLang="en-US" sz="2400"/>
              <a:t>，這對於減少焊點應力並確保製造可靠性至關重要</a:t>
            </a:r>
            <a:endParaRPr lang="en-US" sz="2400"/>
          </a:p>
        </p:txBody>
      </p:sp>
      <p:pic>
        <p:nvPicPr>
          <p:cNvPr id="14" name="Picture 13">
            <a:extLst>
              <a:ext uri="{FF2B5EF4-FFF2-40B4-BE49-F238E27FC236}">
                <a16:creationId xmlns:a16="http://schemas.microsoft.com/office/drawing/2014/main" id="{5E7A29D4-9737-BB09-B2AF-207F4CF47A37}"/>
              </a:ext>
            </a:extLst>
          </p:cNvPr>
          <p:cNvPicPr>
            <a:picLocks noChangeAspect="1"/>
          </p:cNvPicPr>
          <p:nvPr/>
        </p:nvPicPr>
        <p:blipFill>
          <a:blip r:embed="rId4"/>
          <a:stretch>
            <a:fillRect/>
          </a:stretch>
        </p:blipFill>
        <p:spPr>
          <a:xfrm>
            <a:off x="5700689" y="3222630"/>
            <a:ext cx="6491311" cy="2280933"/>
          </a:xfrm>
          <a:prstGeom prst="rect">
            <a:avLst/>
          </a:prstGeom>
        </p:spPr>
      </p:pic>
      <p:sp>
        <p:nvSpPr>
          <p:cNvPr id="18" name="TextBox 17">
            <a:extLst>
              <a:ext uri="{FF2B5EF4-FFF2-40B4-BE49-F238E27FC236}">
                <a16:creationId xmlns:a16="http://schemas.microsoft.com/office/drawing/2014/main" id="{08647C1D-5FF8-803F-8F1C-8D87B0CEAD1A}"/>
              </a:ext>
            </a:extLst>
          </p:cNvPr>
          <p:cNvSpPr txBox="1"/>
          <p:nvPr/>
        </p:nvSpPr>
        <p:spPr>
          <a:xfrm>
            <a:off x="5840361" y="767756"/>
            <a:ext cx="6351637" cy="1200329"/>
          </a:xfrm>
          <a:prstGeom prst="rect">
            <a:avLst/>
          </a:prstGeom>
          <a:noFill/>
        </p:spPr>
        <p:txBody>
          <a:bodyPr wrap="square">
            <a:spAutoFit/>
          </a:bodyPr>
          <a:lstStyle/>
          <a:p>
            <a:pPr algn="just"/>
            <a:r>
              <a:rPr lang="zh-TW" altLang="en-US" sz="2400"/>
              <a:t>為了防止錫橋 </a:t>
            </a:r>
            <a:r>
              <a:rPr lang="en-US" altLang="zh-TW" sz="2400"/>
              <a:t>(Solder bridges) </a:t>
            </a:r>
            <a:r>
              <a:rPr lang="zh-TW" altLang="en-US" sz="2400"/>
              <a:t>和短路，走線 </a:t>
            </a:r>
            <a:r>
              <a:rPr lang="en-US" altLang="zh-TW" sz="2400"/>
              <a:t>(Tracks) </a:t>
            </a:r>
            <a:r>
              <a:rPr lang="zh-TW" altLang="en-US" sz="2400"/>
              <a:t>應從相同網路的相鄰焊盤向外延伸後再進行連接，而非使用直接且過短的連線</a:t>
            </a:r>
            <a:endParaRPr lang="en-US" sz="240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419025426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6AB65E0-5087-BFA0-3ACC-37040783C4C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64B62F0-67BE-65B9-5FD5-06DA39DE7B07}"/>
              </a:ext>
            </a:extLst>
          </p:cNvPr>
          <p:cNvSpPr>
            <a:spLocks noGrp="1"/>
          </p:cNvSpPr>
          <p:nvPr>
            <p:ph type="title"/>
          </p:nvPr>
        </p:nvSpPr>
        <p:spPr>
          <a:xfrm>
            <a:off x="0" y="0"/>
            <a:ext cx="10515600" cy="626806"/>
          </a:xfrm>
        </p:spPr>
        <p:txBody>
          <a:bodyPr>
            <a:normAutofit fontScale="90000"/>
          </a:bodyPr>
          <a:lstStyle/>
          <a:p>
            <a:r>
              <a:rPr lang="zh-TW" altLang="en-US"/>
              <a:t>小型晶片元件的對稱佈線</a:t>
            </a:r>
            <a:endParaRPr lang="en-US"/>
          </a:p>
        </p:txBody>
      </p:sp>
      <p:sp>
        <p:nvSpPr>
          <p:cNvPr id="6" name="Rectangle 5">
            <a:extLst>
              <a:ext uri="{FF2B5EF4-FFF2-40B4-BE49-F238E27FC236}">
                <a16:creationId xmlns:a16="http://schemas.microsoft.com/office/drawing/2014/main" id="{94DC83D7-2156-B7FF-E6DB-7B1820F8609B}"/>
              </a:ext>
            </a:extLst>
          </p:cNvPr>
          <p:cNvSpPr/>
          <p:nvPr/>
        </p:nvSpPr>
        <p:spPr>
          <a:xfrm>
            <a:off x="481781" y="6363274"/>
            <a:ext cx="1505646" cy="494726"/>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Picture 3">
            <a:extLst>
              <a:ext uri="{FF2B5EF4-FFF2-40B4-BE49-F238E27FC236}">
                <a16:creationId xmlns:a16="http://schemas.microsoft.com/office/drawing/2014/main" id="{C9B77BE0-175A-7EC7-2EAB-8DAF74504CD0}"/>
              </a:ext>
            </a:extLst>
          </p:cNvPr>
          <p:cNvPicPr>
            <a:picLocks noChangeAspect="1"/>
          </p:cNvPicPr>
          <p:nvPr/>
        </p:nvPicPr>
        <p:blipFill>
          <a:blip r:embed="rId3"/>
          <a:stretch>
            <a:fillRect/>
          </a:stretch>
        </p:blipFill>
        <p:spPr>
          <a:xfrm>
            <a:off x="1132782" y="2329644"/>
            <a:ext cx="9926435" cy="4163006"/>
          </a:xfrm>
          <a:prstGeom prst="rect">
            <a:avLst/>
          </a:prstGeom>
        </p:spPr>
      </p:pic>
      <p:sp>
        <p:nvSpPr>
          <p:cNvPr id="12" name="TextBox 11">
            <a:extLst>
              <a:ext uri="{FF2B5EF4-FFF2-40B4-BE49-F238E27FC236}">
                <a16:creationId xmlns:a16="http://schemas.microsoft.com/office/drawing/2014/main" id="{8689D284-3149-1D92-4DA3-2C0E57CD30EC}"/>
              </a:ext>
            </a:extLst>
          </p:cNvPr>
          <p:cNvSpPr txBox="1"/>
          <p:nvPr/>
        </p:nvSpPr>
        <p:spPr>
          <a:xfrm>
            <a:off x="0" y="878060"/>
            <a:ext cx="12192000" cy="830997"/>
          </a:xfrm>
          <a:prstGeom prst="rect">
            <a:avLst/>
          </a:prstGeom>
          <a:noFill/>
        </p:spPr>
        <p:txBody>
          <a:bodyPr wrap="square">
            <a:spAutoFit/>
          </a:bodyPr>
          <a:lstStyle/>
          <a:p>
            <a:pPr algn="just"/>
            <a:r>
              <a:rPr lang="zh-TW" altLang="en-US" sz="2400"/>
              <a:t>在小型片狀 元件 </a:t>
            </a:r>
            <a:r>
              <a:rPr lang="en-US" altLang="zh-TW" sz="2400"/>
              <a:t>(Chip Components) </a:t>
            </a:r>
            <a:r>
              <a:rPr lang="zh-TW" altLang="en-US" sz="2400"/>
              <a:t>的兩端保持對稱的 走線寬度 </a:t>
            </a:r>
            <a:r>
              <a:rPr lang="en-US" altLang="zh-TW" sz="2400"/>
              <a:t>(Track widths) </a:t>
            </a:r>
            <a:r>
              <a:rPr lang="zh-TW" altLang="en-US" sz="2400"/>
              <a:t>和佈局至關重要，這能防止元件在焊接過程中發生位移或旋轉，確保組裝過程穩定</a:t>
            </a:r>
            <a:endParaRPr lang="en-US" sz="240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7093023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698633-6E26-0866-B9B0-21527FE8E4D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F72F699-5533-E8D2-541F-F03F4B28D28E}"/>
              </a:ext>
            </a:extLst>
          </p:cNvPr>
          <p:cNvSpPr>
            <a:spLocks noGrp="1"/>
          </p:cNvSpPr>
          <p:nvPr>
            <p:ph type="title"/>
          </p:nvPr>
        </p:nvSpPr>
        <p:spPr>
          <a:xfrm>
            <a:off x="0" y="1"/>
            <a:ext cx="11060969" cy="598099"/>
          </a:xfrm>
        </p:spPr>
        <p:txBody>
          <a:bodyPr vert="horz" lIns="91440" tIns="45720" rIns="91440" bIns="45720" rtlCol="0" anchor="b">
            <a:normAutofit/>
          </a:bodyPr>
          <a:lstStyle/>
          <a:p>
            <a:r>
              <a:rPr lang="zh-TW" altLang="en-US" sz="3200"/>
              <a:t>基礎佈線：最小化訊號佈線中的迴路面積</a:t>
            </a:r>
            <a:endParaRPr lang="en-US" sz="3000" kern="1200">
              <a:solidFill>
                <a:schemeClr val="tx1"/>
              </a:solidFill>
              <a:latin typeface="+mj-lt"/>
              <a:ea typeface="+mj-ea"/>
              <a:cs typeface="+mj-cs"/>
            </a:endParaRPr>
          </a:p>
        </p:txBody>
      </p:sp>
      <p:sp>
        <p:nvSpPr>
          <p:cNvPr id="96" name="TextBox 95">
            <a:extLst>
              <a:ext uri="{FF2B5EF4-FFF2-40B4-BE49-F238E27FC236}">
                <a16:creationId xmlns:a16="http://schemas.microsoft.com/office/drawing/2014/main" id="{49168026-A424-8C1C-EDAD-4F47968D4119}"/>
              </a:ext>
            </a:extLst>
          </p:cNvPr>
          <p:cNvSpPr txBox="1"/>
          <p:nvPr/>
        </p:nvSpPr>
        <p:spPr>
          <a:xfrm>
            <a:off x="3419" y="1677679"/>
            <a:ext cx="5406849" cy="3447832"/>
          </a:xfrm>
          <a:prstGeom prst="rect">
            <a:avLst/>
          </a:prstGeom>
        </p:spPr>
        <p:txBody>
          <a:bodyPr vert="horz" lIns="91440" tIns="45720" rIns="91440" bIns="45720" rtlCol="0" anchor="t">
            <a:normAutofit/>
          </a:bodyPr>
          <a:lstStyle/>
          <a:p>
            <a:pPr algn="just">
              <a:lnSpc>
                <a:spcPct val="150000"/>
              </a:lnSpc>
              <a:spcAft>
                <a:spcPts val="600"/>
              </a:spcAft>
            </a:pPr>
            <a:r>
              <a:rPr lang="zh-TW" altLang="en-US" sz="2400"/>
              <a:t>最小化訊號 走線 </a:t>
            </a:r>
            <a:r>
              <a:rPr lang="en-US" altLang="zh-TW" sz="2400"/>
              <a:t>(Tracks) </a:t>
            </a:r>
            <a:r>
              <a:rPr lang="zh-TW" altLang="en-US" sz="2400"/>
              <a:t>與其迴流路徑 </a:t>
            </a:r>
            <a:r>
              <a:rPr lang="en-US" altLang="zh-TW" sz="2400"/>
              <a:t>(Return paths) </a:t>
            </a:r>
            <a:r>
              <a:rPr lang="zh-TW" altLang="en-US" sz="2400"/>
              <a:t>之間的迴路面積，對於減少電磁輻射並增強 </a:t>
            </a:r>
            <a:r>
              <a:rPr lang="en-US" altLang="zh-TW" sz="2400"/>
              <a:t>PCB </a:t>
            </a:r>
            <a:r>
              <a:rPr lang="zh-TW" altLang="en-US" sz="2400"/>
              <a:t>的整體電磁相容性 </a:t>
            </a:r>
            <a:r>
              <a:rPr lang="en-US" altLang="zh-TW" sz="2400"/>
              <a:t>(EMC) </a:t>
            </a:r>
            <a:r>
              <a:rPr lang="zh-TW" altLang="en-US" sz="2400"/>
              <a:t>至關重要</a:t>
            </a:r>
            <a:endParaRPr lang="en-US" sz="2400">
              <a:latin typeface="Arial" panose="020B0604020202020204" pitchFamily="34" charset="0"/>
              <a:cs typeface="Arial" panose="020B0604020202020204" pitchFamily="34" charset="0"/>
            </a:endParaRPr>
          </a:p>
        </p:txBody>
      </p:sp>
      <p:sp>
        <p:nvSpPr>
          <p:cNvPr id="6" name="Rectangle 5">
            <a:extLst>
              <a:ext uri="{FF2B5EF4-FFF2-40B4-BE49-F238E27FC236}">
                <a16:creationId xmlns:a16="http://schemas.microsoft.com/office/drawing/2014/main" id="{2CB064D9-51C2-086A-CE7F-927F0A745DB4}"/>
              </a:ext>
            </a:extLst>
          </p:cNvPr>
          <p:cNvSpPr/>
          <p:nvPr/>
        </p:nvSpPr>
        <p:spPr>
          <a:xfrm>
            <a:off x="481781" y="6363274"/>
            <a:ext cx="1505646" cy="494726"/>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94" name="Group 93">
            <a:extLst>
              <a:ext uri="{FF2B5EF4-FFF2-40B4-BE49-F238E27FC236}">
                <a16:creationId xmlns:a16="http://schemas.microsoft.com/office/drawing/2014/main" id="{591C5139-DCBE-2120-CA80-1C2861F44378}"/>
              </a:ext>
            </a:extLst>
          </p:cNvPr>
          <p:cNvGrpSpPr/>
          <p:nvPr/>
        </p:nvGrpSpPr>
        <p:grpSpPr>
          <a:xfrm>
            <a:off x="5730463" y="736736"/>
            <a:ext cx="5533684" cy="5384528"/>
            <a:chOff x="2973673" y="1248560"/>
            <a:chExt cx="5370508" cy="5225750"/>
          </a:xfrm>
        </p:grpSpPr>
        <p:pic>
          <p:nvPicPr>
            <p:cNvPr id="4" name="Picture 3">
              <a:extLst>
                <a:ext uri="{FF2B5EF4-FFF2-40B4-BE49-F238E27FC236}">
                  <a16:creationId xmlns:a16="http://schemas.microsoft.com/office/drawing/2014/main" id="{6744607D-15EE-7A21-61B2-5E09292261B8}"/>
                </a:ext>
              </a:extLst>
            </p:cNvPr>
            <p:cNvPicPr>
              <a:picLocks noChangeAspect="1"/>
            </p:cNvPicPr>
            <p:nvPr/>
          </p:nvPicPr>
          <p:blipFill>
            <a:blip r:embed="rId3"/>
            <a:stretch>
              <a:fillRect/>
            </a:stretch>
          </p:blipFill>
          <p:spPr>
            <a:xfrm>
              <a:off x="2973673" y="1248560"/>
              <a:ext cx="5370508" cy="5225750"/>
            </a:xfrm>
            <a:prstGeom prst="rect">
              <a:avLst/>
            </a:prstGeom>
          </p:spPr>
        </p:pic>
        <p:cxnSp>
          <p:nvCxnSpPr>
            <p:cNvPr id="12" name="Straight Connector 11">
              <a:extLst>
                <a:ext uri="{FF2B5EF4-FFF2-40B4-BE49-F238E27FC236}">
                  <a16:creationId xmlns:a16="http://schemas.microsoft.com/office/drawing/2014/main" id="{1797F9A4-DF20-D6DE-DCFB-C4F45F89B85A}"/>
                </a:ext>
              </a:extLst>
            </p:cNvPr>
            <p:cNvCxnSpPr/>
            <p:nvPr/>
          </p:nvCxnSpPr>
          <p:spPr>
            <a:xfrm flipV="1">
              <a:off x="5041392" y="2749296"/>
              <a:ext cx="0" cy="73152"/>
            </a:xfrm>
            <a:prstGeom prst="line">
              <a:avLst/>
            </a:prstGeom>
            <a:ln w="25400">
              <a:solidFill>
                <a:srgbClr val="FF0000"/>
              </a:solidFill>
            </a:ln>
          </p:spPr>
          <p:style>
            <a:lnRef idx="2">
              <a:schemeClr val="accent1"/>
            </a:lnRef>
            <a:fillRef idx="0">
              <a:schemeClr val="accent1"/>
            </a:fillRef>
            <a:effectRef idx="1">
              <a:schemeClr val="accent1"/>
            </a:effectRef>
            <a:fontRef idx="minor">
              <a:schemeClr val="tx1"/>
            </a:fontRef>
          </p:style>
        </p:cxnSp>
        <p:cxnSp>
          <p:nvCxnSpPr>
            <p:cNvPr id="14" name="Straight Connector 13">
              <a:extLst>
                <a:ext uri="{FF2B5EF4-FFF2-40B4-BE49-F238E27FC236}">
                  <a16:creationId xmlns:a16="http://schemas.microsoft.com/office/drawing/2014/main" id="{F5114756-034A-71AC-A908-8F1DEA4AB804}"/>
                </a:ext>
              </a:extLst>
            </p:cNvPr>
            <p:cNvCxnSpPr/>
            <p:nvPr/>
          </p:nvCxnSpPr>
          <p:spPr>
            <a:xfrm>
              <a:off x="5041392" y="2761488"/>
              <a:ext cx="396240" cy="0"/>
            </a:xfrm>
            <a:prstGeom prst="line">
              <a:avLst/>
            </a:prstGeom>
            <a:ln w="25400">
              <a:solidFill>
                <a:srgbClr val="FF0000"/>
              </a:solidFill>
            </a:ln>
          </p:spPr>
          <p:style>
            <a:lnRef idx="2">
              <a:schemeClr val="accent1"/>
            </a:lnRef>
            <a:fillRef idx="0">
              <a:schemeClr val="accent1"/>
            </a:fillRef>
            <a:effectRef idx="1">
              <a:schemeClr val="accent1"/>
            </a:effectRef>
            <a:fontRef idx="minor">
              <a:schemeClr val="tx1"/>
            </a:fontRef>
          </p:style>
        </p:cxnSp>
        <p:cxnSp>
          <p:nvCxnSpPr>
            <p:cNvPr id="16" name="Straight Connector 15">
              <a:extLst>
                <a:ext uri="{FF2B5EF4-FFF2-40B4-BE49-F238E27FC236}">
                  <a16:creationId xmlns:a16="http://schemas.microsoft.com/office/drawing/2014/main" id="{623D3D35-D308-DF77-E328-907CED76B9E5}"/>
                </a:ext>
              </a:extLst>
            </p:cNvPr>
            <p:cNvCxnSpPr>
              <a:cxnSpLocks/>
            </p:cNvCxnSpPr>
            <p:nvPr/>
          </p:nvCxnSpPr>
          <p:spPr>
            <a:xfrm>
              <a:off x="5462016" y="2790063"/>
              <a:ext cx="0" cy="804672"/>
            </a:xfrm>
            <a:prstGeom prst="line">
              <a:avLst/>
            </a:prstGeom>
            <a:ln w="25400">
              <a:solidFill>
                <a:srgbClr val="FF0000"/>
              </a:solidFill>
            </a:ln>
          </p:spPr>
          <p:style>
            <a:lnRef idx="2">
              <a:schemeClr val="accent1"/>
            </a:lnRef>
            <a:fillRef idx="0">
              <a:schemeClr val="accent1"/>
            </a:fillRef>
            <a:effectRef idx="1">
              <a:schemeClr val="accent1"/>
            </a:effectRef>
            <a:fontRef idx="minor">
              <a:schemeClr val="tx1"/>
            </a:fontRef>
          </p:style>
        </p:cxnSp>
        <p:cxnSp>
          <p:nvCxnSpPr>
            <p:cNvPr id="19" name="Straight Connector 18">
              <a:extLst>
                <a:ext uri="{FF2B5EF4-FFF2-40B4-BE49-F238E27FC236}">
                  <a16:creationId xmlns:a16="http://schemas.microsoft.com/office/drawing/2014/main" id="{3F931CD7-2C30-1035-C3AA-7E8F4FBEA527}"/>
                </a:ext>
              </a:extLst>
            </p:cNvPr>
            <p:cNvCxnSpPr>
              <a:cxnSpLocks/>
            </p:cNvCxnSpPr>
            <p:nvPr/>
          </p:nvCxnSpPr>
          <p:spPr>
            <a:xfrm flipH="1" flipV="1">
              <a:off x="5425440" y="2756916"/>
              <a:ext cx="40386" cy="40767"/>
            </a:xfrm>
            <a:prstGeom prst="line">
              <a:avLst/>
            </a:prstGeom>
            <a:ln w="25400">
              <a:solidFill>
                <a:srgbClr val="FF0000"/>
              </a:solidFill>
            </a:ln>
          </p:spPr>
          <p:style>
            <a:lnRef idx="2">
              <a:schemeClr val="accent1"/>
            </a:lnRef>
            <a:fillRef idx="0">
              <a:schemeClr val="accent1"/>
            </a:fillRef>
            <a:effectRef idx="1">
              <a:schemeClr val="accent1"/>
            </a:effectRef>
            <a:fontRef idx="minor">
              <a:schemeClr val="tx1"/>
            </a:fontRef>
          </p:style>
        </p:cxnSp>
        <p:cxnSp>
          <p:nvCxnSpPr>
            <p:cNvPr id="23" name="Straight Connector 22">
              <a:extLst>
                <a:ext uri="{FF2B5EF4-FFF2-40B4-BE49-F238E27FC236}">
                  <a16:creationId xmlns:a16="http://schemas.microsoft.com/office/drawing/2014/main" id="{5E4A737A-2B6E-6A5F-B47C-933A4C78942B}"/>
                </a:ext>
              </a:extLst>
            </p:cNvPr>
            <p:cNvCxnSpPr>
              <a:cxnSpLocks/>
            </p:cNvCxnSpPr>
            <p:nvPr/>
          </p:nvCxnSpPr>
          <p:spPr>
            <a:xfrm flipH="1">
              <a:off x="5322570" y="3589020"/>
              <a:ext cx="143256" cy="144780"/>
            </a:xfrm>
            <a:prstGeom prst="line">
              <a:avLst/>
            </a:prstGeom>
            <a:ln w="25400">
              <a:solidFill>
                <a:srgbClr val="FF0000"/>
              </a:solidFill>
            </a:ln>
          </p:spPr>
          <p:style>
            <a:lnRef idx="2">
              <a:schemeClr val="accent1"/>
            </a:lnRef>
            <a:fillRef idx="0">
              <a:schemeClr val="accent1"/>
            </a:fillRef>
            <a:effectRef idx="1">
              <a:schemeClr val="accent1"/>
            </a:effectRef>
            <a:fontRef idx="minor">
              <a:schemeClr val="tx1"/>
            </a:fontRef>
          </p:style>
        </p:cxnSp>
        <p:cxnSp>
          <p:nvCxnSpPr>
            <p:cNvPr id="26" name="Straight Connector 25">
              <a:extLst>
                <a:ext uri="{FF2B5EF4-FFF2-40B4-BE49-F238E27FC236}">
                  <a16:creationId xmlns:a16="http://schemas.microsoft.com/office/drawing/2014/main" id="{3A0D5C01-8CB8-D0A5-79B2-342F9C638527}"/>
                </a:ext>
              </a:extLst>
            </p:cNvPr>
            <p:cNvCxnSpPr>
              <a:cxnSpLocks/>
            </p:cNvCxnSpPr>
            <p:nvPr/>
          </p:nvCxnSpPr>
          <p:spPr>
            <a:xfrm flipH="1" flipV="1">
              <a:off x="4935855" y="3728085"/>
              <a:ext cx="400050" cy="1905"/>
            </a:xfrm>
            <a:prstGeom prst="line">
              <a:avLst/>
            </a:prstGeom>
            <a:ln w="25400">
              <a:solidFill>
                <a:srgbClr val="FF0000"/>
              </a:solidFill>
            </a:ln>
          </p:spPr>
          <p:style>
            <a:lnRef idx="2">
              <a:schemeClr val="accent1"/>
            </a:lnRef>
            <a:fillRef idx="0">
              <a:schemeClr val="accent1"/>
            </a:fillRef>
            <a:effectRef idx="1">
              <a:schemeClr val="accent1"/>
            </a:effectRef>
            <a:fontRef idx="minor">
              <a:schemeClr val="tx1"/>
            </a:fontRef>
          </p:style>
        </p:cxnSp>
        <p:cxnSp>
          <p:nvCxnSpPr>
            <p:cNvPr id="29" name="Straight Connector 28">
              <a:extLst>
                <a:ext uri="{FF2B5EF4-FFF2-40B4-BE49-F238E27FC236}">
                  <a16:creationId xmlns:a16="http://schemas.microsoft.com/office/drawing/2014/main" id="{DCCF6136-E4AE-BB70-11C7-9E04291FE9C6}"/>
                </a:ext>
              </a:extLst>
            </p:cNvPr>
            <p:cNvCxnSpPr>
              <a:cxnSpLocks/>
            </p:cNvCxnSpPr>
            <p:nvPr/>
          </p:nvCxnSpPr>
          <p:spPr>
            <a:xfrm flipH="1">
              <a:off x="4773930" y="3724275"/>
              <a:ext cx="169545" cy="144780"/>
            </a:xfrm>
            <a:prstGeom prst="line">
              <a:avLst/>
            </a:prstGeom>
            <a:ln w="25400">
              <a:solidFill>
                <a:srgbClr val="FF0000"/>
              </a:solidFill>
            </a:ln>
          </p:spPr>
          <p:style>
            <a:lnRef idx="2">
              <a:schemeClr val="accent1"/>
            </a:lnRef>
            <a:fillRef idx="0">
              <a:schemeClr val="accent1"/>
            </a:fillRef>
            <a:effectRef idx="1">
              <a:schemeClr val="accent1"/>
            </a:effectRef>
            <a:fontRef idx="minor">
              <a:schemeClr val="tx1"/>
            </a:fontRef>
          </p:style>
        </p:cxnSp>
        <p:cxnSp>
          <p:nvCxnSpPr>
            <p:cNvPr id="32" name="Straight Connector 31">
              <a:extLst>
                <a:ext uri="{FF2B5EF4-FFF2-40B4-BE49-F238E27FC236}">
                  <a16:creationId xmlns:a16="http://schemas.microsoft.com/office/drawing/2014/main" id="{692175C7-F655-9EB2-1BE2-AB5893D47531}"/>
                </a:ext>
              </a:extLst>
            </p:cNvPr>
            <p:cNvCxnSpPr/>
            <p:nvPr/>
          </p:nvCxnSpPr>
          <p:spPr>
            <a:xfrm>
              <a:off x="4777105" y="3861435"/>
              <a:ext cx="0" cy="868680"/>
            </a:xfrm>
            <a:prstGeom prst="line">
              <a:avLst/>
            </a:prstGeom>
            <a:ln w="25400">
              <a:solidFill>
                <a:srgbClr val="FF0000"/>
              </a:solidFill>
            </a:ln>
          </p:spPr>
          <p:style>
            <a:lnRef idx="2">
              <a:schemeClr val="accent1"/>
            </a:lnRef>
            <a:fillRef idx="0">
              <a:schemeClr val="accent1"/>
            </a:fillRef>
            <a:effectRef idx="1">
              <a:schemeClr val="accent1"/>
            </a:effectRef>
            <a:fontRef idx="minor">
              <a:schemeClr val="tx1"/>
            </a:fontRef>
          </p:style>
        </p:cxnSp>
        <p:cxnSp>
          <p:nvCxnSpPr>
            <p:cNvPr id="35" name="Straight Connector 34">
              <a:extLst>
                <a:ext uri="{FF2B5EF4-FFF2-40B4-BE49-F238E27FC236}">
                  <a16:creationId xmlns:a16="http://schemas.microsoft.com/office/drawing/2014/main" id="{84E302E8-7C95-8868-6C63-2FC327A42A9F}"/>
                </a:ext>
              </a:extLst>
            </p:cNvPr>
            <p:cNvCxnSpPr>
              <a:cxnSpLocks/>
            </p:cNvCxnSpPr>
            <p:nvPr/>
          </p:nvCxnSpPr>
          <p:spPr>
            <a:xfrm>
              <a:off x="4520565" y="3835400"/>
              <a:ext cx="0" cy="902335"/>
            </a:xfrm>
            <a:prstGeom prst="line">
              <a:avLst/>
            </a:prstGeom>
            <a:ln w="25400">
              <a:solidFill>
                <a:srgbClr val="FF0000"/>
              </a:solidFill>
            </a:ln>
          </p:spPr>
          <p:style>
            <a:lnRef idx="2">
              <a:schemeClr val="accent1"/>
            </a:lnRef>
            <a:fillRef idx="0">
              <a:schemeClr val="accent1"/>
            </a:fillRef>
            <a:effectRef idx="1">
              <a:schemeClr val="accent1"/>
            </a:effectRef>
            <a:fontRef idx="minor">
              <a:schemeClr val="tx1"/>
            </a:fontRef>
          </p:style>
        </p:cxnSp>
        <p:cxnSp>
          <p:nvCxnSpPr>
            <p:cNvPr id="36" name="Straight Connector 35">
              <a:extLst>
                <a:ext uri="{FF2B5EF4-FFF2-40B4-BE49-F238E27FC236}">
                  <a16:creationId xmlns:a16="http://schemas.microsoft.com/office/drawing/2014/main" id="{47A995E4-513D-CE56-9DAD-93618B9509CA}"/>
                </a:ext>
              </a:extLst>
            </p:cNvPr>
            <p:cNvCxnSpPr>
              <a:cxnSpLocks/>
            </p:cNvCxnSpPr>
            <p:nvPr/>
          </p:nvCxnSpPr>
          <p:spPr>
            <a:xfrm>
              <a:off x="4238625" y="4003040"/>
              <a:ext cx="0" cy="727075"/>
            </a:xfrm>
            <a:prstGeom prst="line">
              <a:avLst/>
            </a:prstGeom>
            <a:ln w="25400">
              <a:solidFill>
                <a:srgbClr val="FF0000"/>
              </a:solidFill>
            </a:ln>
          </p:spPr>
          <p:style>
            <a:lnRef idx="2">
              <a:schemeClr val="accent1"/>
            </a:lnRef>
            <a:fillRef idx="0">
              <a:schemeClr val="accent1"/>
            </a:fillRef>
            <a:effectRef idx="1">
              <a:schemeClr val="accent1"/>
            </a:effectRef>
            <a:fontRef idx="minor">
              <a:schemeClr val="tx1"/>
            </a:fontRef>
          </p:style>
        </p:cxnSp>
        <p:cxnSp>
          <p:nvCxnSpPr>
            <p:cNvPr id="39" name="Straight Connector 38">
              <a:extLst>
                <a:ext uri="{FF2B5EF4-FFF2-40B4-BE49-F238E27FC236}">
                  <a16:creationId xmlns:a16="http://schemas.microsoft.com/office/drawing/2014/main" id="{DF2BF30F-20E3-734A-10BB-00A33AC44529}"/>
                </a:ext>
              </a:extLst>
            </p:cNvPr>
            <p:cNvCxnSpPr>
              <a:cxnSpLocks/>
            </p:cNvCxnSpPr>
            <p:nvPr/>
          </p:nvCxnSpPr>
          <p:spPr>
            <a:xfrm>
              <a:off x="4404010" y="3719195"/>
              <a:ext cx="121095" cy="127635"/>
            </a:xfrm>
            <a:prstGeom prst="line">
              <a:avLst/>
            </a:prstGeom>
            <a:ln w="25400">
              <a:solidFill>
                <a:srgbClr val="FF0000"/>
              </a:solidFill>
            </a:ln>
          </p:spPr>
          <p:style>
            <a:lnRef idx="2">
              <a:schemeClr val="accent1"/>
            </a:lnRef>
            <a:fillRef idx="0">
              <a:schemeClr val="accent1"/>
            </a:fillRef>
            <a:effectRef idx="1">
              <a:schemeClr val="accent1"/>
            </a:effectRef>
            <a:fontRef idx="minor">
              <a:schemeClr val="tx1"/>
            </a:fontRef>
          </p:style>
        </p:cxnSp>
        <p:cxnSp>
          <p:nvCxnSpPr>
            <p:cNvPr id="41" name="Straight Connector 40">
              <a:extLst>
                <a:ext uri="{FF2B5EF4-FFF2-40B4-BE49-F238E27FC236}">
                  <a16:creationId xmlns:a16="http://schemas.microsoft.com/office/drawing/2014/main" id="{392F21AC-3FD3-3A8B-78E2-5824B01A7770}"/>
                </a:ext>
              </a:extLst>
            </p:cNvPr>
            <p:cNvCxnSpPr>
              <a:cxnSpLocks/>
            </p:cNvCxnSpPr>
            <p:nvPr/>
          </p:nvCxnSpPr>
          <p:spPr>
            <a:xfrm flipH="1">
              <a:off x="4120483" y="3725545"/>
              <a:ext cx="299402" cy="5080"/>
            </a:xfrm>
            <a:prstGeom prst="line">
              <a:avLst/>
            </a:prstGeom>
            <a:ln w="25400">
              <a:solidFill>
                <a:srgbClr val="FF0000"/>
              </a:solidFill>
            </a:ln>
          </p:spPr>
          <p:style>
            <a:lnRef idx="2">
              <a:schemeClr val="accent1"/>
            </a:lnRef>
            <a:fillRef idx="0">
              <a:schemeClr val="accent1"/>
            </a:fillRef>
            <a:effectRef idx="1">
              <a:schemeClr val="accent1"/>
            </a:effectRef>
            <a:fontRef idx="minor">
              <a:schemeClr val="tx1"/>
            </a:fontRef>
          </p:style>
        </p:cxnSp>
        <p:cxnSp>
          <p:nvCxnSpPr>
            <p:cNvPr id="43" name="Straight Connector 42">
              <a:extLst>
                <a:ext uri="{FF2B5EF4-FFF2-40B4-BE49-F238E27FC236}">
                  <a16:creationId xmlns:a16="http://schemas.microsoft.com/office/drawing/2014/main" id="{E321D8C7-7E5E-D2F5-5D7A-B6FB5E71D9A7}"/>
                </a:ext>
              </a:extLst>
            </p:cNvPr>
            <p:cNvCxnSpPr>
              <a:cxnSpLocks/>
            </p:cNvCxnSpPr>
            <p:nvPr/>
          </p:nvCxnSpPr>
          <p:spPr>
            <a:xfrm>
              <a:off x="4122611" y="3889375"/>
              <a:ext cx="121095" cy="127635"/>
            </a:xfrm>
            <a:prstGeom prst="line">
              <a:avLst/>
            </a:prstGeom>
            <a:ln w="25400">
              <a:solidFill>
                <a:srgbClr val="FF0000"/>
              </a:solidFill>
            </a:ln>
          </p:spPr>
          <p:style>
            <a:lnRef idx="2">
              <a:schemeClr val="accent1"/>
            </a:lnRef>
            <a:fillRef idx="0">
              <a:schemeClr val="accent1"/>
            </a:fillRef>
            <a:effectRef idx="1">
              <a:schemeClr val="accent1"/>
            </a:effectRef>
            <a:fontRef idx="minor">
              <a:schemeClr val="tx1"/>
            </a:fontRef>
          </p:style>
        </p:cxnSp>
        <p:cxnSp>
          <p:nvCxnSpPr>
            <p:cNvPr id="44" name="Straight Connector 43">
              <a:extLst>
                <a:ext uri="{FF2B5EF4-FFF2-40B4-BE49-F238E27FC236}">
                  <a16:creationId xmlns:a16="http://schemas.microsoft.com/office/drawing/2014/main" id="{2F9BC864-0101-5CDC-13EC-69C81D96D82E}"/>
                </a:ext>
              </a:extLst>
            </p:cNvPr>
            <p:cNvCxnSpPr>
              <a:cxnSpLocks/>
            </p:cNvCxnSpPr>
            <p:nvPr/>
          </p:nvCxnSpPr>
          <p:spPr>
            <a:xfrm flipH="1">
              <a:off x="3997960" y="3896995"/>
              <a:ext cx="135051" cy="0"/>
            </a:xfrm>
            <a:prstGeom prst="line">
              <a:avLst/>
            </a:prstGeom>
            <a:ln w="25400">
              <a:solidFill>
                <a:srgbClr val="FF0000"/>
              </a:solidFill>
            </a:ln>
          </p:spPr>
          <p:style>
            <a:lnRef idx="2">
              <a:schemeClr val="accent1"/>
            </a:lnRef>
            <a:fillRef idx="0">
              <a:schemeClr val="accent1"/>
            </a:fillRef>
            <a:effectRef idx="1">
              <a:schemeClr val="accent1"/>
            </a:effectRef>
            <a:fontRef idx="minor">
              <a:schemeClr val="tx1"/>
            </a:fontRef>
          </p:style>
        </p:cxnSp>
        <p:cxnSp>
          <p:nvCxnSpPr>
            <p:cNvPr id="47" name="Straight Connector 46">
              <a:extLst>
                <a:ext uri="{FF2B5EF4-FFF2-40B4-BE49-F238E27FC236}">
                  <a16:creationId xmlns:a16="http://schemas.microsoft.com/office/drawing/2014/main" id="{5674C71A-45D3-96CB-0125-F8A902EB27D4}"/>
                </a:ext>
              </a:extLst>
            </p:cNvPr>
            <p:cNvCxnSpPr>
              <a:cxnSpLocks/>
            </p:cNvCxnSpPr>
            <p:nvPr/>
          </p:nvCxnSpPr>
          <p:spPr>
            <a:xfrm flipH="1" flipV="1">
              <a:off x="3707846" y="3696335"/>
              <a:ext cx="303086" cy="205740"/>
            </a:xfrm>
            <a:prstGeom prst="line">
              <a:avLst/>
            </a:prstGeom>
            <a:ln w="25400">
              <a:solidFill>
                <a:srgbClr val="FF0000"/>
              </a:solidFill>
            </a:ln>
          </p:spPr>
          <p:style>
            <a:lnRef idx="2">
              <a:schemeClr val="accent1"/>
            </a:lnRef>
            <a:fillRef idx="0">
              <a:schemeClr val="accent1"/>
            </a:fillRef>
            <a:effectRef idx="1">
              <a:schemeClr val="accent1"/>
            </a:effectRef>
            <a:fontRef idx="minor">
              <a:schemeClr val="tx1"/>
            </a:fontRef>
          </p:style>
        </p:cxnSp>
        <p:cxnSp>
          <p:nvCxnSpPr>
            <p:cNvPr id="49" name="Straight Connector 48">
              <a:extLst>
                <a:ext uri="{FF2B5EF4-FFF2-40B4-BE49-F238E27FC236}">
                  <a16:creationId xmlns:a16="http://schemas.microsoft.com/office/drawing/2014/main" id="{AD2EFF61-594C-0267-85D2-2F08522F2C73}"/>
                </a:ext>
              </a:extLst>
            </p:cNvPr>
            <p:cNvCxnSpPr>
              <a:cxnSpLocks/>
            </p:cNvCxnSpPr>
            <p:nvPr/>
          </p:nvCxnSpPr>
          <p:spPr>
            <a:xfrm flipH="1" flipV="1">
              <a:off x="3961210" y="3611880"/>
              <a:ext cx="174341" cy="121920"/>
            </a:xfrm>
            <a:prstGeom prst="line">
              <a:avLst/>
            </a:prstGeom>
            <a:ln w="25400">
              <a:solidFill>
                <a:srgbClr val="FF0000"/>
              </a:solidFill>
            </a:ln>
          </p:spPr>
          <p:style>
            <a:lnRef idx="2">
              <a:schemeClr val="accent1"/>
            </a:lnRef>
            <a:fillRef idx="0">
              <a:schemeClr val="accent1"/>
            </a:fillRef>
            <a:effectRef idx="1">
              <a:schemeClr val="accent1"/>
            </a:effectRef>
            <a:fontRef idx="minor">
              <a:schemeClr val="tx1"/>
            </a:fontRef>
          </p:style>
        </p:cxnSp>
        <p:cxnSp>
          <p:nvCxnSpPr>
            <p:cNvPr id="52" name="Straight Connector 51">
              <a:extLst>
                <a:ext uri="{FF2B5EF4-FFF2-40B4-BE49-F238E27FC236}">
                  <a16:creationId xmlns:a16="http://schemas.microsoft.com/office/drawing/2014/main" id="{4791AEDB-BA09-65A4-C128-30AF8FA0A05C}"/>
                </a:ext>
              </a:extLst>
            </p:cNvPr>
            <p:cNvCxnSpPr>
              <a:cxnSpLocks/>
            </p:cNvCxnSpPr>
            <p:nvPr/>
          </p:nvCxnSpPr>
          <p:spPr>
            <a:xfrm>
              <a:off x="3709751" y="3255962"/>
              <a:ext cx="3175" cy="447993"/>
            </a:xfrm>
            <a:prstGeom prst="line">
              <a:avLst/>
            </a:prstGeom>
            <a:ln w="25400">
              <a:solidFill>
                <a:srgbClr val="FF0000"/>
              </a:solidFill>
            </a:ln>
          </p:spPr>
          <p:style>
            <a:lnRef idx="2">
              <a:schemeClr val="accent1"/>
            </a:lnRef>
            <a:fillRef idx="0">
              <a:schemeClr val="accent1"/>
            </a:fillRef>
            <a:effectRef idx="1">
              <a:schemeClr val="accent1"/>
            </a:effectRef>
            <a:fontRef idx="minor">
              <a:schemeClr val="tx1"/>
            </a:fontRef>
          </p:style>
        </p:cxnSp>
        <p:cxnSp>
          <p:nvCxnSpPr>
            <p:cNvPr id="54" name="Straight Connector 53">
              <a:extLst>
                <a:ext uri="{FF2B5EF4-FFF2-40B4-BE49-F238E27FC236}">
                  <a16:creationId xmlns:a16="http://schemas.microsoft.com/office/drawing/2014/main" id="{4FFA7DE2-0E7D-A4ED-6378-673E0F0AF18B}"/>
                </a:ext>
              </a:extLst>
            </p:cNvPr>
            <p:cNvCxnSpPr>
              <a:cxnSpLocks/>
            </p:cNvCxnSpPr>
            <p:nvPr/>
          </p:nvCxnSpPr>
          <p:spPr>
            <a:xfrm>
              <a:off x="3960893" y="3244532"/>
              <a:ext cx="10342" cy="382588"/>
            </a:xfrm>
            <a:prstGeom prst="line">
              <a:avLst/>
            </a:prstGeom>
            <a:ln w="25400">
              <a:solidFill>
                <a:srgbClr val="FF0000"/>
              </a:solidFill>
            </a:ln>
          </p:spPr>
          <p:style>
            <a:lnRef idx="2">
              <a:schemeClr val="accent1"/>
            </a:lnRef>
            <a:fillRef idx="0">
              <a:schemeClr val="accent1"/>
            </a:fillRef>
            <a:effectRef idx="1">
              <a:schemeClr val="accent1"/>
            </a:effectRef>
            <a:fontRef idx="minor">
              <a:schemeClr val="tx1"/>
            </a:fontRef>
          </p:style>
        </p:cxnSp>
        <p:cxnSp>
          <p:nvCxnSpPr>
            <p:cNvPr id="69" name="Straight Connector 68">
              <a:extLst>
                <a:ext uri="{FF2B5EF4-FFF2-40B4-BE49-F238E27FC236}">
                  <a16:creationId xmlns:a16="http://schemas.microsoft.com/office/drawing/2014/main" id="{435C3970-2D30-657C-5313-6EA76E933D4C}"/>
                </a:ext>
              </a:extLst>
            </p:cNvPr>
            <p:cNvCxnSpPr>
              <a:cxnSpLocks/>
            </p:cNvCxnSpPr>
            <p:nvPr/>
          </p:nvCxnSpPr>
          <p:spPr>
            <a:xfrm flipH="1">
              <a:off x="7770495" y="3549015"/>
              <a:ext cx="70159" cy="51435"/>
            </a:xfrm>
            <a:prstGeom prst="line">
              <a:avLst/>
            </a:prstGeom>
            <a:ln w="25400">
              <a:solidFill>
                <a:srgbClr val="FF0000"/>
              </a:solidFill>
            </a:ln>
          </p:spPr>
          <p:style>
            <a:lnRef idx="2">
              <a:schemeClr val="accent1"/>
            </a:lnRef>
            <a:fillRef idx="0">
              <a:schemeClr val="accent1"/>
            </a:fillRef>
            <a:effectRef idx="1">
              <a:schemeClr val="accent1"/>
            </a:effectRef>
            <a:fontRef idx="minor">
              <a:schemeClr val="tx1"/>
            </a:fontRef>
          </p:style>
        </p:cxnSp>
        <p:cxnSp>
          <p:nvCxnSpPr>
            <p:cNvPr id="70" name="Straight Connector 69">
              <a:extLst>
                <a:ext uri="{FF2B5EF4-FFF2-40B4-BE49-F238E27FC236}">
                  <a16:creationId xmlns:a16="http://schemas.microsoft.com/office/drawing/2014/main" id="{56BE1E2C-1172-6171-5A53-89DCA086F14F}"/>
                </a:ext>
              </a:extLst>
            </p:cNvPr>
            <p:cNvCxnSpPr>
              <a:cxnSpLocks/>
            </p:cNvCxnSpPr>
            <p:nvPr/>
          </p:nvCxnSpPr>
          <p:spPr>
            <a:xfrm>
              <a:off x="7778977" y="3589020"/>
              <a:ext cx="0" cy="1082040"/>
            </a:xfrm>
            <a:prstGeom prst="line">
              <a:avLst/>
            </a:prstGeom>
            <a:ln w="25400">
              <a:solidFill>
                <a:srgbClr val="FF0000"/>
              </a:solidFill>
            </a:ln>
          </p:spPr>
          <p:style>
            <a:lnRef idx="2">
              <a:schemeClr val="accent1"/>
            </a:lnRef>
            <a:fillRef idx="0">
              <a:schemeClr val="accent1"/>
            </a:fillRef>
            <a:effectRef idx="1">
              <a:schemeClr val="accent1"/>
            </a:effectRef>
            <a:fontRef idx="minor">
              <a:schemeClr val="tx1"/>
            </a:fontRef>
          </p:style>
        </p:cxnSp>
        <p:cxnSp>
          <p:nvCxnSpPr>
            <p:cNvPr id="71" name="Straight Connector 70">
              <a:extLst>
                <a:ext uri="{FF2B5EF4-FFF2-40B4-BE49-F238E27FC236}">
                  <a16:creationId xmlns:a16="http://schemas.microsoft.com/office/drawing/2014/main" id="{50C1C2A2-8A8C-2244-7ACF-69E25E11CC20}"/>
                </a:ext>
              </a:extLst>
            </p:cNvPr>
            <p:cNvCxnSpPr>
              <a:cxnSpLocks/>
            </p:cNvCxnSpPr>
            <p:nvPr/>
          </p:nvCxnSpPr>
          <p:spPr>
            <a:xfrm>
              <a:off x="7522437" y="3776345"/>
              <a:ext cx="0" cy="902335"/>
            </a:xfrm>
            <a:prstGeom prst="line">
              <a:avLst/>
            </a:prstGeom>
            <a:ln w="25400">
              <a:solidFill>
                <a:srgbClr val="FF0000"/>
              </a:solidFill>
            </a:ln>
          </p:spPr>
          <p:style>
            <a:lnRef idx="2">
              <a:schemeClr val="accent1"/>
            </a:lnRef>
            <a:fillRef idx="0">
              <a:schemeClr val="accent1"/>
            </a:fillRef>
            <a:effectRef idx="1">
              <a:schemeClr val="accent1"/>
            </a:effectRef>
            <a:fontRef idx="minor">
              <a:schemeClr val="tx1"/>
            </a:fontRef>
          </p:style>
        </p:cxnSp>
        <p:cxnSp>
          <p:nvCxnSpPr>
            <p:cNvPr id="72" name="Straight Connector 71">
              <a:extLst>
                <a:ext uri="{FF2B5EF4-FFF2-40B4-BE49-F238E27FC236}">
                  <a16:creationId xmlns:a16="http://schemas.microsoft.com/office/drawing/2014/main" id="{341D3BC5-4A00-42E1-522F-4B661BF7E1E4}"/>
                </a:ext>
              </a:extLst>
            </p:cNvPr>
            <p:cNvCxnSpPr>
              <a:cxnSpLocks/>
            </p:cNvCxnSpPr>
            <p:nvPr/>
          </p:nvCxnSpPr>
          <p:spPr>
            <a:xfrm>
              <a:off x="7240497" y="3943985"/>
              <a:ext cx="0" cy="727075"/>
            </a:xfrm>
            <a:prstGeom prst="line">
              <a:avLst/>
            </a:prstGeom>
            <a:ln w="25400">
              <a:solidFill>
                <a:srgbClr val="FF0000"/>
              </a:solidFill>
            </a:ln>
          </p:spPr>
          <p:style>
            <a:lnRef idx="2">
              <a:schemeClr val="accent1"/>
            </a:lnRef>
            <a:fillRef idx="0">
              <a:schemeClr val="accent1"/>
            </a:fillRef>
            <a:effectRef idx="1">
              <a:schemeClr val="accent1"/>
            </a:effectRef>
            <a:fontRef idx="minor">
              <a:schemeClr val="tx1"/>
            </a:fontRef>
          </p:style>
        </p:cxnSp>
        <p:cxnSp>
          <p:nvCxnSpPr>
            <p:cNvPr id="73" name="Straight Connector 72">
              <a:extLst>
                <a:ext uri="{FF2B5EF4-FFF2-40B4-BE49-F238E27FC236}">
                  <a16:creationId xmlns:a16="http://schemas.microsoft.com/office/drawing/2014/main" id="{692BB0B6-8FBE-E0D4-4513-7B455E88F12C}"/>
                </a:ext>
              </a:extLst>
            </p:cNvPr>
            <p:cNvCxnSpPr>
              <a:cxnSpLocks/>
            </p:cNvCxnSpPr>
            <p:nvPr/>
          </p:nvCxnSpPr>
          <p:spPr>
            <a:xfrm>
              <a:off x="7405882" y="3660140"/>
              <a:ext cx="121095" cy="127635"/>
            </a:xfrm>
            <a:prstGeom prst="line">
              <a:avLst/>
            </a:prstGeom>
            <a:ln w="25400">
              <a:solidFill>
                <a:srgbClr val="FF0000"/>
              </a:solidFill>
            </a:ln>
          </p:spPr>
          <p:style>
            <a:lnRef idx="2">
              <a:schemeClr val="accent1"/>
            </a:lnRef>
            <a:fillRef idx="0">
              <a:schemeClr val="accent1"/>
            </a:fillRef>
            <a:effectRef idx="1">
              <a:schemeClr val="accent1"/>
            </a:effectRef>
            <a:fontRef idx="minor">
              <a:schemeClr val="tx1"/>
            </a:fontRef>
          </p:style>
        </p:cxnSp>
        <p:cxnSp>
          <p:nvCxnSpPr>
            <p:cNvPr id="74" name="Straight Connector 73">
              <a:extLst>
                <a:ext uri="{FF2B5EF4-FFF2-40B4-BE49-F238E27FC236}">
                  <a16:creationId xmlns:a16="http://schemas.microsoft.com/office/drawing/2014/main" id="{02DB6A6F-7E5C-0F8E-BCB7-F4A8FAE21053}"/>
                </a:ext>
              </a:extLst>
            </p:cNvPr>
            <p:cNvCxnSpPr>
              <a:cxnSpLocks/>
            </p:cNvCxnSpPr>
            <p:nvPr/>
          </p:nvCxnSpPr>
          <p:spPr>
            <a:xfrm flipH="1">
              <a:off x="7122355" y="3666490"/>
              <a:ext cx="299402" cy="5080"/>
            </a:xfrm>
            <a:prstGeom prst="line">
              <a:avLst/>
            </a:prstGeom>
            <a:ln w="25400">
              <a:solidFill>
                <a:srgbClr val="FF0000"/>
              </a:solidFill>
            </a:ln>
          </p:spPr>
          <p:style>
            <a:lnRef idx="2">
              <a:schemeClr val="accent1"/>
            </a:lnRef>
            <a:fillRef idx="0">
              <a:schemeClr val="accent1"/>
            </a:fillRef>
            <a:effectRef idx="1">
              <a:schemeClr val="accent1"/>
            </a:effectRef>
            <a:fontRef idx="minor">
              <a:schemeClr val="tx1"/>
            </a:fontRef>
          </p:style>
        </p:cxnSp>
        <p:cxnSp>
          <p:nvCxnSpPr>
            <p:cNvPr id="75" name="Straight Connector 74">
              <a:extLst>
                <a:ext uri="{FF2B5EF4-FFF2-40B4-BE49-F238E27FC236}">
                  <a16:creationId xmlns:a16="http://schemas.microsoft.com/office/drawing/2014/main" id="{2C2E200F-EA92-B4ED-3E93-89047CB9831F}"/>
                </a:ext>
              </a:extLst>
            </p:cNvPr>
            <p:cNvCxnSpPr>
              <a:cxnSpLocks/>
            </p:cNvCxnSpPr>
            <p:nvPr/>
          </p:nvCxnSpPr>
          <p:spPr>
            <a:xfrm>
              <a:off x="7124483" y="3830320"/>
              <a:ext cx="121095" cy="127635"/>
            </a:xfrm>
            <a:prstGeom prst="line">
              <a:avLst/>
            </a:prstGeom>
            <a:ln w="25400">
              <a:solidFill>
                <a:srgbClr val="FF0000"/>
              </a:solidFill>
            </a:ln>
          </p:spPr>
          <p:style>
            <a:lnRef idx="2">
              <a:schemeClr val="accent1"/>
            </a:lnRef>
            <a:fillRef idx="0">
              <a:schemeClr val="accent1"/>
            </a:fillRef>
            <a:effectRef idx="1">
              <a:schemeClr val="accent1"/>
            </a:effectRef>
            <a:fontRef idx="minor">
              <a:schemeClr val="tx1"/>
            </a:fontRef>
          </p:style>
        </p:cxnSp>
        <p:cxnSp>
          <p:nvCxnSpPr>
            <p:cNvPr id="76" name="Straight Connector 75">
              <a:extLst>
                <a:ext uri="{FF2B5EF4-FFF2-40B4-BE49-F238E27FC236}">
                  <a16:creationId xmlns:a16="http://schemas.microsoft.com/office/drawing/2014/main" id="{8758A20D-909A-DBBA-9268-312BAC196CC1}"/>
                </a:ext>
              </a:extLst>
            </p:cNvPr>
            <p:cNvCxnSpPr>
              <a:cxnSpLocks/>
            </p:cNvCxnSpPr>
            <p:nvPr/>
          </p:nvCxnSpPr>
          <p:spPr>
            <a:xfrm flipH="1">
              <a:off x="6999832" y="3837940"/>
              <a:ext cx="135051" cy="0"/>
            </a:xfrm>
            <a:prstGeom prst="line">
              <a:avLst/>
            </a:prstGeom>
            <a:ln w="25400">
              <a:solidFill>
                <a:srgbClr val="FF0000"/>
              </a:solidFill>
            </a:ln>
          </p:spPr>
          <p:style>
            <a:lnRef idx="2">
              <a:schemeClr val="accent1"/>
            </a:lnRef>
            <a:fillRef idx="0">
              <a:schemeClr val="accent1"/>
            </a:fillRef>
            <a:effectRef idx="1">
              <a:schemeClr val="accent1"/>
            </a:effectRef>
            <a:fontRef idx="minor">
              <a:schemeClr val="tx1"/>
            </a:fontRef>
          </p:style>
        </p:cxnSp>
        <p:cxnSp>
          <p:nvCxnSpPr>
            <p:cNvPr id="77" name="Straight Connector 76">
              <a:extLst>
                <a:ext uri="{FF2B5EF4-FFF2-40B4-BE49-F238E27FC236}">
                  <a16:creationId xmlns:a16="http://schemas.microsoft.com/office/drawing/2014/main" id="{7691FDC0-20CA-FDD1-4432-1A474B0AD007}"/>
                </a:ext>
              </a:extLst>
            </p:cNvPr>
            <p:cNvCxnSpPr>
              <a:cxnSpLocks/>
            </p:cNvCxnSpPr>
            <p:nvPr/>
          </p:nvCxnSpPr>
          <p:spPr>
            <a:xfrm flipH="1" flipV="1">
              <a:off x="6709718" y="3637280"/>
              <a:ext cx="303086" cy="205740"/>
            </a:xfrm>
            <a:prstGeom prst="line">
              <a:avLst/>
            </a:prstGeom>
            <a:ln w="25400">
              <a:solidFill>
                <a:srgbClr val="FF0000"/>
              </a:solidFill>
            </a:ln>
          </p:spPr>
          <p:style>
            <a:lnRef idx="2">
              <a:schemeClr val="accent1"/>
            </a:lnRef>
            <a:fillRef idx="0">
              <a:schemeClr val="accent1"/>
            </a:fillRef>
            <a:effectRef idx="1">
              <a:schemeClr val="accent1"/>
            </a:effectRef>
            <a:fontRef idx="minor">
              <a:schemeClr val="tx1"/>
            </a:fontRef>
          </p:style>
        </p:cxnSp>
        <p:cxnSp>
          <p:nvCxnSpPr>
            <p:cNvPr id="78" name="Straight Connector 77">
              <a:extLst>
                <a:ext uri="{FF2B5EF4-FFF2-40B4-BE49-F238E27FC236}">
                  <a16:creationId xmlns:a16="http://schemas.microsoft.com/office/drawing/2014/main" id="{BDE27D1B-80B5-FB72-E0FC-BCC384D4DE26}"/>
                </a:ext>
              </a:extLst>
            </p:cNvPr>
            <p:cNvCxnSpPr>
              <a:cxnSpLocks/>
            </p:cNvCxnSpPr>
            <p:nvPr/>
          </p:nvCxnSpPr>
          <p:spPr>
            <a:xfrm flipH="1" flipV="1">
              <a:off x="6963082" y="3552825"/>
              <a:ext cx="174341" cy="121920"/>
            </a:xfrm>
            <a:prstGeom prst="line">
              <a:avLst/>
            </a:prstGeom>
            <a:ln w="25400">
              <a:solidFill>
                <a:srgbClr val="FF0000"/>
              </a:solidFill>
            </a:ln>
          </p:spPr>
          <p:style>
            <a:lnRef idx="2">
              <a:schemeClr val="accent1"/>
            </a:lnRef>
            <a:fillRef idx="0">
              <a:schemeClr val="accent1"/>
            </a:fillRef>
            <a:effectRef idx="1">
              <a:schemeClr val="accent1"/>
            </a:effectRef>
            <a:fontRef idx="minor">
              <a:schemeClr val="tx1"/>
            </a:fontRef>
          </p:style>
        </p:cxnSp>
        <p:cxnSp>
          <p:nvCxnSpPr>
            <p:cNvPr id="79" name="Straight Connector 78">
              <a:extLst>
                <a:ext uri="{FF2B5EF4-FFF2-40B4-BE49-F238E27FC236}">
                  <a16:creationId xmlns:a16="http://schemas.microsoft.com/office/drawing/2014/main" id="{B2EC2FF9-A40B-CAF8-017F-A496CC7B842E}"/>
                </a:ext>
              </a:extLst>
            </p:cNvPr>
            <p:cNvCxnSpPr>
              <a:cxnSpLocks/>
            </p:cNvCxnSpPr>
            <p:nvPr/>
          </p:nvCxnSpPr>
          <p:spPr>
            <a:xfrm>
              <a:off x="6711623" y="3196907"/>
              <a:ext cx="3175" cy="447993"/>
            </a:xfrm>
            <a:prstGeom prst="line">
              <a:avLst/>
            </a:prstGeom>
            <a:ln w="25400">
              <a:solidFill>
                <a:srgbClr val="FF0000"/>
              </a:solidFill>
            </a:ln>
          </p:spPr>
          <p:style>
            <a:lnRef idx="2">
              <a:schemeClr val="accent1"/>
            </a:lnRef>
            <a:fillRef idx="0">
              <a:schemeClr val="accent1"/>
            </a:fillRef>
            <a:effectRef idx="1">
              <a:schemeClr val="accent1"/>
            </a:effectRef>
            <a:fontRef idx="minor">
              <a:schemeClr val="tx1"/>
            </a:fontRef>
          </p:style>
        </p:cxnSp>
        <p:cxnSp>
          <p:nvCxnSpPr>
            <p:cNvPr id="80" name="Straight Connector 79">
              <a:extLst>
                <a:ext uri="{FF2B5EF4-FFF2-40B4-BE49-F238E27FC236}">
                  <a16:creationId xmlns:a16="http://schemas.microsoft.com/office/drawing/2014/main" id="{E2DF84AC-B864-A859-1152-FF1248E3BC60}"/>
                </a:ext>
              </a:extLst>
            </p:cNvPr>
            <p:cNvCxnSpPr>
              <a:cxnSpLocks/>
            </p:cNvCxnSpPr>
            <p:nvPr/>
          </p:nvCxnSpPr>
          <p:spPr>
            <a:xfrm>
              <a:off x="6962765" y="3185477"/>
              <a:ext cx="10342" cy="382588"/>
            </a:xfrm>
            <a:prstGeom prst="line">
              <a:avLst/>
            </a:prstGeom>
            <a:ln w="25400">
              <a:solidFill>
                <a:srgbClr val="FF0000"/>
              </a:solidFill>
            </a:ln>
          </p:spPr>
          <p:style>
            <a:lnRef idx="2">
              <a:schemeClr val="accent1"/>
            </a:lnRef>
            <a:fillRef idx="0">
              <a:schemeClr val="accent1"/>
            </a:fillRef>
            <a:effectRef idx="1">
              <a:schemeClr val="accent1"/>
            </a:effectRef>
            <a:fontRef idx="minor">
              <a:schemeClr val="tx1"/>
            </a:fontRef>
          </p:style>
        </p:cxnSp>
        <p:cxnSp>
          <p:nvCxnSpPr>
            <p:cNvPr id="83" name="Straight Connector 82">
              <a:extLst>
                <a:ext uri="{FF2B5EF4-FFF2-40B4-BE49-F238E27FC236}">
                  <a16:creationId xmlns:a16="http://schemas.microsoft.com/office/drawing/2014/main" id="{FAA09B70-77D2-F4DA-C8D4-E376EAAF3AE0}"/>
                </a:ext>
              </a:extLst>
            </p:cNvPr>
            <p:cNvCxnSpPr>
              <a:cxnSpLocks/>
            </p:cNvCxnSpPr>
            <p:nvPr/>
          </p:nvCxnSpPr>
          <p:spPr>
            <a:xfrm flipH="1">
              <a:off x="7834939" y="3552825"/>
              <a:ext cx="156536" cy="0"/>
            </a:xfrm>
            <a:prstGeom prst="line">
              <a:avLst/>
            </a:prstGeom>
            <a:ln w="25400">
              <a:solidFill>
                <a:srgbClr val="FF0000"/>
              </a:solidFill>
            </a:ln>
          </p:spPr>
          <p:style>
            <a:lnRef idx="2">
              <a:schemeClr val="accent1"/>
            </a:lnRef>
            <a:fillRef idx="0">
              <a:schemeClr val="accent1"/>
            </a:fillRef>
            <a:effectRef idx="1">
              <a:schemeClr val="accent1"/>
            </a:effectRef>
            <a:fontRef idx="minor">
              <a:schemeClr val="tx1"/>
            </a:fontRef>
          </p:style>
        </p:cxnSp>
        <p:cxnSp>
          <p:nvCxnSpPr>
            <p:cNvPr id="90" name="Straight Connector 89">
              <a:extLst>
                <a:ext uri="{FF2B5EF4-FFF2-40B4-BE49-F238E27FC236}">
                  <a16:creationId xmlns:a16="http://schemas.microsoft.com/office/drawing/2014/main" id="{2ABB0D20-ADE2-4D4E-A8DE-575CFB7A46BA}"/>
                </a:ext>
              </a:extLst>
            </p:cNvPr>
            <p:cNvCxnSpPr>
              <a:cxnSpLocks/>
            </p:cNvCxnSpPr>
            <p:nvPr/>
          </p:nvCxnSpPr>
          <p:spPr>
            <a:xfrm flipH="1">
              <a:off x="7981927" y="3502661"/>
              <a:ext cx="70159" cy="51435"/>
            </a:xfrm>
            <a:prstGeom prst="line">
              <a:avLst/>
            </a:prstGeom>
            <a:ln w="25400">
              <a:solidFill>
                <a:srgbClr val="FF0000"/>
              </a:solidFill>
            </a:ln>
          </p:spPr>
          <p:style>
            <a:lnRef idx="2">
              <a:schemeClr val="accent1"/>
            </a:lnRef>
            <a:fillRef idx="0">
              <a:schemeClr val="accent1"/>
            </a:fillRef>
            <a:effectRef idx="1">
              <a:schemeClr val="accent1"/>
            </a:effectRef>
            <a:fontRef idx="minor">
              <a:schemeClr val="tx1"/>
            </a:fontRef>
          </p:style>
        </p:cxnSp>
        <p:cxnSp>
          <p:nvCxnSpPr>
            <p:cNvPr id="91" name="Straight Connector 90">
              <a:extLst>
                <a:ext uri="{FF2B5EF4-FFF2-40B4-BE49-F238E27FC236}">
                  <a16:creationId xmlns:a16="http://schemas.microsoft.com/office/drawing/2014/main" id="{E10DA4B4-F561-6BC8-8BC1-F0BC4CD3A375}"/>
                </a:ext>
              </a:extLst>
            </p:cNvPr>
            <p:cNvCxnSpPr>
              <a:cxnSpLocks/>
            </p:cNvCxnSpPr>
            <p:nvPr/>
          </p:nvCxnSpPr>
          <p:spPr>
            <a:xfrm>
              <a:off x="8052744" y="3179064"/>
              <a:ext cx="0" cy="333280"/>
            </a:xfrm>
            <a:prstGeom prst="line">
              <a:avLst/>
            </a:prstGeom>
            <a:ln w="25400">
              <a:solidFill>
                <a:srgbClr val="FF0000"/>
              </a:solidFill>
            </a:ln>
          </p:spPr>
          <p:style>
            <a:lnRef idx="2">
              <a:schemeClr val="accent1"/>
            </a:lnRef>
            <a:fillRef idx="0">
              <a:schemeClr val="accent1"/>
            </a:fillRef>
            <a:effectRef idx="1">
              <a:schemeClr val="accent1"/>
            </a:effectRef>
            <a:fontRef idx="minor">
              <a:schemeClr val="tx1"/>
            </a:fontRef>
          </p:style>
        </p:cxnSp>
      </p:grpSp>
    </p:spTree>
    <p:extLst>
      <p:ext uri="{BB962C8B-B14F-4D97-AF65-F5344CB8AC3E}">
        <p14:creationId xmlns:p14="http://schemas.microsoft.com/office/powerpoint/2010/main" val="403140501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F1BA34-954B-6867-45E6-433F4D739B5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FB7A400-4BA9-39D2-5A7F-983B74AEE696}"/>
              </a:ext>
            </a:extLst>
          </p:cNvPr>
          <p:cNvSpPr>
            <a:spLocks noGrp="1"/>
          </p:cNvSpPr>
          <p:nvPr>
            <p:ph type="title"/>
          </p:nvPr>
        </p:nvSpPr>
        <p:spPr>
          <a:xfrm>
            <a:off x="0" y="0"/>
            <a:ext cx="12192000" cy="1150374"/>
          </a:xfrm>
        </p:spPr>
        <p:txBody>
          <a:bodyPr>
            <a:normAutofit/>
          </a:bodyPr>
          <a:lstStyle/>
          <a:p>
            <a:r>
              <a:rPr lang="zh-TW" altLang="en-US"/>
              <a:t>基礎佈線：避免在不同圖層之間形成迴路</a:t>
            </a:r>
            <a:endParaRPr lang="en-US"/>
          </a:p>
        </p:txBody>
      </p:sp>
      <p:sp>
        <p:nvSpPr>
          <p:cNvPr id="6" name="Rectangle 5">
            <a:extLst>
              <a:ext uri="{FF2B5EF4-FFF2-40B4-BE49-F238E27FC236}">
                <a16:creationId xmlns:a16="http://schemas.microsoft.com/office/drawing/2014/main" id="{D4BA652F-A909-2633-00A2-38A8900D9A1C}"/>
              </a:ext>
            </a:extLst>
          </p:cNvPr>
          <p:cNvSpPr/>
          <p:nvPr/>
        </p:nvSpPr>
        <p:spPr>
          <a:xfrm>
            <a:off x="481781" y="6363274"/>
            <a:ext cx="1505646" cy="494726"/>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34" name="Group 33">
            <a:extLst>
              <a:ext uri="{FF2B5EF4-FFF2-40B4-BE49-F238E27FC236}">
                <a16:creationId xmlns:a16="http://schemas.microsoft.com/office/drawing/2014/main" id="{DB5C94AC-904B-CD0B-1A2F-1178BD739F82}"/>
              </a:ext>
            </a:extLst>
          </p:cNvPr>
          <p:cNvGrpSpPr/>
          <p:nvPr/>
        </p:nvGrpSpPr>
        <p:grpSpPr>
          <a:xfrm>
            <a:off x="1818640" y="2829006"/>
            <a:ext cx="8030696" cy="3534268"/>
            <a:chOff x="1936627" y="2201616"/>
            <a:chExt cx="8030696" cy="3534268"/>
          </a:xfrm>
        </p:grpSpPr>
        <p:pic>
          <p:nvPicPr>
            <p:cNvPr id="4" name="Picture 3">
              <a:extLst>
                <a:ext uri="{FF2B5EF4-FFF2-40B4-BE49-F238E27FC236}">
                  <a16:creationId xmlns:a16="http://schemas.microsoft.com/office/drawing/2014/main" id="{41B59782-033F-8FD0-886F-FE5AB5D3D798}"/>
                </a:ext>
              </a:extLst>
            </p:cNvPr>
            <p:cNvPicPr>
              <a:picLocks noChangeAspect="1"/>
            </p:cNvPicPr>
            <p:nvPr/>
          </p:nvPicPr>
          <p:blipFill>
            <a:blip r:embed="rId3"/>
            <a:stretch>
              <a:fillRect/>
            </a:stretch>
          </p:blipFill>
          <p:spPr>
            <a:xfrm>
              <a:off x="1936627" y="2201616"/>
              <a:ext cx="8030696" cy="3534268"/>
            </a:xfrm>
            <a:prstGeom prst="rect">
              <a:avLst/>
            </a:prstGeom>
          </p:spPr>
        </p:pic>
        <p:cxnSp>
          <p:nvCxnSpPr>
            <p:cNvPr id="14" name="Straight Connector 13">
              <a:extLst>
                <a:ext uri="{FF2B5EF4-FFF2-40B4-BE49-F238E27FC236}">
                  <a16:creationId xmlns:a16="http://schemas.microsoft.com/office/drawing/2014/main" id="{F58A14C3-82EC-66EE-3F36-B2EEDA801D32}"/>
                </a:ext>
              </a:extLst>
            </p:cNvPr>
            <p:cNvCxnSpPr/>
            <p:nvPr/>
          </p:nvCxnSpPr>
          <p:spPr>
            <a:xfrm>
              <a:off x="3515360" y="2377440"/>
              <a:ext cx="1371600" cy="0"/>
            </a:xfrm>
            <a:prstGeom prst="line">
              <a:avLst/>
            </a:prstGeom>
            <a:ln w="57150"/>
          </p:spPr>
          <p:style>
            <a:lnRef idx="2">
              <a:schemeClr val="accent1"/>
            </a:lnRef>
            <a:fillRef idx="0">
              <a:schemeClr val="accent1"/>
            </a:fillRef>
            <a:effectRef idx="1">
              <a:schemeClr val="accent1"/>
            </a:effectRef>
            <a:fontRef idx="minor">
              <a:schemeClr val="tx1"/>
            </a:fontRef>
          </p:style>
        </p:cxnSp>
        <p:cxnSp>
          <p:nvCxnSpPr>
            <p:cNvPr id="15" name="Straight Connector 14">
              <a:extLst>
                <a:ext uri="{FF2B5EF4-FFF2-40B4-BE49-F238E27FC236}">
                  <a16:creationId xmlns:a16="http://schemas.microsoft.com/office/drawing/2014/main" id="{613B0E9A-4E96-1052-957C-2D2D1D51C4E1}"/>
                </a:ext>
              </a:extLst>
            </p:cNvPr>
            <p:cNvCxnSpPr>
              <a:cxnSpLocks/>
            </p:cNvCxnSpPr>
            <p:nvPr/>
          </p:nvCxnSpPr>
          <p:spPr>
            <a:xfrm>
              <a:off x="2143760" y="4064000"/>
              <a:ext cx="2743199" cy="0"/>
            </a:xfrm>
            <a:prstGeom prst="line">
              <a:avLst/>
            </a:prstGeom>
            <a:ln w="57150"/>
          </p:spPr>
          <p:style>
            <a:lnRef idx="2">
              <a:schemeClr val="accent1"/>
            </a:lnRef>
            <a:fillRef idx="0">
              <a:schemeClr val="accent1"/>
            </a:fillRef>
            <a:effectRef idx="1">
              <a:schemeClr val="accent1"/>
            </a:effectRef>
            <a:fontRef idx="minor">
              <a:schemeClr val="tx1"/>
            </a:fontRef>
          </p:style>
        </p:cxnSp>
        <p:cxnSp>
          <p:nvCxnSpPr>
            <p:cNvPr id="18" name="Straight Connector 17">
              <a:extLst>
                <a:ext uri="{FF2B5EF4-FFF2-40B4-BE49-F238E27FC236}">
                  <a16:creationId xmlns:a16="http://schemas.microsoft.com/office/drawing/2014/main" id="{229DB78E-C685-D6E5-9715-621C026A69B8}"/>
                </a:ext>
              </a:extLst>
            </p:cNvPr>
            <p:cNvCxnSpPr>
              <a:cxnSpLocks/>
              <a:stCxn id="21" idx="0"/>
            </p:cNvCxnSpPr>
            <p:nvPr/>
          </p:nvCxnSpPr>
          <p:spPr>
            <a:xfrm flipH="1" flipV="1">
              <a:off x="4904994" y="2414524"/>
              <a:ext cx="25653" cy="1628139"/>
            </a:xfrm>
            <a:prstGeom prst="line">
              <a:avLst/>
            </a:prstGeom>
            <a:ln w="57150"/>
          </p:spPr>
          <p:style>
            <a:lnRef idx="2">
              <a:schemeClr val="accent1"/>
            </a:lnRef>
            <a:fillRef idx="0">
              <a:schemeClr val="accent1"/>
            </a:fillRef>
            <a:effectRef idx="1">
              <a:schemeClr val="accent1"/>
            </a:effectRef>
            <a:fontRef idx="minor">
              <a:schemeClr val="tx1"/>
            </a:fontRef>
          </p:style>
        </p:cxnSp>
        <p:sp>
          <p:nvSpPr>
            <p:cNvPr id="20" name="Arc 19">
              <a:extLst>
                <a:ext uri="{FF2B5EF4-FFF2-40B4-BE49-F238E27FC236}">
                  <a16:creationId xmlns:a16="http://schemas.microsoft.com/office/drawing/2014/main" id="{11532D48-0EB5-9EED-401E-48AA44F4F004}"/>
                </a:ext>
              </a:extLst>
            </p:cNvPr>
            <p:cNvSpPr/>
            <p:nvPr/>
          </p:nvSpPr>
          <p:spPr>
            <a:xfrm>
              <a:off x="4864100" y="2377440"/>
              <a:ext cx="45719" cy="87377"/>
            </a:xfrm>
            <a:prstGeom prst="arc">
              <a:avLst/>
            </a:prstGeom>
            <a:ln w="57150"/>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sp>
          <p:nvSpPr>
            <p:cNvPr id="21" name="Arc 20">
              <a:extLst>
                <a:ext uri="{FF2B5EF4-FFF2-40B4-BE49-F238E27FC236}">
                  <a16:creationId xmlns:a16="http://schemas.microsoft.com/office/drawing/2014/main" id="{0E658770-45AB-1ED1-C6F7-DF005A7A68AC}"/>
                </a:ext>
              </a:extLst>
            </p:cNvPr>
            <p:cNvSpPr/>
            <p:nvPr/>
          </p:nvSpPr>
          <p:spPr>
            <a:xfrm rot="5400000">
              <a:off x="4864099" y="3998975"/>
              <a:ext cx="45719" cy="87377"/>
            </a:xfrm>
            <a:prstGeom prst="arc">
              <a:avLst/>
            </a:prstGeom>
            <a:ln w="57150"/>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cxnSp>
          <p:nvCxnSpPr>
            <p:cNvPr id="12" name="Straight Connector 11">
              <a:extLst>
                <a:ext uri="{FF2B5EF4-FFF2-40B4-BE49-F238E27FC236}">
                  <a16:creationId xmlns:a16="http://schemas.microsoft.com/office/drawing/2014/main" id="{3CA9EB63-0E9E-F308-7584-5023D4C17186}"/>
                </a:ext>
              </a:extLst>
            </p:cNvPr>
            <p:cNvCxnSpPr/>
            <p:nvPr/>
          </p:nvCxnSpPr>
          <p:spPr>
            <a:xfrm>
              <a:off x="3505200" y="2397760"/>
              <a:ext cx="0" cy="3027680"/>
            </a:xfrm>
            <a:prstGeom prst="line">
              <a:avLst/>
            </a:prstGeom>
            <a:ln w="50800">
              <a:solidFill>
                <a:srgbClr val="FF0000"/>
              </a:solidFill>
            </a:ln>
          </p:spPr>
          <p:style>
            <a:lnRef idx="2">
              <a:schemeClr val="accent1"/>
            </a:lnRef>
            <a:fillRef idx="0">
              <a:schemeClr val="accent1"/>
            </a:fillRef>
            <a:effectRef idx="1">
              <a:schemeClr val="accent1"/>
            </a:effectRef>
            <a:fontRef idx="minor">
              <a:schemeClr val="tx1"/>
            </a:fontRef>
          </p:style>
        </p:cxnSp>
        <p:cxnSp>
          <p:nvCxnSpPr>
            <p:cNvPr id="24" name="Straight Connector 23">
              <a:extLst>
                <a:ext uri="{FF2B5EF4-FFF2-40B4-BE49-F238E27FC236}">
                  <a16:creationId xmlns:a16="http://schemas.microsoft.com/office/drawing/2014/main" id="{83F83EE3-9499-9DCE-0830-139134865429}"/>
                </a:ext>
              </a:extLst>
            </p:cNvPr>
            <p:cNvCxnSpPr/>
            <p:nvPr/>
          </p:nvCxnSpPr>
          <p:spPr>
            <a:xfrm>
              <a:off x="9153832" y="2377440"/>
              <a:ext cx="0" cy="3027680"/>
            </a:xfrm>
            <a:prstGeom prst="line">
              <a:avLst/>
            </a:prstGeom>
            <a:ln w="50800">
              <a:solidFill>
                <a:srgbClr val="FF0000"/>
              </a:solidFill>
            </a:ln>
          </p:spPr>
          <p:style>
            <a:lnRef idx="2">
              <a:schemeClr val="accent1"/>
            </a:lnRef>
            <a:fillRef idx="0">
              <a:schemeClr val="accent1"/>
            </a:fillRef>
            <a:effectRef idx="1">
              <a:schemeClr val="accent1"/>
            </a:effectRef>
            <a:fontRef idx="minor">
              <a:schemeClr val="tx1"/>
            </a:fontRef>
          </p:style>
        </p:cxnSp>
        <p:cxnSp>
          <p:nvCxnSpPr>
            <p:cNvPr id="25" name="Straight Connector 24">
              <a:extLst>
                <a:ext uri="{FF2B5EF4-FFF2-40B4-BE49-F238E27FC236}">
                  <a16:creationId xmlns:a16="http://schemas.microsoft.com/office/drawing/2014/main" id="{7DACAB72-ABFD-4A28-355D-BE9613F61152}"/>
                </a:ext>
              </a:extLst>
            </p:cNvPr>
            <p:cNvCxnSpPr>
              <a:cxnSpLocks/>
            </p:cNvCxnSpPr>
            <p:nvPr/>
          </p:nvCxnSpPr>
          <p:spPr>
            <a:xfrm>
              <a:off x="7687056" y="2397760"/>
              <a:ext cx="1519865" cy="0"/>
            </a:xfrm>
            <a:prstGeom prst="line">
              <a:avLst/>
            </a:prstGeom>
            <a:ln w="57150"/>
          </p:spPr>
          <p:style>
            <a:lnRef idx="2">
              <a:schemeClr val="accent1"/>
            </a:lnRef>
            <a:fillRef idx="0">
              <a:schemeClr val="accent1"/>
            </a:fillRef>
            <a:effectRef idx="1">
              <a:schemeClr val="accent1"/>
            </a:effectRef>
            <a:fontRef idx="minor">
              <a:schemeClr val="tx1"/>
            </a:fontRef>
          </p:style>
        </p:cxnSp>
        <p:cxnSp>
          <p:nvCxnSpPr>
            <p:cNvPr id="26" name="Straight Connector 25">
              <a:extLst>
                <a:ext uri="{FF2B5EF4-FFF2-40B4-BE49-F238E27FC236}">
                  <a16:creationId xmlns:a16="http://schemas.microsoft.com/office/drawing/2014/main" id="{9FB3025B-E034-EB6D-B6AD-BF815143AC68}"/>
                </a:ext>
              </a:extLst>
            </p:cNvPr>
            <p:cNvCxnSpPr>
              <a:cxnSpLocks/>
            </p:cNvCxnSpPr>
            <p:nvPr/>
          </p:nvCxnSpPr>
          <p:spPr>
            <a:xfrm flipH="1" flipV="1">
              <a:off x="7551801" y="2507770"/>
              <a:ext cx="9779" cy="1512034"/>
            </a:xfrm>
            <a:prstGeom prst="line">
              <a:avLst/>
            </a:prstGeom>
            <a:ln w="57150"/>
          </p:spPr>
          <p:style>
            <a:lnRef idx="2">
              <a:schemeClr val="accent1"/>
            </a:lnRef>
            <a:fillRef idx="0">
              <a:schemeClr val="accent1"/>
            </a:fillRef>
            <a:effectRef idx="1">
              <a:schemeClr val="accent1"/>
            </a:effectRef>
            <a:fontRef idx="minor">
              <a:schemeClr val="tx1"/>
            </a:fontRef>
          </p:style>
        </p:cxnSp>
        <p:cxnSp>
          <p:nvCxnSpPr>
            <p:cNvPr id="31" name="Straight Connector 30">
              <a:extLst>
                <a:ext uri="{FF2B5EF4-FFF2-40B4-BE49-F238E27FC236}">
                  <a16:creationId xmlns:a16="http://schemas.microsoft.com/office/drawing/2014/main" id="{A6229918-8D32-C1E2-EBFB-69946203607E}"/>
                </a:ext>
              </a:extLst>
            </p:cNvPr>
            <p:cNvCxnSpPr>
              <a:cxnSpLocks/>
            </p:cNvCxnSpPr>
            <p:nvPr/>
          </p:nvCxnSpPr>
          <p:spPr>
            <a:xfrm flipH="1">
              <a:off x="7540752" y="2383536"/>
              <a:ext cx="181538" cy="140208"/>
            </a:xfrm>
            <a:prstGeom prst="line">
              <a:avLst/>
            </a:prstGeom>
            <a:ln w="57150"/>
          </p:spPr>
          <p:style>
            <a:lnRef idx="2">
              <a:schemeClr val="accent1"/>
            </a:lnRef>
            <a:fillRef idx="0">
              <a:schemeClr val="accent1"/>
            </a:fillRef>
            <a:effectRef idx="1">
              <a:schemeClr val="accent1"/>
            </a:effectRef>
            <a:fontRef idx="minor">
              <a:schemeClr val="tx1"/>
            </a:fontRef>
          </p:style>
        </p:cxnSp>
      </p:grpSp>
      <p:sp>
        <p:nvSpPr>
          <p:cNvPr id="36" name="TextBox 35">
            <a:extLst>
              <a:ext uri="{FF2B5EF4-FFF2-40B4-BE49-F238E27FC236}">
                <a16:creationId xmlns:a16="http://schemas.microsoft.com/office/drawing/2014/main" id="{C7DB2E9C-989D-F3DB-D2EB-F96405B1EE00}"/>
              </a:ext>
            </a:extLst>
          </p:cNvPr>
          <p:cNvSpPr txBox="1"/>
          <p:nvPr/>
        </p:nvSpPr>
        <p:spPr>
          <a:xfrm>
            <a:off x="-1" y="1248026"/>
            <a:ext cx="12191999" cy="830997"/>
          </a:xfrm>
          <a:prstGeom prst="rect">
            <a:avLst/>
          </a:prstGeom>
          <a:noFill/>
        </p:spPr>
        <p:txBody>
          <a:bodyPr wrap="square">
            <a:spAutoFit/>
          </a:bodyPr>
          <a:lstStyle/>
          <a:p>
            <a:pPr algn="just"/>
            <a:r>
              <a:rPr lang="zh-TW" altLang="en-US" sz="2400"/>
              <a:t>為了防止多圖層 </a:t>
            </a:r>
            <a:r>
              <a:rPr lang="en-US" altLang="zh-TW" sz="2400"/>
              <a:t>(Multi-layer) PCB </a:t>
            </a:r>
            <a:r>
              <a:rPr lang="zh-TW" altLang="en-US" sz="2400"/>
              <a:t>中的輻射干擾和天線效應，設計人員必須避免在不同 圖層 </a:t>
            </a:r>
            <a:r>
              <a:rPr lang="en-US" altLang="zh-TW" sz="2400"/>
              <a:t>(Layers) </a:t>
            </a:r>
            <a:r>
              <a:rPr lang="zh-TW" altLang="en-US" sz="2400"/>
              <a:t>之間建立 走線 </a:t>
            </a:r>
            <a:r>
              <a:rPr lang="en-US" altLang="zh-TW" sz="2400"/>
              <a:t>(Track) </a:t>
            </a:r>
            <a:r>
              <a:rPr lang="zh-TW" altLang="en-US" sz="2400"/>
              <a:t>迴路，對於高頻訊號尤其如此</a:t>
            </a:r>
            <a:endParaRPr lang="en-US" sz="240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24728753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98AE8E3-C4AA-C220-8C5B-B351B13788C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8A518D2-F2DF-01A9-99E0-770881958221}"/>
              </a:ext>
            </a:extLst>
          </p:cNvPr>
          <p:cNvSpPr>
            <a:spLocks noGrp="1"/>
          </p:cNvSpPr>
          <p:nvPr>
            <p:ph type="title"/>
          </p:nvPr>
        </p:nvSpPr>
        <p:spPr>
          <a:xfrm>
            <a:off x="0" y="-1"/>
            <a:ext cx="12192000" cy="830997"/>
          </a:xfrm>
        </p:spPr>
        <p:txBody>
          <a:bodyPr>
            <a:normAutofit/>
          </a:bodyPr>
          <a:lstStyle/>
          <a:p>
            <a:r>
              <a:rPr lang="zh-TW" altLang="en-US"/>
              <a:t>基礎佈線：針對易受干擾或敏感訊號的屏蔽</a:t>
            </a:r>
            <a:endParaRPr lang="en-US"/>
          </a:p>
        </p:txBody>
      </p:sp>
      <p:pic>
        <p:nvPicPr>
          <p:cNvPr id="7" name="Picture 6">
            <a:extLst>
              <a:ext uri="{FF2B5EF4-FFF2-40B4-BE49-F238E27FC236}">
                <a16:creationId xmlns:a16="http://schemas.microsoft.com/office/drawing/2014/main" id="{A253A703-BF1A-E10F-7E48-E8B5063FF363}"/>
              </a:ext>
            </a:extLst>
          </p:cNvPr>
          <p:cNvPicPr>
            <a:picLocks noChangeAspect="1"/>
          </p:cNvPicPr>
          <p:nvPr/>
        </p:nvPicPr>
        <p:blipFill>
          <a:blip r:embed="rId3"/>
          <a:stretch>
            <a:fillRect/>
          </a:stretch>
        </p:blipFill>
        <p:spPr>
          <a:xfrm>
            <a:off x="1012722" y="2292601"/>
            <a:ext cx="9822426" cy="4318036"/>
          </a:xfrm>
          <a:prstGeom prst="rect">
            <a:avLst/>
          </a:prstGeom>
        </p:spPr>
      </p:pic>
      <p:sp>
        <p:nvSpPr>
          <p:cNvPr id="13" name="TextBox 12">
            <a:extLst>
              <a:ext uri="{FF2B5EF4-FFF2-40B4-BE49-F238E27FC236}">
                <a16:creationId xmlns:a16="http://schemas.microsoft.com/office/drawing/2014/main" id="{AFAA8057-2C6B-E2A3-52C3-9CF68C135464}"/>
              </a:ext>
            </a:extLst>
          </p:cNvPr>
          <p:cNvSpPr txBox="1"/>
          <p:nvPr/>
        </p:nvSpPr>
        <p:spPr>
          <a:xfrm>
            <a:off x="1" y="953728"/>
            <a:ext cx="12191999" cy="830997"/>
          </a:xfrm>
          <a:prstGeom prst="rect">
            <a:avLst/>
          </a:prstGeom>
          <a:noFill/>
        </p:spPr>
        <p:txBody>
          <a:bodyPr wrap="square">
            <a:spAutoFit/>
          </a:bodyPr>
          <a:lstStyle/>
          <a:p>
            <a:r>
              <a:rPr lang="zh-TW" altLang="en-US" sz="2400"/>
              <a:t>為了保護敏感的射頻 </a:t>
            </a:r>
            <a:r>
              <a:rPr lang="en-US" altLang="zh-TW" sz="2400"/>
              <a:t>(RF) </a:t>
            </a:r>
            <a:r>
              <a:rPr lang="zh-TW" altLang="en-US" sz="2400"/>
              <a:t>訊號免受干擾，實施寬度至少 </a:t>
            </a:r>
            <a:r>
              <a:rPr lang="en-US" altLang="zh-TW" sz="2400"/>
              <a:t>30–40 mils </a:t>
            </a:r>
            <a:r>
              <a:rPr lang="zh-TW" altLang="en-US" sz="2400"/>
              <a:t>的接地屏蔽 </a:t>
            </a:r>
            <a:r>
              <a:rPr lang="en-US" altLang="zh-TW" sz="2400"/>
              <a:t>(Ground shields) </a:t>
            </a:r>
            <a:r>
              <a:rPr lang="zh-TW" altLang="en-US" sz="2400"/>
              <a:t>至關重要，並搭配多個接地 過孔 </a:t>
            </a:r>
            <a:r>
              <a:rPr lang="en-US" altLang="zh-TW" sz="2400"/>
              <a:t>(Vias) </a:t>
            </a:r>
            <a:r>
              <a:rPr lang="zh-TW" altLang="en-US" sz="2400"/>
              <a:t>以實現牢固連接並提高焊接品質</a:t>
            </a:r>
            <a:endParaRPr lang="en-US" sz="220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414120070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E89FFFD-4547-9891-02D4-BA6D5DE172E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E8A5092-DEAC-A777-A09C-54358EFBC370}"/>
              </a:ext>
            </a:extLst>
          </p:cNvPr>
          <p:cNvSpPr>
            <a:spLocks noGrp="1"/>
          </p:cNvSpPr>
          <p:nvPr>
            <p:ph type="title"/>
          </p:nvPr>
        </p:nvSpPr>
        <p:spPr>
          <a:xfrm>
            <a:off x="0" y="-1"/>
            <a:ext cx="12192000" cy="1111045"/>
          </a:xfrm>
        </p:spPr>
        <p:txBody>
          <a:bodyPr>
            <a:normAutofit/>
          </a:bodyPr>
          <a:lstStyle/>
          <a:p>
            <a:r>
              <a:rPr lang="zh-TW" altLang="en-US"/>
              <a:t>基礎佈線：同一網路中的走線寬度一致</a:t>
            </a:r>
            <a:endParaRPr lang="en-US"/>
          </a:p>
        </p:txBody>
      </p:sp>
      <p:sp>
        <p:nvSpPr>
          <p:cNvPr id="6" name="Rectangle 5">
            <a:extLst>
              <a:ext uri="{FF2B5EF4-FFF2-40B4-BE49-F238E27FC236}">
                <a16:creationId xmlns:a16="http://schemas.microsoft.com/office/drawing/2014/main" id="{E39A721F-69B2-6420-217F-F4483C91282D}"/>
              </a:ext>
            </a:extLst>
          </p:cNvPr>
          <p:cNvSpPr/>
          <p:nvPr/>
        </p:nvSpPr>
        <p:spPr>
          <a:xfrm>
            <a:off x="481781" y="6363274"/>
            <a:ext cx="1505646" cy="494726"/>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Picture 3">
            <a:extLst>
              <a:ext uri="{FF2B5EF4-FFF2-40B4-BE49-F238E27FC236}">
                <a16:creationId xmlns:a16="http://schemas.microsoft.com/office/drawing/2014/main" id="{F2DF5997-B24E-2E47-7ABB-0AF6C8155657}"/>
              </a:ext>
            </a:extLst>
          </p:cNvPr>
          <p:cNvPicPr>
            <a:picLocks noChangeAspect="1"/>
          </p:cNvPicPr>
          <p:nvPr/>
        </p:nvPicPr>
        <p:blipFill>
          <a:blip r:embed="rId3"/>
          <a:stretch>
            <a:fillRect/>
          </a:stretch>
        </p:blipFill>
        <p:spPr>
          <a:xfrm>
            <a:off x="136451" y="3422323"/>
            <a:ext cx="11919098" cy="2287826"/>
          </a:xfrm>
          <a:prstGeom prst="rect">
            <a:avLst/>
          </a:prstGeom>
        </p:spPr>
      </p:pic>
      <p:cxnSp>
        <p:nvCxnSpPr>
          <p:cNvPr id="12" name="Straight Connector 11">
            <a:extLst>
              <a:ext uri="{FF2B5EF4-FFF2-40B4-BE49-F238E27FC236}">
                <a16:creationId xmlns:a16="http://schemas.microsoft.com/office/drawing/2014/main" id="{311805F4-35BC-EAC8-77CD-B0809118736E}"/>
              </a:ext>
            </a:extLst>
          </p:cNvPr>
          <p:cNvCxnSpPr/>
          <p:nvPr/>
        </p:nvCxnSpPr>
        <p:spPr>
          <a:xfrm>
            <a:off x="287079" y="5135526"/>
            <a:ext cx="2923954" cy="0"/>
          </a:xfrm>
          <a:prstGeom prst="line">
            <a:avLst/>
          </a:prstGeom>
          <a:ln w="101600">
            <a:solidFill>
              <a:srgbClr val="FF0000"/>
            </a:solidFill>
          </a:ln>
        </p:spPr>
        <p:style>
          <a:lnRef idx="2">
            <a:schemeClr val="accent1"/>
          </a:lnRef>
          <a:fillRef idx="0">
            <a:schemeClr val="accent1"/>
          </a:fillRef>
          <a:effectRef idx="1">
            <a:schemeClr val="accent1"/>
          </a:effectRef>
          <a:fontRef idx="minor">
            <a:schemeClr val="tx1"/>
          </a:fontRef>
        </p:style>
      </p:cxnSp>
      <p:cxnSp>
        <p:nvCxnSpPr>
          <p:cNvPr id="13" name="Straight Connector 12">
            <a:extLst>
              <a:ext uri="{FF2B5EF4-FFF2-40B4-BE49-F238E27FC236}">
                <a16:creationId xmlns:a16="http://schemas.microsoft.com/office/drawing/2014/main" id="{66935AE2-2F0E-2C88-F906-663CA381065B}"/>
              </a:ext>
            </a:extLst>
          </p:cNvPr>
          <p:cNvCxnSpPr>
            <a:cxnSpLocks/>
          </p:cNvCxnSpPr>
          <p:nvPr/>
        </p:nvCxnSpPr>
        <p:spPr>
          <a:xfrm>
            <a:off x="6771453" y="4678326"/>
            <a:ext cx="4830612" cy="0"/>
          </a:xfrm>
          <a:prstGeom prst="line">
            <a:avLst/>
          </a:prstGeom>
          <a:ln w="101600">
            <a:solidFill>
              <a:srgbClr val="FF0000"/>
            </a:solidFill>
          </a:ln>
        </p:spPr>
        <p:style>
          <a:lnRef idx="2">
            <a:schemeClr val="accent1"/>
          </a:lnRef>
          <a:fillRef idx="0">
            <a:schemeClr val="accent1"/>
          </a:fillRef>
          <a:effectRef idx="1">
            <a:schemeClr val="accent1"/>
          </a:effectRef>
          <a:fontRef idx="minor">
            <a:schemeClr val="tx1"/>
          </a:fontRef>
        </p:style>
      </p:cxnSp>
      <p:cxnSp>
        <p:nvCxnSpPr>
          <p:cNvPr id="16" name="Straight Connector 15">
            <a:extLst>
              <a:ext uri="{FF2B5EF4-FFF2-40B4-BE49-F238E27FC236}">
                <a16:creationId xmlns:a16="http://schemas.microsoft.com/office/drawing/2014/main" id="{6FDD1A2D-3D44-FBE6-4099-4275A79A2E6E}"/>
              </a:ext>
            </a:extLst>
          </p:cNvPr>
          <p:cNvCxnSpPr>
            <a:cxnSpLocks/>
          </p:cNvCxnSpPr>
          <p:nvPr/>
        </p:nvCxnSpPr>
        <p:spPr>
          <a:xfrm>
            <a:off x="3126658" y="5135526"/>
            <a:ext cx="2428568" cy="0"/>
          </a:xfrm>
          <a:prstGeom prst="line">
            <a:avLst/>
          </a:prstGeom>
          <a:ln w="38100">
            <a:solidFill>
              <a:srgbClr val="FF0000"/>
            </a:solidFill>
          </a:ln>
        </p:spPr>
        <p:style>
          <a:lnRef idx="2">
            <a:schemeClr val="accent1"/>
          </a:lnRef>
          <a:fillRef idx="0">
            <a:schemeClr val="accent1"/>
          </a:fillRef>
          <a:effectRef idx="1">
            <a:schemeClr val="accent1"/>
          </a:effectRef>
          <a:fontRef idx="minor">
            <a:schemeClr val="tx1"/>
          </a:fontRef>
        </p:style>
      </p:cxnSp>
      <p:sp>
        <p:nvSpPr>
          <p:cNvPr id="19" name="TextBox 18">
            <a:extLst>
              <a:ext uri="{FF2B5EF4-FFF2-40B4-BE49-F238E27FC236}">
                <a16:creationId xmlns:a16="http://schemas.microsoft.com/office/drawing/2014/main" id="{8896C7E3-40E1-57ED-67C7-3B7E4ED60F5E}"/>
              </a:ext>
            </a:extLst>
          </p:cNvPr>
          <p:cNvSpPr txBox="1"/>
          <p:nvPr/>
        </p:nvSpPr>
        <p:spPr>
          <a:xfrm>
            <a:off x="24580" y="1295267"/>
            <a:ext cx="12167419" cy="1200329"/>
          </a:xfrm>
          <a:prstGeom prst="rect">
            <a:avLst/>
          </a:prstGeom>
          <a:noFill/>
        </p:spPr>
        <p:txBody>
          <a:bodyPr wrap="square">
            <a:spAutoFit/>
          </a:bodyPr>
          <a:lstStyle/>
          <a:p>
            <a:pPr algn="just"/>
            <a:r>
              <a:rPr lang="zh-TW" altLang="en-US" sz="2400"/>
              <a:t>在同一網路（</a:t>
            </a:r>
            <a:r>
              <a:rPr lang="en-US" sz="2400"/>
              <a:t>Network）</a:t>
            </a:r>
            <a:r>
              <a:rPr lang="zh-TW" altLang="en-US" sz="2400"/>
              <a:t>中維持一致的走線寬度（</a:t>
            </a:r>
            <a:r>
              <a:rPr lang="en-US" sz="2400"/>
              <a:t>Trace Width）</a:t>
            </a:r>
            <a:r>
              <a:rPr lang="zh-TW" altLang="en-US" sz="2400"/>
              <a:t>對於確保特性阻抗（</a:t>
            </a:r>
            <a:r>
              <a:rPr lang="en-US" sz="2400"/>
              <a:t>Characteristic Impedance）</a:t>
            </a:r>
            <a:r>
              <a:rPr lang="zh-TW" altLang="en-US" sz="2400"/>
              <a:t>的一致性至關重要。若因空間限制（</a:t>
            </a:r>
            <a:r>
              <a:rPr lang="en-US" sz="2400"/>
              <a:t>Space Constraints）</a:t>
            </a:r>
            <a:r>
              <a:rPr lang="zh-TW" altLang="en-US" sz="2400"/>
              <a:t>需要進行變化，應將其降至最低，以維持良好的訊號完整性（</a:t>
            </a:r>
            <a:r>
              <a:rPr lang="en-US" sz="2400"/>
              <a:t>Signal Integrity）</a:t>
            </a:r>
            <a:endParaRPr lang="en-US" sz="240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71224979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6E162FA-095C-F326-1DC7-C821A0CC853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54EA861-089D-6D54-9061-2E6E88B738B4}"/>
              </a:ext>
            </a:extLst>
          </p:cNvPr>
          <p:cNvSpPr>
            <a:spLocks noGrp="1"/>
          </p:cNvSpPr>
          <p:nvPr>
            <p:ph type="title"/>
          </p:nvPr>
        </p:nvSpPr>
        <p:spPr>
          <a:xfrm>
            <a:off x="0" y="-1"/>
            <a:ext cx="12192000" cy="1111045"/>
          </a:xfrm>
        </p:spPr>
        <p:txBody>
          <a:bodyPr>
            <a:normAutofit/>
          </a:bodyPr>
          <a:lstStyle/>
          <a:p>
            <a:r>
              <a:rPr lang="zh-TW" altLang="en-US"/>
              <a:t>基礎佈線：</a:t>
            </a:r>
            <a:r>
              <a:rPr lang="en-US" altLang="zh-TW"/>
              <a:t>IC </a:t>
            </a:r>
            <a:r>
              <a:rPr lang="zh-TW" altLang="en-US"/>
              <a:t>引腳的 走線寬度</a:t>
            </a:r>
            <a:endParaRPr lang="en-US"/>
          </a:p>
        </p:txBody>
      </p:sp>
      <p:sp>
        <p:nvSpPr>
          <p:cNvPr id="6" name="Rectangle 5">
            <a:extLst>
              <a:ext uri="{FF2B5EF4-FFF2-40B4-BE49-F238E27FC236}">
                <a16:creationId xmlns:a16="http://schemas.microsoft.com/office/drawing/2014/main" id="{AD634584-D032-C694-85A7-61F4B6370672}"/>
              </a:ext>
            </a:extLst>
          </p:cNvPr>
          <p:cNvSpPr/>
          <p:nvPr/>
        </p:nvSpPr>
        <p:spPr>
          <a:xfrm>
            <a:off x="481781" y="6363274"/>
            <a:ext cx="1505646" cy="494726"/>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26" name="Group 25">
            <a:extLst>
              <a:ext uri="{FF2B5EF4-FFF2-40B4-BE49-F238E27FC236}">
                <a16:creationId xmlns:a16="http://schemas.microsoft.com/office/drawing/2014/main" id="{6406FB0A-F501-A118-4F88-755182114838}"/>
              </a:ext>
            </a:extLst>
          </p:cNvPr>
          <p:cNvGrpSpPr/>
          <p:nvPr/>
        </p:nvGrpSpPr>
        <p:grpSpPr>
          <a:xfrm>
            <a:off x="3546496" y="2336800"/>
            <a:ext cx="4429104" cy="4027274"/>
            <a:chOff x="2637679" y="1323524"/>
            <a:chExt cx="6287377" cy="5287113"/>
          </a:xfrm>
        </p:grpSpPr>
        <p:pic>
          <p:nvPicPr>
            <p:cNvPr id="4" name="Picture 3">
              <a:extLst>
                <a:ext uri="{FF2B5EF4-FFF2-40B4-BE49-F238E27FC236}">
                  <a16:creationId xmlns:a16="http://schemas.microsoft.com/office/drawing/2014/main" id="{A9EB61CC-ACC0-DC3E-52FA-13B41A7ED72E}"/>
                </a:ext>
              </a:extLst>
            </p:cNvPr>
            <p:cNvPicPr>
              <a:picLocks noChangeAspect="1"/>
            </p:cNvPicPr>
            <p:nvPr/>
          </p:nvPicPr>
          <p:blipFill>
            <a:blip r:embed="rId3"/>
            <a:stretch>
              <a:fillRect/>
            </a:stretch>
          </p:blipFill>
          <p:spPr>
            <a:xfrm>
              <a:off x="2637679" y="1323524"/>
              <a:ext cx="6287377" cy="5287113"/>
            </a:xfrm>
            <a:prstGeom prst="rect">
              <a:avLst/>
            </a:prstGeom>
          </p:spPr>
        </p:pic>
        <p:sp>
          <p:nvSpPr>
            <p:cNvPr id="7" name="Rectangle: Rounded Corners 6">
              <a:extLst>
                <a:ext uri="{FF2B5EF4-FFF2-40B4-BE49-F238E27FC236}">
                  <a16:creationId xmlns:a16="http://schemas.microsoft.com/office/drawing/2014/main" id="{E653F60E-54AB-29EA-099D-81D9DFFC06D4}"/>
                </a:ext>
              </a:extLst>
            </p:cNvPr>
            <p:cNvSpPr/>
            <p:nvPr/>
          </p:nvSpPr>
          <p:spPr>
            <a:xfrm>
              <a:off x="5673212" y="1946787"/>
              <a:ext cx="1317523" cy="353961"/>
            </a:xfrm>
            <a:prstGeom prst="roundRect">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Rounded Corners 11">
              <a:extLst>
                <a:ext uri="{FF2B5EF4-FFF2-40B4-BE49-F238E27FC236}">
                  <a16:creationId xmlns:a16="http://schemas.microsoft.com/office/drawing/2014/main" id="{752A621B-6136-0DE3-AE0D-F943E7D986FC}"/>
                </a:ext>
              </a:extLst>
            </p:cNvPr>
            <p:cNvSpPr/>
            <p:nvPr/>
          </p:nvSpPr>
          <p:spPr>
            <a:xfrm>
              <a:off x="5673212" y="2735047"/>
              <a:ext cx="1317523" cy="353961"/>
            </a:xfrm>
            <a:prstGeom prst="roundRect">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Rounded Corners 12">
              <a:extLst>
                <a:ext uri="{FF2B5EF4-FFF2-40B4-BE49-F238E27FC236}">
                  <a16:creationId xmlns:a16="http://schemas.microsoft.com/office/drawing/2014/main" id="{0942DE5E-295E-9533-5050-2E2D7BC7A30E}"/>
                </a:ext>
              </a:extLst>
            </p:cNvPr>
            <p:cNvSpPr/>
            <p:nvPr/>
          </p:nvSpPr>
          <p:spPr>
            <a:xfrm>
              <a:off x="5673212" y="3540513"/>
              <a:ext cx="1317523" cy="353961"/>
            </a:xfrm>
            <a:prstGeom prst="roundRect">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Rounded Corners 13">
              <a:extLst>
                <a:ext uri="{FF2B5EF4-FFF2-40B4-BE49-F238E27FC236}">
                  <a16:creationId xmlns:a16="http://schemas.microsoft.com/office/drawing/2014/main" id="{EF43BA5D-F00F-34A5-DEB0-DBED07885FC2}"/>
                </a:ext>
              </a:extLst>
            </p:cNvPr>
            <p:cNvSpPr/>
            <p:nvPr/>
          </p:nvSpPr>
          <p:spPr>
            <a:xfrm>
              <a:off x="5673212" y="4299605"/>
              <a:ext cx="1317523" cy="353961"/>
            </a:xfrm>
            <a:prstGeom prst="roundRect">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Rounded Corners 14">
              <a:extLst>
                <a:ext uri="{FF2B5EF4-FFF2-40B4-BE49-F238E27FC236}">
                  <a16:creationId xmlns:a16="http://schemas.microsoft.com/office/drawing/2014/main" id="{3C8D21A1-9258-7D89-9502-322542D181AF}"/>
                </a:ext>
              </a:extLst>
            </p:cNvPr>
            <p:cNvSpPr/>
            <p:nvPr/>
          </p:nvSpPr>
          <p:spPr>
            <a:xfrm>
              <a:off x="5692875" y="5086412"/>
              <a:ext cx="1317523" cy="353961"/>
            </a:xfrm>
            <a:prstGeom prst="roundRect">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Rounded Corners 15">
              <a:extLst>
                <a:ext uri="{FF2B5EF4-FFF2-40B4-BE49-F238E27FC236}">
                  <a16:creationId xmlns:a16="http://schemas.microsoft.com/office/drawing/2014/main" id="{932B8166-515A-DBE2-3423-475997AB8BB2}"/>
                </a:ext>
              </a:extLst>
            </p:cNvPr>
            <p:cNvSpPr/>
            <p:nvPr/>
          </p:nvSpPr>
          <p:spPr>
            <a:xfrm>
              <a:off x="5722371" y="5848524"/>
              <a:ext cx="1317523" cy="353961"/>
            </a:xfrm>
            <a:prstGeom prst="roundRect">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Rounded Corners 16">
              <a:extLst>
                <a:ext uri="{FF2B5EF4-FFF2-40B4-BE49-F238E27FC236}">
                  <a16:creationId xmlns:a16="http://schemas.microsoft.com/office/drawing/2014/main" id="{6AD8514A-8458-EBEE-E3EB-0F536B6799BF}"/>
                </a:ext>
              </a:extLst>
            </p:cNvPr>
            <p:cNvSpPr/>
            <p:nvPr/>
          </p:nvSpPr>
          <p:spPr>
            <a:xfrm>
              <a:off x="6390968" y="1958750"/>
              <a:ext cx="2104102" cy="323113"/>
            </a:xfrm>
            <a:prstGeom prst="roundRect">
              <a:avLst/>
            </a:prstGeom>
            <a:solidFill>
              <a:srgbClr val="FF0000"/>
            </a:solidFill>
            <a:ln>
              <a:solidFill>
                <a:schemeClr val="accent1">
                  <a:shade val="1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9" name="Straight Connector 18">
              <a:extLst>
                <a:ext uri="{FF2B5EF4-FFF2-40B4-BE49-F238E27FC236}">
                  <a16:creationId xmlns:a16="http://schemas.microsoft.com/office/drawing/2014/main" id="{EF3342F8-F2BD-A7F7-7A41-5AE4E9AE96F2}"/>
                </a:ext>
              </a:extLst>
            </p:cNvPr>
            <p:cNvCxnSpPr>
              <a:stCxn id="12" idx="3"/>
            </p:cNvCxnSpPr>
            <p:nvPr/>
          </p:nvCxnSpPr>
          <p:spPr>
            <a:xfrm flipV="1">
              <a:off x="6990735" y="2910348"/>
              <a:ext cx="1504336" cy="1680"/>
            </a:xfrm>
            <a:prstGeom prst="line">
              <a:avLst/>
            </a:prstGeom>
            <a:ln w="114300">
              <a:solidFill>
                <a:srgbClr val="FF0000"/>
              </a:solidFill>
            </a:ln>
          </p:spPr>
          <p:style>
            <a:lnRef idx="2">
              <a:schemeClr val="accent1"/>
            </a:lnRef>
            <a:fillRef idx="0">
              <a:schemeClr val="accent1"/>
            </a:fillRef>
            <a:effectRef idx="1">
              <a:schemeClr val="accent1"/>
            </a:effectRef>
            <a:fontRef idx="minor">
              <a:schemeClr val="tx1"/>
            </a:fontRef>
          </p:style>
        </p:cxnSp>
        <p:cxnSp>
          <p:nvCxnSpPr>
            <p:cNvPr id="20" name="Straight Connector 19">
              <a:extLst>
                <a:ext uri="{FF2B5EF4-FFF2-40B4-BE49-F238E27FC236}">
                  <a16:creationId xmlns:a16="http://schemas.microsoft.com/office/drawing/2014/main" id="{6160ED99-BCBF-0271-8E3F-93C2B264387E}"/>
                </a:ext>
              </a:extLst>
            </p:cNvPr>
            <p:cNvCxnSpPr/>
            <p:nvPr/>
          </p:nvCxnSpPr>
          <p:spPr>
            <a:xfrm flipV="1">
              <a:off x="6980903" y="3738837"/>
              <a:ext cx="1504336" cy="1680"/>
            </a:xfrm>
            <a:prstGeom prst="line">
              <a:avLst/>
            </a:prstGeom>
            <a:ln w="63500">
              <a:solidFill>
                <a:srgbClr val="FF0000"/>
              </a:solidFill>
            </a:ln>
          </p:spPr>
          <p:style>
            <a:lnRef idx="2">
              <a:schemeClr val="accent1"/>
            </a:lnRef>
            <a:fillRef idx="0">
              <a:schemeClr val="accent1"/>
            </a:fillRef>
            <a:effectRef idx="1">
              <a:schemeClr val="accent1"/>
            </a:effectRef>
            <a:fontRef idx="minor">
              <a:schemeClr val="tx1"/>
            </a:fontRef>
          </p:style>
        </p:cxnSp>
        <p:sp>
          <p:nvSpPr>
            <p:cNvPr id="21" name="Rectangle: Rounded Corners 20">
              <a:extLst>
                <a:ext uri="{FF2B5EF4-FFF2-40B4-BE49-F238E27FC236}">
                  <a16:creationId xmlns:a16="http://schemas.microsoft.com/office/drawing/2014/main" id="{40DDABF1-1230-6943-2054-B5EBE6F4E6A0}"/>
                </a:ext>
              </a:extLst>
            </p:cNvPr>
            <p:cNvSpPr/>
            <p:nvPr/>
          </p:nvSpPr>
          <p:spPr>
            <a:xfrm>
              <a:off x="6853085" y="4299604"/>
              <a:ext cx="452284" cy="353961"/>
            </a:xfrm>
            <a:prstGeom prst="roundRect">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Flowchart: Terminator 21">
              <a:extLst>
                <a:ext uri="{FF2B5EF4-FFF2-40B4-BE49-F238E27FC236}">
                  <a16:creationId xmlns:a16="http://schemas.microsoft.com/office/drawing/2014/main" id="{071DBDBD-263A-25A1-19B7-6EAF3C6AAD2F}"/>
                </a:ext>
              </a:extLst>
            </p:cNvPr>
            <p:cNvSpPr/>
            <p:nvPr/>
          </p:nvSpPr>
          <p:spPr>
            <a:xfrm>
              <a:off x="7177548" y="4159761"/>
              <a:ext cx="1317522" cy="611033"/>
            </a:xfrm>
            <a:prstGeom prst="flowChartTerminator">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Flowchart: Terminator 22">
              <a:extLst>
                <a:ext uri="{FF2B5EF4-FFF2-40B4-BE49-F238E27FC236}">
                  <a16:creationId xmlns:a16="http://schemas.microsoft.com/office/drawing/2014/main" id="{1D82A82C-E6CC-CD36-E598-EC1AAA0F3D00}"/>
                </a:ext>
              </a:extLst>
            </p:cNvPr>
            <p:cNvSpPr/>
            <p:nvPr/>
          </p:nvSpPr>
          <p:spPr>
            <a:xfrm>
              <a:off x="6784257" y="5719988"/>
              <a:ext cx="1848465" cy="611033"/>
            </a:xfrm>
            <a:prstGeom prst="flowChartTerminator">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4" name="Straight Connector 23">
              <a:extLst>
                <a:ext uri="{FF2B5EF4-FFF2-40B4-BE49-F238E27FC236}">
                  <a16:creationId xmlns:a16="http://schemas.microsoft.com/office/drawing/2014/main" id="{C28D7B59-F85B-C1DF-2ADA-0A041CC664D5}"/>
                </a:ext>
              </a:extLst>
            </p:cNvPr>
            <p:cNvCxnSpPr>
              <a:cxnSpLocks/>
            </p:cNvCxnSpPr>
            <p:nvPr/>
          </p:nvCxnSpPr>
          <p:spPr>
            <a:xfrm flipV="1">
              <a:off x="7177548" y="5263392"/>
              <a:ext cx="1042220" cy="3024"/>
            </a:xfrm>
            <a:prstGeom prst="line">
              <a:avLst/>
            </a:prstGeom>
            <a:ln w="63500">
              <a:solidFill>
                <a:srgbClr val="FF0000"/>
              </a:solidFill>
            </a:ln>
          </p:spPr>
          <p:style>
            <a:lnRef idx="2">
              <a:schemeClr val="accent1"/>
            </a:lnRef>
            <a:fillRef idx="0">
              <a:schemeClr val="accent1"/>
            </a:fillRef>
            <a:effectRef idx="1">
              <a:schemeClr val="accent1"/>
            </a:effectRef>
            <a:fontRef idx="minor">
              <a:schemeClr val="tx1"/>
            </a:fontRef>
          </p:style>
        </p:cxnSp>
      </p:grpSp>
      <p:sp>
        <p:nvSpPr>
          <p:cNvPr id="28" name="TextBox 27">
            <a:extLst>
              <a:ext uri="{FF2B5EF4-FFF2-40B4-BE49-F238E27FC236}">
                <a16:creationId xmlns:a16="http://schemas.microsoft.com/office/drawing/2014/main" id="{2B532A85-1E53-247E-7A3A-8F5E44B18A79}"/>
              </a:ext>
            </a:extLst>
          </p:cNvPr>
          <p:cNvSpPr txBox="1"/>
          <p:nvPr/>
        </p:nvSpPr>
        <p:spPr>
          <a:xfrm>
            <a:off x="0" y="994740"/>
            <a:ext cx="12192000" cy="1200329"/>
          </a:xfrm>
          <a:prstGeom prst="rect">
            <a:avLst/>
          </a:prstGeom>
          <a:noFill/>
        </p:spPr>
        <p:txBody>
          <a:bodyPr wrap="square">
            <a:spAutoFit/>
          </a:bodyPr>
          <a:lstStyle/>
          <a:p>
            <a:pPr algn="just"/>
            <a:r>
              <a:rPr lang="zh-TW" altLang="en-US" sz="2400"/>
              <a:t>從 </a:t>
            </a:r>
            <a:r>
              <a:rPr lang="en-US" altLang="zh-TW" sz="2400"/>
              <a:t>IC </a:t>
            </a:r>
            <a:r>
              <a:rPr lang="zh-TW" altLang="en-US" sz="2400"/>
              <a:t>焊盤 </a:t>
            </a:r>
            <a:r>
              <a:rPr lang="en-US" altLang="zh-TW" sz="2400"/>
              <a:t>(Pads) </a:t>
            </a:r>
            <a:r>
              <a:rPr lang="zh-TW" altLang="en-US" sz="2400"/>
              <a:t>引出的 走線寬度 </a:t>
            </a:r>
            <a:r>
              <a:rPr lang="en-US" altLang="zh-TW" sz="2400"/>
              <a:t>(Trace widths) </a:t>
            </a:r>
            <a:r>
              <a:rPr lang="zh-TW" altLang="en-US" sz="2400"/>
              <a:t>通常不應超過焊盤寬度。但在離開焊盤區域後，走線可以加寬 </a:t>
            </a:r>
            <a:r>
              <a:rPr lang="en-US" altLang="zh-TW" sz="2400"/>
              <a:t>6–10 mils</a:t>
            </a:r>
            <a:r>
              <a:rPr lang="zh-TW" altLang="en-US" sz="2400"/>
              <a:t>，以滿足更高的 電流 </a:t>
            </a:r>
            <a:r>
              <a:rPr lang="en-US" altLang="zh-TW" sz="2400"/>
              <a:t>(Current) </a:t>
            </a:r>
            <a:r>
              <a:rPr lang="zh-TW" altLang="en-US" sz="2400"/>
              <a:t>負載需求，且不會損 </a:t>
            </a:r>
            <a:r>
              <a:rPr lang="en-US" altLang="zh-TW" sz="2400"/>
              <a:t>hại đến </a:t>
            </a:r>
            <a:r>
              <a:rPr lang="zh-TW" altLang="en-US" sz="2400"/>
              <a:t>焊接完整性 </a:t>
            </a:r>
            <a:r>
              <a:rPr lang="en-US" altLang="zh-TW" sz="2400"/>
              <a:t>(Solder integrity)</a:t>
            </a:r>
            <a:endParaRPr lang="en-US" sz="240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28671033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91132B-59E2-6506-0807-35D578AB74E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313F17F-EB53-C025-CEE8-F5DCC15DF2CA}"/>
              </a:ext>
            </a:extLst>
          </p:cNvPr>
          <p:cNvSpPr>
            <a:spLocks noGrp="1"/>
          </p:cNvSpPr>
          <p:nvPr>
            <p:ph type="title"/>
          </p:nvPr>
        </p:nvSpPr>
        <p:spPr>
          <a:xfrm>
            <a:off x="0" y="-1"/>
            <a:ext cx="12192000" cy="993059"/>
          </a:xfrm>
        </p:spPr>
        <p:txBody>
          <a:bodyPr>
            <a:normAutofit/>
          </a:bodyPr>
          <a:lstStyle/>
          <a:p>
            <a:r>
              <a:rPr lang="zh-TW" altLang="en-US"/>
              <a:t>基礎佈線：敏感元件周圍的佈線考量</a:t>
            </a:r>
            <a:endParaRPr lang="en-US"/>
          </a:p>
        </p:txBody>
      </p:sp>
      <p:sp>
        <p:nvSpPr>
          <p:cNvPr id="6" name="Rectangle 5">
            <a:extLst>
              <a:ext uri="{FF2B5EF4-FFF2-40B4-BE49-F238E27FC236}">
                <a16:creationId xmlns:a16="http://schemas.microsoft.com/office/drawing/2014/main" id="{DDF1E093-092C-03C1-12AA-C4D3EE31D609}"/>
              </a:ext>
            </a:extLst>
          </p:cNvPr>
          <p:cNvSpPr/>
          <p:nvPr/>
        </p:nvSpPr>
        <p:spPr>
          <a:xfrm>
            <a:off x="481781" y="6363274"/>
            <a:ext cx="1505646" cy="494726"/>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Picture 3">
            <a:extLst>
              <a:ext uri="{FF2B5EF4-FFF2-40B4-BE49-F238E27FC236}">
                <a16:creationId xmlns:a16="http://schemas.microsoft.com/office/drawing/2014/main" id="{16B1839B-5BE4-DBD2-00FC-377A0B55091A}"/>
              </a:ext>
            </a:extLst>
          </p:cNvPr>
          <p:cNvPicPr>
            <a:picLocks noChangeAspect="1"/>
          </p:cNvPicPr>
          <p:nvPr/>
        </p:nvPicPr>
        <p:blipFill>
          <a:blip r:embed="rId3"/>
          <a:stretch>
            <a:fillRect/>
          </a:stretch>
        </p:blipFill>
        <p:spPr>
          <a:xfrm>
            <a:off x="6756145" y="889327"/>
            <a:ext cx="4505954" cy="5830114"/>
          </a:xfrm>
          <a:prstGeom prst="rect">
            <a:avLst/>
          </a:prstGeom>
        </p:spPr>
      </p:pic>
      <p:sp>
        <p:nvSpPr>
          <p:cNvPr id="7" name="Rectangle 6">
            <a:extLst>
              <a:ext uri="{FF2B5EF4-FFF2-40B4-BE49-F238E27FC236}">
                <a16:creationId xmlns:a16="http://schemas.microsoft.com/office/drawing/2014/main" id="{CDE45E6D-525D-A7F9-A9F6-7E39A681865F}"/>
              </a:ext>
            </a:extLst>
          </p:cNvPr>
          <p:cNvSpPr/>
          <p:nvPr/>
        </p:nvSpPr>
        <p:spPr>
          <a:xfrm>
            <a:off x="6817105" y="2106047"/>
            <a:ext cx="920364" cy="2041451"/>
          </a:xfrm>
          <a:prstGeom prst="rect">
            <a:avLst/>
          </a:prstGeom>
          <a:noFill/>
          <a:ln w="3175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TextBox 11">
            <a:extLst>
              <a:ext uri="{FF2B5EF4-FFF2-40B4-BE49-F238E27FC236}">
                <a16:creationId xmlns:a16="http://schemas.microsoft.com/office/drawing/2014/main" id="{E7D9238E-6EAE-C43D-1AFD-86EE08BCBDF5}"/>
              </a:ext>
            </a:extLst>
          </p:cNvPr>
          <p:cNvSpPr txBox="1"/>
          <p:nvPr/>
        </p:nvSpPr>
        <p:spPr>
          <a:xfrm>
            <a:off x="6842151" y="1736715"/>
            <a:ext cx="920364" cy="369332"/>
          </a:xfrm>
          <a:prstGeom prst="rect">
            <a:avLst/>
          </a:prstGeom>
          <a:noFill/>
        </p:spPr>
        <p:txBody>
          <a:bodyPr wrap="square" rtlCol="0">
            <a:spAutoFit/>
          </a:bodyPr>
          <a:lstStyle/>
          <a:p>
            <a:r>
              <a:rPr lang="zh-TW" altLang="en-US">
                <a:solidFill>
                  <a:schemeClr val="bg1"/>
                </a:solidFill>
              </a:rPr>
              <a:t>晶振</a:t>
            </a:r>
            <a:endParaRPr lang="en-US">
              <a:solidFill>
                <a:schemeClr val="bg1"/>
              </a:solidFill>
            </a:endParaRPr>
          </a:p>
        </p:txBody>
      </p:sp>
      <p:sp>
        <p:nvSpPr>
          <p:cNvPr id="14" name="TextBox 13">
            <a:extLst>
              <a:ext uri="{FF2B5EF4-FFF2-40B4-BE49-F238E27FC236}">
                <a16:creationId xmlns:a16="http://schemas.microsoft.com/office/drawing/2014/main" id="{0F323246-55F0-A800-4A34-383774101697}"/>
              </a:ext>
            </a:extLst>
          </p:cNvPr>
          <p:cNvSpPr txBox="1"/>
          <p:nvPr/>
        </p:nvSpPr>
        <p:spPr>
          <a:xfrm>
            <a:off x="4726" y="1218266"/>
            <a:ext cx="6476116" cy="4421467"/>
          </a:xfrm>
          <a:prstGeom prst="rect">
            <a:avLst/>
          </a:prstGeom>
          <a:noFill/>
        </p:spPr>
        <p:txBody>
          <a:bodyPr wrap="square">
            <a:spAutoFit/>
          </a:bodyPr>
          <a:lstStyle/>
          <a:p>
            <a:pPr algn="just">
              <a:lnSpc>
                <a:spcPct val="200000"/>
              </a:lnSpc>
              <a:buNone/>
            </a:pPr>
            <a:r>
              <a:rPr lang="zh-TW" altLang="en-US" sz="2400"/>
              <a:t>為了維持訊號完整性（</a:t>
            </a:r>
            <a:r>
              <a:rPr lang="en-US" sz="2400"/>
              <a:t>Signal Integrity）</a:t>
            </a:r>
            <a:r>
              <a:rPr lang="zh-TW" altLang="en-US" sz="2400"/>
              <a:t>與系統穩定性（</a:t>
            </a:r>
            <a:r>
              <a:rPr lang="en-US" sz="2400"/>
              <a:t>System Stability），</a:t>
            </a:r>
            <a:r>
              <a:rPr lang="zh-TW" altLang="en-US" sz="2400"/>
              <a:t>走線（</a:t>
            </a:r>
            <a:r>
              <a:rPr lang="en-US" sz="2400"/>
              <a:t>Routing）</a:t>
            </a:r>
            <a:r>
              <a:rPr lang="zh-TW" altLang="en-US" sz="2400"/>
              <a:t>應避免靠近敏感或高雜訊的元件（</a:t>
            </a:r>
            <a:r>
              <a:rPr lang="en-US" sz="2400"/>
              <a:t>Components），</a:t>
            </a:r>
            <a:r>
              <a:rPr lang="zh-TW" altLang="en-US" sz="2400"/>
              <a:t>例如晶振（</a:t>
            </a:r>
            <a:r>
              <a:rPr lang="en-US" sz="2400"/>
              <a:t>Crystal）、</a:t>
            </a:r>
            <a:r>
              <a:rPr lang="zh-TW" altLang="en-US" sz="2400"/>
              <a:t>振盪器（</a:t>
            </a:r>
            <a:r>
              <a:rPr lang="en-US" sz="2400"/>
              <a:t>Oscillator）</a:t>
            </a:r>
            <a:r>
              <a:rPr lang="zh-TW" altLang="en-US" sz="2400"/>
              <a:t>以及電源（</a:t>
            </a:r>
            <a:r>
              <a:rPr lang="en-US" sz="2400"/>
              <a:t>Power Supply），</a:t>
            </a:r>
            <a:r>
              <a:rPr lang="zh-TW" altLang="en-US" sz="2400"/>
              <a:t>以防止彼此之間產生干擾（</a:t>
            </a:r>
            <a:r>
              <a:rPr lang="en-US" sz="2400"/>
              <a:t>Interference）</a:t>
            </a:r>
            <a:endParaRPr lang="en-US" sz="2400">
              <a:effectLst/>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11971538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5993B6C-4FEF-2F3D-F2CB-D9F8884F8E1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6C8019D-0C8F-78C2-5900-FF83F40607CD}"/>
              </a:ext>
            </a:extLst>
          </p:cNvPr>
          <p:cNvSpPr>
            <a:spLocks noGrp="1"/>
          </p:cNvSpPr>
          <p:nvPr>
            <p:ph type="title"/>
          </p:nvPr>
        </p:nvSpPr>
        <p:spPr>
          <a:xfrm>
            <a:off x="0" y="0"/>
            <a:ext cx="12192000" cy="751840"/>
          </a:xfrm>
        </p:spPr>
        <p:txBody>
          <a:bodyPr>
            <a:normAutofit/>
          </a:bodyPr>
          <a:lstStyle/>
          <a:p>
            <a:r>
              <a:rPr lang="zh-TW" altLang="en-US"/>
              <a:t>基礎佈線：計算 走線 </a:t>
            </a:r>
            <a:r>
              <a:rPr lang="en-US" altLang="zh-TW"/>
              <a:t>(Track) </a:t>
            </a:r>
            <a:r>
              <a:rPr lang="zh-TW" altLang="en-US"/>
              <a:t>寬度</a:t>
            </a:r>
            <a:endParaRPr lang="en-US"/>
          </a:p>
        </p:txBody>
      </p:sp>
      <p:sp>
        <p:nvSpPr>
          <p:cNvPr id="7" name="Rectangle 6">
            <a:extLst>
              <a:ext uri="{FF2B5EF4-FFF2-40B4-BE49-F238E27FC236}">
                <a16:creationId xmlns:a16="http://schemas.microsoft.com/office/drawing/2014/main" id="{9A58485C-396C-40BF-E043-B459C930CB42}"/>
              </a:ext>
            </a:extLst>
          </p:cNvPr>
          <p:cNvSpPr/>
          <p:nvPr/>
        </p:nvSpPr>
        <p:spPr>
          <a:xfrm>
            <a:off x="6541802" y="2115879"/>
            <a:ext cx="920364" cy="2041451"/>
          </a:xfrm>
          <a:prstGeom prst="rect">
            <a:avLst/>
          </a:prstGeom>
          <a:noFill/>
          <a:ln w="3175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TextBox 11">
            <a:extLst>
              <a:ext uri="{FF2B5EF4-FFF2-40B4-BE49-F238E27FC236}">
                <a16:creationId xmlns:a16="http://schemas.microsoft.com/office/drawing/2014/main" id="{0ED2B8E8-1886-171C-8D01-48B35F83AF92}"/>
              </a:ext>
            </a:extLst>
          </p:cNvPr>
          <p:cNvSpPr txBox="1"/>
          <p:nvPr/>
        </p:nvSpPr>
        <p:spPr>
          <a:xfrm>
            <a:off x="6566848" y="1746547"/>
            <a:ext cx="920364" cy="369332"/>
          </a:xfrm>
          <a:prstGeom prst="rect">
            <a:avLst/>
          </a:prstGeom>
          <a:noFill/>
        </p:spPr>
        <p:txBody>
          <a:bodyPr wrap="square" rtlCol="0">
            <a:spAutoFit/>
          </a:bodyPr>
          <a:lstStyle/>
          <a:p>
            <a:r>
              <a:rPr lang="zh-TW" altLang="en-US">
                <a:solidFill>
                  <a:schemeClr val="bg1"/>
                </a:solidFill>
              </a:rPr>
              <a:t>晶振</a:t>
            </a:r>
            <a:endParaRPr lang="en-US">
              <a:solidFill>
                <a:schemeClr val="bg1"/>
              </a:solidFill>
            </a:endParaRPr>
          </a:p>
        </p:txBody>
      </p:sp>
      <p:sp>
        <p:nvSpPr>
          <p:cNvPr id="5" name="TextBox 4">
            <a:extLst>
              <a:ext uri="{FF2B5EF4-FFF2-40B4-BE49-F238E27FC236}">
                <a16:creationId xmlns:a16="http://schemas.microsoft.com/office/drawing/2014/main" id="{A0767993-1F49-1D7C-92A1-72A35DDF8F49}"/>
              </a:ext>
            </a:extLst>
          </p:cNvPr>
          <p:cNvSpPr txBox="1"/>
          <p:nvPr/>
        </p:nvSpPr>
        <p:spPr>
          <a:xfrm>
            <a:off x="89903" y="742886"/>
            <a:ext cx="12016917" cy="369332"/>
          </a:xfrm>
          <a:prstGeom prst="rect">
            <a:avLst/>
          </a:prstGeom>
          <a:noFill/>
        </p:spPr>
        <p:txBody>
          <a:bodyPr wrap="square">
            <a:spAutoFit/>
          </a:bodyPr>
          <a:lstStyle/>
          <a:p>
            <a:r>
              <a:rPr lang="en-US"/>
              <a:t>https://www.digikey.com/en/resources/conversion-calculators/conversion-calculator-pcb-trace-width</a:t>
            </a:r>
          </a:p>
        </p:txBody>
      </p:sp>
      <p:pic>
        <p:nvPicPr>
          <p:cNvPr id="9" name="Picture 8">
            <a:extLst>
              <a:ext uri="{FF2B5EF4-FFF2-40B4-BE49-F238E27FC236}">
                <a16:creationId xmlns:a16="http://schemas.microsoft.com/office/drawing/2014/main" id="{569A2490-3005-F1DB-C0DD-7EBD615CE3DB}"/>
              </a:ext>
            </a:extLst>
          </p:cNvPr>
          <p:cNvPicPr>
            <a:picLocks noChangeAspect="1"/>
          </p:cNvPicPr>
          <p:nvPr/>
        </p:nvPicPr>
        <p:blipFill>
          <a:blip r:embed="rId3"/>
          <a:stretch>
            <a:fillRect/>
          </a:stretch>
        </p:blipFill>
        <p:spPr>
          <a:xfrm>
            <a:off x="1456779" y="1354702"/>
            <a:ext cx="10735220" cy="4175467"/>
          </a:xfrm>
          <a:prstGeom prst="rect">
            <a:avLst/>
          </a:prstGeom>
        </p:spPr>
      </p:pic>
      <p:cxnSp>
        <p:nvCxnSpPr>
          <p:cNvPr id="13" name="Straight Arrow Connector 12">
            <a:extLst>
              <a:ext uri="{FF2B5EF4-FFF2-40B4-BE49-F238E27FC236}">
                <a16:creationId xmlns:a16="http://schemas.microsoft.com/office/drawing/2014/main" id="{2E0C051E-2BE6-B98B-B567-7BDE7FDC3D42}"/>
              </a:ext>
            </a:extLst>
          </p:cNvPr>
          <p:cNvCxnSpPr/>
          <p:nvPr/>
        </p:nvCxnSpPr>
        <p:spPr>
          <a:xfrm>
            <a:off x="1087120" y="2844800"/>
            <a:ext cx="568960" cy="18288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15" name="TextBox 14">
            <a:extLst>
              <a:ext uri="{FF2B5EF4-FFF2-40B4-BE49-F238E27FC236}">
                <a16:creationId xmlns:a16="http://schemas.microsoft.com/office/drawing/2014/main" id="{83C91D1F-6FCA-954D-C0A2-F4B4CA342290}"/>
              </a:ext>
            </a:extLst>
          </p:cNvPr>
          <p:cNvSpPr txBox="1"/>
          <p:nvPr/>
        </p:nvSpPr>
        <p:spPr>
          <a:xfrm>
            <a:off x="89903" y="2444531"/>
            <a:ext cx="1281697" cy="369332"/>
          </a:xfrm>
          <a:prstGeom prst="rect">
            <a:avLst/>
          </a:prstGeom>
          <a:noFill/>
        </p:spPr>
        <p:txBody>
          <a:bodyPr wrap="square" rtlCol="0">
            <a:spAutoFit/>
          </a:bodyPr>
          <a:lstStyle/>
          <a:p>
            <a:r>
              <a:rPr lang="zh-TW" altLang="en-US"/>
              <a:t>工作電流</a:t>
            </a:r>
            <a:endParaRPr lang="en-US"/>
          </a:p>
        </p:txBody>
      </p:sp>
      <p:cxnSp>
        <p:nvCxnSpPr>
          <p:cNvPr id="16" name="Straight Arrow Connector 15">
            <a:extLst>
              <a:ext uri="{FF2B5EF4-FFF2-40B4-BE49-F238E27FC236}">
                <a16:creationId xmlns:a16="http://schemas.microsoft.com/office/drawing/2014/main" id="{EB5C0F32-7D40-29A5-B068-07004D62BD5B}"/>
              </a:ext>
            </a:extLst>
          </p:cNvPr>
          <p:cNvCxnSpPr/>
          <p:nvPr/>
        </p:nvCxnSpPr>
        <p:spPr>
          <a:xfrm>
            <a:off x="1087120" y="3491131"/>
            <a:ext cx="568960" cy="18288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17" name="TextBox 16">
            <a:extLst>
              <a:ext uri="{FF2B5EF4-FFF2-40B4-BE49-F238E27FC236}">
                <a16:creationId xmlns:a16="http://schemas.microsoft.com/office/drawing/2014/main" id="{5DE9A80B-724D-F0B0-0DF2-47892C875A95}"/>
              </a:ext>
            </a:extLst>
          </p:cNvPr>
          <p:cNvSpPr txBox="1"/>
          <p:nvPr/>
        </p:nvSpPr>
        <p:spPr>
          <a:xfrm>
            <a:off x="0" y="3042473"/>
            <a:ext cx="1456779" cy="369332"/>
          </a:xfrm>
          <a:prstGeom prst="rect">
            <a:avLst/>
          </a:prstGeom>
          <a:noFill/>
        </p:spPr>
        <p:txBody>
          <a:bodyPr wrap="square" rtlCol="0">
            <a:spAutoFit/>
          </a:bodyPr>
          <a:lstStyle/>
          <a:p>
            <a:r>
              <a:rPr lang="zh-TW" altLang="en-US"/>
              <a:t>銅層厚度</a:t>
            </a:r>
            <a:endParaRPr lang="en-US"/>
          </a:p>
        </p:txBody>
      </p:sp>
      <p:cxnSp>
        <p:nvCxnSpPr>
          <p:cNvPr id="18" name="Straight Arrow Connector 17">
            <a:extLst>
              <a:ext uri="{FF2B5EF4-FFF2-40B4-BE49-F238E27FC236}">
                <a16:creationId xmlns:a16="http://schemas.microsoft.com/office/drawing/2014/main" id="{BC7C2A50-1EAD-55E8-89E5-D7E0AF9CA53E}"/>
              </a:ext>
            </a:extLst>
          </p:cNvPr>
          <p:cNvCxnSpPr/>
          <p:nvPr/>
        </p:nvCxnSpPr>
        <p:spPr>
          <a:xfrm>
            <a:off x="1109994" y="4056519"/>
            <a:ext cx="568960" cy="18288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19" name="TextBox 18">
            <a:extLst>
              <a:ext uri="{FF2B5EF4-FFF2-40B4-BE49-F238E27FC236}">
                <a16:creationId xmlns:a16="http://schemas.microsoft.com/office/drawing/2014/main" id="{38D5B32E-5C83-D683-F861-9F6644A97753}"/>
              </a:ext>
            </a:extLst>
          </p:cNvPr>
          <p:cNvSpPr txBox="1"/>
          <p:nvPr/>
        </p:nvSpPr>
        <p:spPr>
          <a:xfrm>
            <a:off x="0" y="3617685"/>
            <a:ext cx="1678954" cy="646331"/>
          </a:xfrm>
          <a:prstGeom prst="rect">
            <a:avLst/>
          </a:prstGeom>
          <a:noFill/>
        </p:spPr>
        <p:txBody>
          <a:bodyPr wrap="square" rtlCol="0">
            <a:spAutoFit/>
          </a:bodyPr>
          <a:lstStyle/>
          <a:p>
            <a:r>
              <a:rPr lang="zh-TW" altLang="en-US"/>
              <a:t>元件 工作時的溫升</a:t>
            </a:r>
            <a:endParaRPr lang="en-US"/>
          </a:p>
        </p:txBody>
      </p:sp>
      <p:cxnSp>
        <p:nvCxnSpPr>
          <p:cNvPr id="20" name="Straight Arrow Connector 19">
            <a:extLst>
              <a:ext uri="{FF2B5EF4-FFF2-40B4-BE49-F238E27FC236}">
                <a16:creationId xmlns:a16="http://schemas.microsoft.com/office/drawing/2014/main" id="{436676D8-0CBF-B205-5172-C22FFE41FA8A}"/>
              </a:ext>
            </a:extLst>
          </p:cNvPr>
          <p:cNvCxnSpPr/>
          <p:nvPr/>
        </p:nvCxnSpPr>
        <p:spPr>
          <a:xfrm>
            <a:off x="1087120" y="4670021"/>
            <a:ext cx="568960" cy="18288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21" name="TextBox 20">
            <a:extLst>
              <a:ext uri="{FF2B5EF4-FFF2-40B4-BE49-F238E27FC236}">
                <a16:creationId xmlns:a16="http://schemas.microsoft.com/office/drawing/2014/main" id="{495708E7-1996-C832-3DE6-0553AA71E9C8}"/>
              </a:ext>
            </a:extLst>
          </p:cNvPr>
          <p:cNvSpPr txBox="1"/>
          <p:nvPr/>
        </p:nvSpPr>
        <p:spPr>
          <a:xfrm>
            <a:off x="-28282" y="4456885"/>
            <a:ext cx="1636887" cy="369332"/>
          </a:xfrm>
          <a:prstGeom prst="rect">
            <a:avLst/>
          </a:prstGeom>
          <a:noFill/>
        </p:spPr>
        <p:txBody>
          <a:bodyPr wrap="square" rtlCol="0">
            <a:spAutoFit/>
          </a:bodyPr>
          <a:lstStyle/>
          <a:p>
            <a:r>
              <a:rPr lang="zh-TW" altLang="en-US"/>
              <a:t>環境溫度</a:t>
            </a:r>
            <a:endParaRPr lang="en-US"/>
          </a:p>
        </p:txBody>
      </p:sp>
      <p:cxnSp>
        <p:nvCxnSpPr>
          <p:cNvPr id="22" name="Straight Arrow Connector 21">
            <a:extLst>
              <a:ext uri="{FF2B5EF4-FFF2-40B4-BE49-F238E27FC236}">
                <a16:creationId xmlns:a16="http://schemas.microsoft.com/office/drawing/2014/main" id="{92F9D7B1-CDC7-26D7-4B68-D644E2F1EB7A}"/>
              </a:ext>
            </a:extLst>
          </p:cNvPr>
          <p:cNvCxnSpPr/>
          <p:nvPr/>
        </p:nvCxnSpPr>
        <p:spPr>
          <a:xfrm>
            <a:off x="1073830" y="5150956"/>
            <a:ext cx="568960" cy="18288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23" name="TextBox 22">
            <a:extLst>
              <a:ext uri="{FF2B5EF4-FFF2-40B4-BE49-F238E27FC236}">
                <a16:creationId xmlns:a16="http://schemas.microsoft.com/office/drawing/2014/main" id="{6BEABF01-D134-1F22-814C-3CB37A3E281E}"/>
              </a:ext>
            </a:extLst>
          </p:cNvPr>
          <p:cNvSpPr txBox="1"/>
          <p:nvPr/>
        </p:nvSpPr>
        <p:spPr>
          <a:xfrm>
            <a:off x="-28282" y="4975244"/>
            <a:ext cx="1102112" cy="369332"/>
          </a:xfrm>
          <a:prstGeom prst="rect">
            <a:avLst/>
          </a:prstGeom>
          <a:noFill/>
        </p:spPr>
        <p:txBody>
          <a:bodyPr wrap="square" rtlCol="0">
            <a:spAutoFit/>
          </a:bodyPr>
          <a:lstStyle/>
          <a:p>
            <a:r>
              <a:rPr lang="zh-TW" altLang="en-US"/>
              <a:t>走線長度</a:t>
            </a:r>
            <a:endParaRPr lang="en-US"/>
          </a:p>
        </p:txBody>
      </p:sp>
    </p:spTree>
    <p:extLst>
      <p:ext uri="{BB962C8B-B14F-4D97-AF65-F5344CB8AC3E}">
        <p14:creationId xmlns:p14="http://schemas.microsoft.com/office/powerpoint/2010/main" val="390989514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24CD3F-1993-AABC-CE62-0FFDB98EC29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60EFF96-F9C2-FD5C-5547-7C45100595E5}"/>
              </a:ext>
            </a:extLst>
          </p:cNvPr>
          <p:cNvSpPr>
            <a:spLocks noGrp="1"/>
          </p:cNvSpPr>
          <p:nvPr>
            <p:ph type="title"/>
          </p:nvPr>
        </p:nvSpPr>
        <p:spPr>
          <a:xfrm>
            <a:off x="0" y="0"/>
            <a:ext cx="12192000" cy="751840"/>
          </a:xfrm>
        </p:spPr>
        <p:txBody>
          <a:bodyPr>
            <a:normAutofit/>
          </a:bodyPr>
          <a:lstStyle/>
          <a:p>
            <a:r>
              <a:rPr lang="zh-TW" altLang="en-US"/>
              <a:t>基礎佈線：計算 走線 </a:t>
            </a:r>
            <a:r>
              <a:rPr lang="en-US" altLang="zh-TW"/>
              <a:t>(Track) </a:t>
            </a:r>
            <a:r>
              <a:rPr lang="zh-TW" altLang="en-US"/>
              <a:t>寬度</a:t>
            </a:r>
            <a:endParaRPr lang="en-US"/>
          </a:p>
        </p:txBody>
      </p:sp>
      <p:sp>
        <p:nvSpPr>
          <p:cNvPr id="5" name="TextBox 4">
            <a:extLst>
              <a:ext uri="{FF2B5EF4-FFF2-40B4-BE49-F238E27FC236}">
                <a16:creationId xmlns:a16="http://schemas.microsoft.com/office/drawing/2014/main" id="{9F276AC8-4DCF-3F32-E50A-DC4502EEA7AA}"/>
              </a:ext>
            </a:extLst>
          </p:cNvPr>
          <p:cNvSpPr txBox="1"/>
          <p:nvPr/>
        </p:nvSpPr>
        <p:spPr>
          <a:xfrm>
            <a:off x="-61371" y="792085"/>
            <a:ext cx="12016917" cy="369332"/>
          </a:xfrm>
          <a:prstGeom prst="rect">
            <a:avLst/>
          </a:prstGeom>
          <a:noFill/>
        </p:spPr>
        <p:txBody>
          <a:bodyPr wrap="square">
            <a:spAutoFit/>
          </a:bodyPr>
          <a:lstStyle/>
          <a:p>
            <a:r>
              <a:rPr lang="en-US"/>
              <a:t>https://www.digikey.com/en/resources/conversion-calculators/conversion-calculator-pcb-trace-width</a:t>
            </a:r>
          </a:p>
        </p:txBody>
      </p:sp>
      <p:grpSp>
        <p:nvGrpSpPr>
          <p:cNvPr id="6" name="Group 5">
            <a:extLst>
              <a:ext uri="{FF2B5EF4-FFF2-40B4-BE49-F238E27FC236}">
                <a16:creationId xmlns:a16="http://schemas.microsoft.com/office/drawing/2014/main" id="{91365354-6D6F-A585-0C8D-E2FAEB359A3C}"/>
              </a:ext>
            </a:extLst>
          </p:cNvPr>
          <p:cNvGrpSpPr/>
          <p:nvPr/>
        </p:nvGrpSpPr>
        <p:grpSpPr>
          <a:xfrm>
            <a:off x="2073115" y="1166492"/>
            <a:ext cx="7043799" cy="5308783"/>
            <a:chOff x="2073115" y="1166492"/>
            <a:chExt cx="7043799" cy="5308783"/>
          </a:xfrm>
        </p:grpSpPr>
        <p:sp>
          <p:nvSpPr>
            <p:cNvPr id="7" name="Rectangle 6">
              <a:extLst>
                <a:ext uri="{FF2B5EF4-FFF2-40B4-BE49-F238E27FC236}">
                  <a16:creationId xmlns:a16="http://schemas.microsoft.com/office/drawing/2014/main" id="{3EE14811-3E04-32FD-8230-D4CC58C9CE0B}"/>
                </a:ext>
              </a:extLst>
            </p:cNvPr>
            <p:cNvSpPr/>
            <p:nvPr/>
          </p:nvSpPr>
          <p:spPr>
            <a:xfrm>
              <a:off x="5922042" y="2247959"/>
              <a:ext cx="920364" cy="2041451"/>
            </a:xfrm>
            <a:prstGeom prst="rect">
              <a:avLst/>
            </a:prstGeom>
            <a:noFill/>
            <a:ln w="3175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TextBox 11">
              <a:extLst>
                <a:ext uri="{FF2B5EF4-FFF2-40B4-BE49-F238E27FC236}">
                  <a16:creationId xmlns:a16="http://schemas.microsoft.com/office/drawing/2014/main" id="{77CF3DC6-EA38-0518-CD27-CF7093ED73A8}"/>
                </a:ext>
              </a:extLst>
            </p:cNvPr>
            <p:cNvSpPr txBox="1"/>
            <p:nvPr/>
          </p:nvSpPr>
          <p:spPr>
            <a:xfrm>
              <a:off x="5947088" y="1878627"/>
              <a:ext cx="920364" cy="369332"/>
            </a:xfrm>
            <a:prstGeom prst="rect">
              <a:avLst/>
            </a:prstGeom>
            <a:noFill/>
          </p:spPr>
          <p:txBody>
            <a:bodyPr wrap="square" rtlCol="0">
              <a:spAutoFit/>
            </a:bodyPr>
            <a:lstStyle/>
            <a:p>
              <a:r>
                <a:rPr lang="zh-TW" altLang="en-US">
                  <a:solidFill>
                    <a:schemeClr val="bg1"/>
                  </a:solidFill>
                </a:rPr>
                <a:t>晶振</a:t>
              </a:r>
              <a:endParaRPr lang="en-US">
                <a:solidFill>
                  <a:schemeClr val="bg1"/>
                </a:solidFill>
              </a:endParaRPr>
            </a:p>
          </p:txBody>
        </p:sp>
        <p:cxnSp>
          <p:nvCxnSpPr>
            <p:cNvPr id="13" name="Straight Arrow Connector 12">
              <a:extLst>
                <a:ext uri="{FF2B5EF4-FFF2-40B4-BE49-F238E27FC236}">
                  <a16:creationId xmlns:a16="http://schemas.microsoft.com/office/drawing/2014/main" id="{4B262396-312B-FF52-E6E7-55F09C809AB4}"/>
                </a:ext>
              </a:extLst>
            </p:cNvPr>
            <p:cNvCxnSpPr/>
            <p:nvPr/>
          </p:nvCxnSpPr>
          <p:spPr>
            <a:xfrm>
              <a:off x="3199390" y="2813059"/>
              <a:ext cx="568960" cy="18288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15" name="TextBox 14">
              <a:extLst>
                <a:ext uri="{FF2B5EF4-FFF2-40B4-BE49-F238E27FC236}">
                  <a16:creationId xmlns:a16="http://schemas.microsoft.com/office/drawing/2014/main" id="{B2AAB0BE-6BD6-850F-F738-E2ED53003C40}"/>
                </a:ext>
              </a:extLst>
            </p:cNvPr>
            <p:cNvSpPr txBox="1"/>
            <p:nvPr/>
          </p:nvSpPr>
          <p:spPr>
            <a:xfrm>
              <a:off x="2150598" y="2430551"/>
              <a:ext cx="1517162" cy="369332"/>
            </a:xfrm>
            <a:prstGeom prst="rect">
              <a:avLst/>
            </a:prstGeom>
            <a:noFill/>
          </p:spPr>
          <p:txBody>
            <a:bodyPr wrap="square" rtlCol="0">
              <a:spAutoFit/>
            </a:bodyPr>
            <a:lstStyle/>
            <a:p>
              <a:r>
                <a:rPr lang="zh-TW" altLang="en-US"/>
                <a:t>內部走線</a:t>
              </a:r>
              <a:endParaRPr lang="en-US"/>
            </a:p>
          </p:txBody>
        </p:sp>
        <p:cxnSp>
          <p:nvCxnSpPr>
            <p:cNvPr id="16" name="Straight Arrow Connector 15">
              <a:extLst>
                <a:ext uri="{FF2B5EF4-FFF2-40B4-BE49-F238E27FC236}">
                  <a16:creationId xmlns:a16="http://schemas.microsoft.com/office/drawing/2014/main" id="{FEC8331F-C68D-BDC4-E5C5-67B489AB0E59}"/>
                </a:ext>
              </a:extLst>
            </p:cNvPr>
            <p:cNvCxnSpPr/>
            <p:nvPr/>
          </p:nvCxnSpPr>
          <p:spPr>
            <a:xfrm>
              <a:off x="3199390" y="4303931"/>
              <a:ext cx="568960" cy="18288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17" name="TextBox 16">
              <a:extLst>
                <a:ext uri="{FF2B5EF4-FFF2-40B4-BE49-F238E27FC236}">
                  <a16:creationId xmlns:a16="http://schemas.microsoft.com/office/drawing/2014/main" id="{17D1DC6A-7451-624E-7776-A1B9DD80959D}"/>
                </a:ext>
              </a:extLst>
            </p:cNvPr>
            <p:cNvSpPr txBox="1"/>
            <p:nvPr/>
          </p:nvSpPr>
          <p:spPr>
            <a:xfrm>
              <a:off x="2073115" y="3864971"/>
              <a:ext cx="1799330" cy="369332"/>
            </a:xfrm>
            <a:prstGeom prst="rect">
              <a:avLst/>
            </a:prstGeom>
            <a:noFill/>
          </p:spPr>
          <p:txBody>
            <a:bodyPr wrap="square" rtlCol="0">
              <a:spAutoFit/>
            </a:bodyPr>
            <a:lstStyle/>
            <a:p>
              <a:r>
                <a:rPr lang="zh-TW" altLang="en-US"/>
                <a:t>走線電阻</a:t>
              </a:r>
              <a:endParaRPr lang="en-US"/>
            </a:p>
          </p:txBody>
        </p:sp>
        <p:cxnSp>
          <p:nvCxnSpPr>
            <p:cNvPr id="18" name="Straight Arrow Connector 17">
              <a:extLst>
                <a:ext uri="{FF2B5EF4-FFF2-40B4-BE49-F238E27FC236}">
                  <a16:creationId xmlns:a16="http://schemas.microsoft.com/office/drawing/2014/main" id="{5570771D-A296-62FE-4FB3-5F2CFDBC1382}"/>
                </a:ext>
              </a:extLst>
            </p:cNvPr>
            <p:cNvCxnSpPr/>
            <p:nvPr/>
          </p:nvCxnSpPr>
          <p:spPr>
            <a:xfrm>
              <a:off x="3222264" y="4869319"/>
              <a:ext cx="568960" cy="18288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19" name="TextBox 18">
              <a:extLst>
                <a:ext uri="{FF2B5EF4-FFF2-40B4-BE49-F238E27FC236}">
                  <a16:creationId xmlns:a16="http://schemas.microsoft.com/office/drawing/2014/main" id="{976C8D6D-7281-2F29-5B59-68F7E918A92D}"/>
                </a:ext>
              </a:extLst>
            </p:cNvPr>
            <p:cNvSpPr txBox="1"/>
            <p:nvPr/>
          </p:nvSpPr>
          <p:spPr>
            <a:xfrm>
              <a:off x="2112270" y="4430485"/>
              <a:ext cx="1555490" cy="369332"/>
            </a:xfrm>
            <a:prstGeom prst="rect">
              <a:avLst/>
            </a:prstGeom>
            <a:noFill/>
          </p:spPr>
          <p:txBody>
            <a:bodyPr wrap="square" rtlCol="0">
              <a:spAutoFit/>
            </a:bodyPr>
            <a:lstStyle/>
            <a:p>
              <a:r>
                <a:rPr lang="zh-TW" altLang="en-US"/>
                <a:t>電壓降</a:t>
              </a:r>
              <a:endParaRPr lang="en-US"/>
            </a:p>
          </p:txBody>
        </p:sp>
        <p:cxnSp>
          <p:nvCxnSpPr>
            <p:cNvPr id="20" name="Straight Arrow Connector 19">
              <a:extLst>
                <a:ext uri="{FF2B5EF4-FFF2-40B4-BE49-F238E27FC236}">
                  <a16:creationId xmlns:a16="http://schemas.microsoft.com/office/drawing/2014/main" id="{E61A8EDD-B59B-F407-34A3-D5A6274B5E92}"/>
                </a:ext>
              </a:extLst>
            </p:cNvPr>
            <p:cNvCxnSpPr/>
            <p:nvPr/>
          </p:nvCxnSpPr>
          <p:spPr>
            <a:xfrm>
              <a:off x="3199390" y="5746981"/>
              <a:ext cx="568960" cy="18288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21" name="TextBox 20">
              <a:extLst>
                <a:ext uri="{FF2B5EF4-FFF2-40B4-BE49-F238E27FC236}">
                  <a16:creationId xmlns:a16="http://schemas.microsoft.com/office/drawing/2014/main" id="{2128309E-FC12-A7BD-AC1F-22E2DFA6805A}"/>
                </a:ext>
              </a:extLst>
            </p:cNvPr>
            <p:cNvSpPr txBox="1"/>
            <p:nvPr/>
          </p:nvSpPr>
          <p:spPr>
            <a:xfrm>
              <a:off x="2112270" y="5249309"/>
              <a:ext cx="1636887" cy="369332"/>
            </a:xfrm>
            <a:prstGeom prst="rect">
              <a:avLst/>
            </a:prstGeom>
            <a:noFill/>
          </p:spPr>
          <p:txBody>
            <a:bodyPr wrap="square" rtlCol="0">
              <a:spAutoFit/>
            </a:bodyPr>
            <a:lstStyle/>
            <a:p>
              <a:r>
                <a:rPr lang="zh-TW" altLang="en-US"/>
                <a:t>功率损耗</a:t>
              </a:r>
              <a:endParaRPr lang="en-US"/>
            </a:p>
          </p:txBody>
        </p:sp>
        <p:pic>
          <p:nvPicPr>
            <p:cNvPr id="4" name="Picture 3">
              <a:extLst>
                <a:ext uri="{FF2B5EF4-FFF2-40B4-BE49-F238E27FC236}">
                  <a16:creationId xmlns:a16="http://schemas.microsoft.com/office/drawing/2014/main" id="{C4E3B5B1-B1DB-CA10-2595-D0F1A296B6EF}"/>
                </a:ext>
              </a:extLst>
            </p:cNvPr>
            <p:cNvPicPr>
              <a:picLocks noChangeAspect="1"/>
            </p:cNvPicPr>
            <p:nvPr/>
          </p:nvPicPr>
          <p:blipFill>
            <a:blip r:embed="rId3"/>
            <a:stretch>
              <a:fillRect/>
            </a:stretch>
          </p:blipFill>
          <p:spPr>
            <a:xfrm>
              <a:off x="3791224" y="1166492"/>
              <a:ext cx="5325690" cy="5308783"/>
            </a:xfrm>
            <a:prstGeom prst="rect">
              <a:avLst/>
            </a:prstGeom>
          </p:spPr>
        </p:pic>
      </p:grpSp>
    </p:spTree>
    <p:extLst>
      <p:ext uri="{BB962C8B-B14F-4D97-AF65-F5344CB8AC3E}">
        <p14:creationId xmlns:p14="http://schemas.microsoft.com/office/powerpoint/2010/main" val="137262195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E68728-F7CE-DAC8-C315-ECAEE96E93B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EC6F05E-64B2-923A-AB8E-00EDEF2544EB}"/>
              </a:ext>
            </a:extLst>
          </p:cNvPr>
          <p:cNvSpPr>
            <a:spLocks noGrp="1"/>
          </p:cNvSpPr>
          <p:nvPr>
            <p:ph type="title"/>
          </p:nvPr>
        </p:nvSpPr>
        <p:spPr>
          <a:xfrm>
            <a:off x="0" y="0"/>
            <a:ext cx="12192000" cy="751840"/>
          </a:xfrm>
        </p:spPr>
        <p:txBody>
          <a:bodyPr>
            <a:normAutofit/>
          </a:bodyPr>
          <a:lstStyle/>
          <a:p>
            <a:r>
              <a:rPr lang="zh-TW" altLang="en-US"/>
              <a:t>基礎佈線：計算 走線 </a:t>
            </a:r>
            <a:r>
              <a:rPr lang="en-US" altLang="zh-TW"/>
              <a:t>(Track) </a:t>
            </a:r>
            <a:r>
              <a:rPr lang="zh-TW" altLang="en-US"/>
              <a:t>寬度</a:t>
            </a:r>
            <a:endParaRPr lang="en-US"/>
          </a:p>
        </p:txBody>
      </p:sp>
      <p:sp>
        <p:nvSpPr>
          <p:cNvPr id="5" name="TextBox 4">
            <a:extLst>
              <a:ext uri="{FF2B5EF4-FFF2-40B4-BE49-F238E27FC236}">
                <a16:creationId xmlns:a16="http://schemas.microsoft.com/office/drawing/2014/main" id="{9D163C3A-9AB0-DB54-70F1-1DF2E12E6689}"/>
              </a:ext>
            </a:extLst>
          </p:cNvPr>
          <p:cNvSpPr txBox="1"/>
          <p:nvPr/>
        </p:nvSpPr>
        <p:spPr>
          <a:xfrm>
            <a:off x="175082" y="602862"/>
            <a:ext cx="12016917" cy="369332"/>
          </a:xfrm>
          <a:prstGeom prst="rect">
            <a:avLst/>
          </a:prstGeom>
          <a:noFill/>
        </p:spPr>
        <p:txBody>
          <a:bodyPr wrap="square">
            <a:spAutoFit/>
          </a:bodyPr>
          <a:lstStyle/>
          <a:p>
            <a:r>
              <a:rPr lang="en-US"/>
              <a:t>https://www.digikey.com/en/resources/conversion-calculators/conversion-calculator-pcb-trace-width</a:t>
            </a:r>
          </a:p>
        </p:txBody>
      </p:sp>
      <p:cxnSp>
        <p:nvCxnSpPr>
          <p:cNvPr id="13" name="Straight Arrow Connector 12">
            <a:extLst>
              <a:ext uri="{FF2B5EF4-FFF2-40B4-BE49-F238E27FC236}">
                <a16:creationId xmlns:a16="http://schemas.microsoft.com/office/drawing/2014/main" id="{AFBDA735-4B1A-E9E7-9112-8EE8A8888B48}"/>
              </a:ext>
            </a:extLst>
          </p:cNvPr>
          <p:cNvCxnSpPr/>
          <p:nvPr/>
        </p:nvCxnSpPr>
        <p:spPr>
          <a:xfrm>
            <a:off x="3199390" y="2813059"/>
            <a:ext cx="568960" cy="18288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15" name="TextBox 14">
            <a:extLst>
              <a:ext uri="{FF2B5EF4-FFF2-40B4-BE49-F238E27FC236}">
                <a16:creationId xmlns:a16="http://schemas.microsoft.com/office/drawing/2014/main" id="{92B60C53-C641-FBCD-25DC-36386BB05AA8}"/>
              </a:ext>
            </a:extLst>
          </p:cNvPr>
          <p:cNvSpPr txBox="1"/>
          <p:nvPr/>
        </p:nvSpPr>
        <p:spPr>
          <a:xfrm>
            <a:off x="2073027" y="2408675"/>
            <a:ext cx="1517162" cy="369332"/>
          </a:xfrm>
          <a:prstGeom prst="rect">
            <a:avLst/>
          </a:prstGeom>
          <a:noFill/>
        </p:spPr>
        <p:txBody>
          <a:bodyPr wrap="square" rtlCol="0">
            <a:spAutoFit/>
          </a:bodyPr>
          <a:lstStyle/>
          <a:p>
            <a:r>
              <a:rPr lang="zh-TW" altLang="en-US"/>
              <a:t>外部走線</a:t>
            </a:r>
            <a:endParaRPr lang="en-US"/>
          </a:p>
        </p:txBody>
      </p:sp>
      <p:cxnSp>
        <p:nvCxnSpPr>
          <p:cNvPr id="16" name="Straight Arrow Connector 15">
            <a:extLst>
              <a:ext uri="{FF2B5EF4-FFF2-40B4-BE49-F238E27FC236}">
                <a16:creationId xmlns:a16="http://schemas.microsoft.com/office/drawing/2014/main" id="{31704353-C085-FFAD-F5FD-5A75D9F40A83}"/>
              </a:ext>
            </a:extLst>
          </p:cNvPr>
          <p:cNvCxnSpPr/>
          <p:nvPr/>
        </p:nvCxnSpPr>
        <p:spPr>
          <a:xfrm>
            <a:off x="3199390" y="4303931"/>
            <a:ext cx="568960" cy="18288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17" name="TextBox 16">
            <a:extLst>
              <a:ext uri="{FF2B5EF4-FFF2-40B4-BE49-F238E27FC236}">
                <a16:creationId xmlns:a16="http://schemas.microsoft.com/office/drawing/2014/main" id="{DF3A5478-0EF4-861D-0193-349C6AB1210B}"/>
              </a:ext>
            </a:extLst>
          </p:cNvPr>
          <p:cNvSpPr txBox="1"/>
          <p:nvPr/>
        </p:nvSpPr>
        <p:spPr>
          <a:xfrm>
            <a:off x="2073115" y="3864971"/>
            <a:ext cx="1799330" cy="369332"/>
          </a:xfrm>
          <a:prstGeom prst="rect">
            <a:avLst/>
          </a:prstGeom>
          <a:noFill/>
        </p:spPr>
        <p:txBody>
          <a:bodyPr wrap="square" rtlCol="0">
            <a:spAutoFit/>
          </a:bodyPr>
          <a:lstStyle/>
          <a:p>
            <a:r>
              <a:rPr lang="zh-TW" altLang="en-US"/>
              <a:t>走線電阻</a:t>
            </a:r>
            <a:endParaRPr lang="en-US"/>
          </a:p>
        </p:txBody>
      </p:sp>
      <p:cxnSp>
        <p:nvCxnSpPr>
          <p:cNvPr id="18" name="Straight Arrow Connector 17">
            <a:extLst>
              <a:ext uri="{FF2B5EF4-FFF2-40B4-BE49-F238E27FC236}">
                <a16:creationId xmlns:a16="http://schemas.microsoft.com/office/drawing/2014/main" id="{55B8CFF1-716B-749C-7F47-5B4F30C0F785}"/>
              </a:ext>
            </a:extLst>
          </p:cNvPr>
          <p:cNvCxnSpPr/>
          <p:nvPr/>
        </p:nvCxnSpPr>
        <p:spPr>
          <a:xfrm>
            <a:off x="3222264" y="4869319"/>
            <a:ext cx="568960" cy="18288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19" name="TextBox 18">
            <a:extLst>
              <a:ext uri="{FF2B5EF4-FFF2-40B4-BE49-F238E27FC236}">
                <a16:creationId xmlns:a16="http://schemas.microsoft.com/office/drawing/2014/main" id="{8CD14023-F1C0-8433-F7B4-BDF5F1A6775A}"/>
              </a:ext>
            </a:extLst>
          </p:cNvPr>
          <p:cNvSpPr txBox="1"/>
          <p:nvPr/>
        </p:nvSpPr>
        <p:spPr>
          <a:xfrm>
            <a:off x="2073115" y="4401432"/>
            <a:ext cx="1555490" cy="369332"/>
          </a:xfrm>
          <a:prstGeom prst="rect">
            <a:avLst/>
          </a:prstGeom>
          <a:noFill/>
        </p:spPr>
        <p:txBody>
          <a:bodyPr wrap="square" rtlCol="0">
            <a:spAutoFit/>
          </a:bodyPr>
          <a:lstStyle/>
          <a:p>
            <a:r>
              <a:rPr lang="zh-TW" altLang="en-US"/>
              <a:t>電壓降</a:t>
            </a:r>
            <a:endParaRPr lang="en-US"/>
          </a:p>
        </p:txBody>
      </p:sp>
      <p:cxnSp>
        <p:nvCxnSpPr>
          <p:cNvPr id="20" name="Straight Arrow Connector 19">
            <a:extLst>
              <a:ext uri="{FF2B5EF4-FFF2-40B4-BE49-F238E27FC236}">
                <a16:creationId xmlns:a16="http://schemas.microsoft.com/office/drawing/2014/main" id="{8DBA1FD2-79D4-0F06-82DD-B631192D43E4}"/>
              </a:ext>
            </a:extLst>
          </p:cNvPr>
          <p:cNvCxnSpPr/>
          <p:nvPr/>
        </p:nvCxnSpPr>
        <p:spPr>
          <a:xfrm>
            <a:off x="3199390" y="5746981"/>
            <a:ext cx="568960" cy="18288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21" name="TextBox 20">
            <a:extLst>
              <a:ext uri="{FF2B5EF4-FFF2-40B4-BE49-F238E27FC236}">
                <a16:creationId xmlns:a16="http://schemas.microsoft.com/office/drawing/2014/main" id="{EE427F4D-E2FE-942C-FD48-0E209A5FA133}"/>
              </a:ext>
            </a:extLst>
          </p:cNvPr>
          <p:cNvSpPr txBox="1"/>
          <p:nvPr/>
        </p:nvSpPr>
        <p:spPr>
          <a:xfrm>
            <a:off x="2073027" y="5221114"/>
            <a:ext cx="1636887" cy="369332"/>
          </a:xfrm>
          <a:prstGeom prst="rect">
            <a:avLst/>
          </a:prstGeom>
          <a:noFill/>
        </p:spPr>
        <p:txBody>
          <a:bodyPr wrap="square" rtlCol="0">
            <a:spAutoFit/>
          </a:bodyPr>
          <a:lstStyle/>
          <a:p>
            <a:r>
              <a:rPr lang="zh-TW" altLang="en-US"/>
              <a:t>功率損耗</a:t>
            </a:r>
            <a:endParaRPr lang="en-US"/>
          </a:p>
        </p:txBody>
      </p:sp>
      <p:pic>
        <p:nvPicPr>
          <p:cNvPr id="8" name="Picture 7">
            <a:extLst>
              <a:ext uri="{FF2B5EF4-FFF2-40B4-BE49-F238E27FC236}">
                <a16:creationId xmlns:a16="http://schemas.microsoft.com/office/drawing/2014/main" id="{BF034A99-9E13-C31A-A27C-582997B71D77}"/>
              </a:ext>
            </a:extLst>
          </p:cNvPr>
          <p:cNvPicPr>
            <a:picLocks noChangeAspect="1"/>
          </p:cNvPicPr>
          <p:nvPr/>
        </p:nvPicPr>
        <p:blipFill>
          <a:blip r:embed="rId3"/>
          <a:stretch>
            <a:fillRect/>
          </a:stretch>
        </p:blipFill>
        <p:spPr>
          <a:xfrm>
            <a:off x="3791224" y="972194"/>
            <a:ext cx="5877745" cy="5696745"/>
          </a:xfrm>
          <a:prstGeom prst="rect">
            <a:avLst/>
          </a:prstGeom>
        </p:spPr>
      </p:pic>
    </p:spTree>
    <p:extLst>
      <p:ext uri="{BB962C8B-B14F-4D97-AF65-F5344CB8AC3E}">
        <p14:creationId xmlns:p14="http://schemas.microsoft.com/office/powerpoint/2010/main" val="136568582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D97077-9188-4732-D3A9-0BDD99A03B3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A8A7659-CCCF-5882-3CB6-358AA88DAE65}"/>
              </a:ext>
            </a:extLst>
          </p:cNvPr>
          <p:cNvSpPr>
            <a:spLocks noGrp="1"/>
          </p:cNvSpPr>
          <p:nvPr>
            <p:ph type="title"/>
          </p:nvPr>
        </p:nvSpPr>
        <p:spPr>
          <a:xfrm>
            <a:off x="0" y="-1"/>
            <a:ext cx="12192000" cy="1371601"/>
          </a:xfrm>
        </p:spPr>
        <p:txBody>
          <a:bodyPr>
            <a:normAutofit/>
          </a:bodyPr>
          <a:lstStyle/>
          <a:p>
            <a:r>
              <a:rPr lang="zh-TW" altLang="en-US" sz="4000"/>
              <a:t>基礎佈線：確保訊號完整性的圖層切換與過孔管理</a:t>
            </a:r>
            <a:endParaRPr lang="en-US" sz="4000"/>
          </a:p>
        </p:txBody>
      </p:sp>
      <p:sp>
        <p:nvSpPr>
          <p:cNvPr id="6" name="Rectangle 5">
            <a:extLst>
              <a:ext uri="{FF2B5EF4-FFF2-40B4-BE49-F238E27FC236}">
                <a16:creationId xmlns:a16="http://schemas.microsoft.com/office/drawing/2014/main" id="{03CF4442-9C38-9FB6-B53E-457AF2ADD97C}"/>
              </a:ext>
            </a:extLst>
          </p:cNvPr>
          <p:cNvSpPr/>
          <p:nvPr/>
        </p:nvSpPr>
        <p:spPr>
          <a:xfrm>
            <a:off x="481781" y="6363274"/>
            <a:ext cx="1505646" cy="494726"/>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TextBox 11">
            <a:extLst>
              <a:ext uri="{FF2B5EF4-FFF2-40B4-BE49-F238E27FC236}">
                <a16:creationId xmlns:a16="http://schemas.microsoft.com/office/drawing/2014/main" id="{2BCC6D85-5165-ED6E-D7DF-5ECD1674150C}"/>
              </a:ext>
            </a:extLst>
          </p:cNvPr>
          <p:cNvSpPr txBox="1"/>
          <p:nvPr/>
        </p:nvSpPr>
        <p:spPr>
          <a:xfrm>
            <a:off x="6566848" y="1746547"/>
            <a:ext cx="920364" cy="369332"/>
          </a:xfrm>
          <a:prstGeom prst="rect">
            <a:avLst/>
          </a:prstGeom>
          <a:noFill/>
        </p:spPr>
        <p:txBody>
          <a:bodyPr wrap="square" rtlCol="0">
            <a:spAutoFit/>
          </a:bodyPr>
          <a:lstStyle/>
          <a:p>
            <a:r>
              <a:rPr lang="zh-TW" altLang="en-US">
                <a:solidFill>
                  <a:schemeClr val="bg1"/>
                </a:solidFill>
              </a:rPr>
              <a:t>晶振</a:t>
            </a:r>
            <a:endParaRPr lang="en-US">
              <a:solidFill>
                <a:schemeClr val="bg1"/>
              </a:solidFill>
            </a:endParaRPr>
          </a:p>
        </p:txBody>
      </p:sp>
      <p:pic>
        <p:nvPicPr>
          <p:cNvPr id="5" name="Picture 4">
            <a:extLst>
              <a:ext uri="{FF2B5EF4-FFF2-40B4-BE49-F238E27FC236}">
                <a16:creationId xmlns:a16="http://schemas.microsoft.com/office/drawing/2014/main" id="{0A9027CC-1400-05F8-DA64-5E7B7F36578F}"/>
              </a:ext>
            </a:extLst>
          </p:cNvPr>
          <p:cNvPicPr>
            <a:picLocks noChangeAspect="1"/>
          </p:cNvPicPr>
          <p:nvPr/>
        </p:nvPicPr>
        <p:blipFill>
          <a:blip r:embed="rId3"/>
          <a:stretch>
            <a:fillRect/>
          </a:stretch>
        </p:blipFill>
        <p:spPr>
          <a:xfrm>
            <a:off x="172720" y="3791995"/>
            <a:ext cx="5138293" cy="2273643"/>
          </a:xfrm>
          <a:prstGeom prst="rect">
            <a:avLst/>
          </a:prstGeom>
        </p:spPr>
      </p:pic>
      <p:sp>
        <p:nvSpPr>
          <p:cNvPr id="8" name="TextBox 7">
            <a:extLst>
              <a:ext uri="{FF2B5EF4-FFF2-40B4-BE49-F238E27FC236}">
                <a16:creationId xmlns:a16="http://schemas.microsoft.com/office/drawing/2014/main" id="{409C2A7D-0F25-47AC-C7F8-16B328CC1943}"/>
              </a:ext>
            </a:extLst>
          </p:cNvPr>
          <p:cNvSpPr txBox="1"/>
          <p:nvPr/>
        </p:nvSpPr>
        <p:spPr>
          <a:xfrm>
            <a:off x="172720" y="6075680"/>
            <a:ext cx="5140960" cy="369332"/>
          </a:xfrm>
          <a:prstGeom prst="rect">
            <a:avLst/>
          </a:prstGeom>
          <a:noFill/>
        </p:spPr>
        <p:txBody>
          <a:bodyPr wrap="square" rtlCol="0">
            <a:spAutoFit/>
          </a:bodyPr>
          <a:lstStyle/>
          <a:p>
            <a:r>
              <a:rPr lang="zh-TW" altLang="en-US"/>
              <a:t>差分對訊號過孔</a:t>
            </a:r>
            <a:endParaRPr lang="en-US"/>
          </a:p>
        </p:txBody>
      </p:sp>
      <p:pic>
        <p:nvPicPr>
          <p:cNvPr id="10" name="Picture 9">
            <a:extLst>
              <a:ext uri="{FF2B5EF4-FFF2-40B4-BE49-F238E27FC236}">
                <a16:creationId xmlns:a16="http://schemas.microsoft.com/office/drawing/2014/main" id="{686C967C-B267-3580-5E0D-150ADB7C81BF}"/>
              </a:ext>
            </a:extLst>
          </p:cNvPr>
          <p:cNvPicPr>
            <a:picLocks noChangeAspect="1"/>
          </p:cNvPicPr>
          <p:nvPr/>
        </p:nvPicPr>
        <p:blipFill>
          <a:blip r:embed="rId4"/>
          <a:stretch>
            <a:fillRect/>
          </a:stretch>
        </p:blipFill>
        <p:spPr>
          <a:xfrm>
            <a:off x="6096000" y="3791995"/>
            <a:ext cx="5138293" cy="2283685"/>
          </a:xfrm>
          <a:prstGeom prst="rect">
            <a:avLst/>
          </a:prstGeom>
        </p:spPr>
      </p:pic>
      <p:sp>
        <p:nvSpPr>
          <p:cNvPr id="11" name="TextBox 10">
            <a:extLst>
              <a:ext uri="{FF2B5EF4-FFF2-40B4-BE49-F238E27FC236}">
                <a16:creationId xmlns:a16="http://schemas.microsoft.com/office/drawing/2014/main" id="{FF101BF6-E005-1B46-6171-68294B1BE202}"/>
              </a:ext>
            </a:extLst>
          </p:cNvPr>
          <p:cNvSpPr txBox="1"/>
          <p:nvPr/>
        </p:nvSpPr>
        <p:spPr>
          <a:xfrm>
            <a:off x="6093333" y="6075680"/>
            <a:ext cx="5140960" cy="369332"/>
          </a:xfrm>
          <a:prstGeom prst="rect">
            <a:avLst/>
          </a:prstGeom>
          <a:noFill/>
        </p:spPr>
        <p:txBody>
          <a:bodyPr wrap="square" rtlCol="0">
            <a:spAutoFit/>
          </a:bodyPr>
          <a:lstStyle/>
          <a:p>
            <a:r>
              <a:rPr lang="zh-TW" altLang="en-US"/>
              <a:t>單端訊號過孔</a:t>
            </a:r>
            <a:endParaRPr lang="en-US"/>
          </a:p>
        </p:txBody>
      </p:sp>
      <p:sp>
        <p:nvSpPr>
          <p:cNvPr id="15" name="TextBox 14">
            <a:extLst>
              <a:ext uri="{FF2B5EF4-FFF2-40B4-BE49-F238E27FC236}">
                <a16:creationId xmlns:a16="http://schemas.microsoft.com/office/drawing/2014/main" id="{4F97DE7B-DF04-7FFA-D682-7525F635679C}"/>
              </a:ext>
            </a:extLst>
          </p:cNvPr>
          <p:cNvSpPr txBox="1"/>
          <p:nvPr/>
        </p:nvSpPr>
        <p:spPr>
          <a:xfrm>
            <a:off x="0" y="1469548"/>
            <a:ext cx="12192000" cy="1697644"/>
          </a:xfrm>
          <a:prstGeom prst="rect">
            <a:avLst/>
          </a:prstGeom>
          <a:noFill/>
        </p:spPr>
        <p:txBody>
          <a:bodyPr wrap="square">
            <a:spAutoFit/>
          </a:bodyPr>
          <a:lstStyle/>
          <a:p>
            <a:pPr>
              <a:lnSpc>
                <a:spcPct val="150000"/>
              </a:lnSpc>
            </a:pPr>
            <a:r>
              <a:rPr lang="zh-TW" altLang="en-US" sz="2400"/>
              <a:t>為了確保迴流路徑 </a:t>
            </a:r>
            <a:r>
              <a:rPr lang="en-US" altLang="zh-TW" sz="2400"/>
              <a:t>(</a:t>
            </a:r>
            <a:r>
              <a:rPr lang="en-US" sz="2400"/>
              <a:t>Return path) </a:t>
            </a:r>
            <a:r>
              <a:rPr lang="zh-TW" altLang="en-US" sz="2400"/>
              <a:t>的連續性並儘可能減少 串音 </a:t>
            </a:r>
            <a:r>
              <a:rPr lang="en-US" altLang="zh-TW" sz="2400"/>
              <a:t>(</a:t>
            </a:r>
            <a:r>
              <a:rPr lang="en-US" sz="2400"/>
              <a:t>Crosstalk)，</a:t>
            </a:r>
            <a:r>
              <a:rPr lang="zh-TW" altLang="en-US" sz="2400"/>
              <a:t>在切換 圖層 </a:t>
            </a:r>
            <a:r>
              <a:rPr lang="en-US" altLang="zh-TW" sz="2400"/>
              <a:t>(</a:t>
            </a:r>
            <a:r>
              <a:rPr lang="en-US" sz="2400"/>
              <a:t>Layers) </a:t>
            </a:r>
            <a:r>
              <a:rPr lang="zh-TW" altLang="en-US" sz="2400"/>
              <a:t>時，應在任何訊號 過孔 </a:t>
            </a:r>
            <a:r>
              <a:rPr lang="en-US" altLang="zh-TW" sz="2400"/>
              <a:t>(</a:t>
            </a:r>
            <a:r>
              <a:rPr lang="en-US" sz="2400"/>
              <a:t>Signal via) </a:t>
            </a:r>
            <a:r>
              <a:rPr lang="zh-TW" altLang="en-US" sz="2400"/>
              <a:t>附近放置一個接地 過孔 </a:t>
            </a:r>
            <a:r>
              <a:rPr lang="en-US" altLang="zh-TW" sz="2400"/>
              <a:t>(</a:t>
            </a:r>
            <a:r>
              <a:rPr lang="en-US" sz="2400"/>
              <a:t>Ground via)，</a:t>
            </a:r>
            <a:r>
              <a:rPr lang="zh-TW" altLang="en-US" sz="2400"/>
              <a:t>並保持 差分對 </a:t>
            </a:r>
            <a:r>
              <a:rPr lang="en-US" altLang="zh-TW" sz="2400"/>
              <a:t>(</a:t>
            </a:r>
            <a:r>
              <a:rPr lang="en-US" sz="2400"/>
              <a:t>Differential pairs) </a:t>
            </a:r>
            <a:r>
              <a:rPr lang="zh-TW" altLang="en-US" sz="2400"/>
              <a:t>的對稱性</a:t>
            </a:r>
            <a:endParaRPr lang="en-US" sz="240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73266789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792035B-6C42-C3B4-3B6A-3EA5DA9BEB6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7F7C68F-41E7-7915-5D59-F5A5C717E312}"/>
              </a:ext>
            </a:extLst>
          </p:cNvPr>
          <p:cNvSpPr>
            <a:spLocks noGrp="1"/>
          </p:cNvSpPr>
          <p:nvPr>
            <p:ph type="title"/>
          </p:nvPr>
        </p:nvSpPr>
        <p:spPr>
          <a:xfrm>
            <a:off x="0" y="0"/>
            <a:ext cx="12192000" cy="751841"/>
          </a:xfrm>
        </p:spPr>
        <p:txBody>
          <a:bodyPr>
            <a:noAutofit/>
          </a:bodyPr>
          <a:lstStyle/>
          <a:p>
            <a:r>
              <a:rPr lang="en-US" sz="4000"/>
              <a:t>PCB </a:t>
            </a:r>
            <a:r>
              <a:rPr lang="zh-TW" altLang="en-US" sz="4000"/>
              <a:t>分迴技術</a:t>
            </a:r>
            <a:endParaRPr lang="en-US" sz="4000"/>
          </a:p>
        </p:txBody>
      </p:sp>
      <p:sp>
        <p:nvSpPr>
          <p:cNvPr id="6" name="Rectangle 5">
            <a:extLst>
              <a:ext uri="{FF2B5EF4-FFF2-40B4-BE49-F238E27FC236}">
                <a16:creationId xmlns:a16="http://schemas.microsoft.com/office/drawing/2014/main" id="{60A70150-832F-796A-CB4F-A0A228844466}"/>
              </a:ext>
            </a:extLst>
          </p:cNvPr>
          <p:cNvSpPr/>
          <p:nvPr/>
        </p:nvSpPr>
        <p:spPr>
          <a:xfrm>
            <a:off x="481781" y="6363274"/>
            <a:ext cx="1505646" cy="494726"/>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0" name="Group 9">
            <a:extLst>
              <a:ext uri="{FF2B5EF4-FFF2-40B4-BE49-F238E27FC236}">
                <a16:creationId xmlns:a16="http://schemas.microsoft.com/office/drawing/2014/main" id="{0C56690A-AFDE-97EF-C6ED-7277C382E619}"/>
              </a:ext>
            </a:extLst>
          </p:cNvPr>
          <p:cNvGrpSpPr/>
          <p:nvPr/>
        </p:nvGrpSpPr>
        <p:grpSpPr>
          <a:xfrm>
            <a:off x="269557" y="968314"/>
            <a:ext cx="4563238" cy="5394960"/>
            <a:chOff x="3358197" y="1290320"/>
            <a:chExt cx="4563238" cy="5394960"/>
          </a:xfrm>
        </p:grpSpPr>
        <p:pic>
          <p:nvPicPr>
            <p:cNvPr id="4" name="Picture 3">
              <a:extLst>
                <a:ext uri="{FF2B5EF4-FFF2-40B4-BE49-F238E27FC236}">
                  <a16:creationId xmlns:a16="http://schemas.microsoft.com/office/drawing/2014/main" id="{DE42B64D-BE8D-B523-E0D5-9AD7611BCCD4}"/>
                </a:ext>
              </a:extLst>
            </p:cNvPr>
            <p:cNvPicPr>
              <a:picLocks noChangeAspect="1"/>
            </p:cNvPicPr>
            <p:nvPr/>
          </p:nvPicPr>
          <p:blipFill>
            <a:blip r:embed="rId3"/>
            <a:stretch>
              <a:fillRect/>
            </a:stretch>
          </p:blipFill>
          <p:spPr>
            <a:xfrm>
              <a:off x="3358197" y="1290320"/>
              <a:ext cx="4563238" cy="5394960"/>
            </a:xfrm>
            <a:prstGeom prst="rect">
              <a:avLst/>
            </a:prstGeom>
          </p:spPr>
        </p:pic>
        <p:sp>
          <p:nvSpPr>
            <p:cNvPr id="5" name="TextBox 4">
              <a:extLst>
                <a:ext uri="{FF2B5EF4-FFF2-40B4-BE49-F238E27FC236}">
                  <a16:creationId xmlns:a16="http://schemas.microsoft.com/office/drawing/2014/main" id="{F2EF061D-23CB-D85E-CCF1-BDCFCE27720B}"/>
                </a:ext>
              </a:extLst>
            </p:cNvPr>
            <p:cNvSpPr txBox="1"/>
            <p:nvPr/>
          </p:nvSpPr>
          <p:spPr>
            <a:xfrm>
              <a:off x="4886960" y="2016656"/>
              <a:ext cx="1706880" cy="369332"/>
            </a:xfrm>
            <a:prstGeom prst="rect">
              <a:avLst/>
            </a:prstGeom>
            <a:solidFill>
              <a:schemeClr val="bg1"/>
            </a:solidFill>
          </p:spPr>
          <p:txBody>
            <a:bodyPr wrap="square" rtlCol="0">
              <a:spAutoFit/>
            </a:bodyPr>
            <a:lstStyle/>
            <a:p>
              <a:pPr algn="ctr"/>
              <a:r>
                <a:rPr lang="zh-TW" altLang="en-US"/>
                <a:t>最高速 元件</a:t>
              </a:r>
              <a:endParaRPr lang="en-US"/>
            </a:p>
          </p:txBody>
        </p:sp>
        <p:sp>
          <p:nvSpPr>
            <p:cNvPr id="7" name="TextBox 6">
              <a:extLst>
                <a:ext uri="{FF2B5EF4-FFF2-40B4-BE49-F238E27FC236}">
                  <a16:creationId xmlns:a16="http://schemas.microsoft.com/office/drawing/2014/main" id="{B5A5453D-9A94-1B0F-266D-401EC9126CB0}"/>
                </a:ext>
              </a:extLst>
            </p:cNvPr>
            <p:cNvSpPr txBox="1"/>
            <p:nvPr/>
          </p:nvSpPr>
          <p:spPr>
            <a:xfrm>
              <a:off x="4886960" y="3625842"/>
              <a:ext cx="1706880" cy="369332"/>
            </a:xfrm>
            <a:prstGeom prst="rect">
              <a:avLst/>
            </a:prstGeom>
            <a:solidFill>
              <a:schemeClr val="bg1"/>
            </a:solidFill>
          </p:spPr>
          <p:txBody>
            <a:bodyPr wrap="square" rtlCol="0">
              <a:spAutoFit/>
            </a:bodyPr>
            <a:lstStyle/>
            <a:p>
              <a:pPr algn="ctr"/>
              <a:r>
                <a:rPr lang="zh-TW" altLang="en-US"/>
                <a:t>中速 元件</a:t>
              </a:r>
              <a:endParaRPr lang="en-US"/>
            </a:p>
          </p:txBody>
        </p:sp>
        <p:sp>
          <p:nvSpPr>
            <p:cNvPr id="8" name="TextBox 7">
              <a:extLst>
                <a:ext uri="{FF2B5EF4-FFF2-40B4-BE49-F238E27FC236}">
                  <a16:creationId xmlns:a16="http://schemas.microsoft.com/office/drawing/2014/main" id="{65DCD38D-134E-274B-93A9-73730C8A0953}"/>
                </a:ext>
              </a:extLst>
            </p:cNvPr>
            <p:cNvSpPr txBox="1"/>
            <p:nvPr/>
          </p:nvSpPr>
          <p:spPr>
            <a:xfrm>
              <a:off x="4886960" y="4937760"/>
              <a:ext cx="1706880" cy="369332"/>
            </a:xfrm>
            <a:prstGeom prst="rect">
              <a:avLst/>
            </a:prstGeom>
            <a:solidFill>
              <a:schemeClr val="bg1"/>
            </a:solidFill>
          </p:spPr>
          <p:txBody>
            <a:bodyPr wrap="square" rtlCol="0">
              <a:spAutoFit/>
            </a:bodyPr>
            <a:lstStyle/>
            <a:p>
              <a:pPr algn="ctr"/>
              <a:r>
                <a:rPr lang="zh-TW" altLang="en-US"/>
                <a:t>最低速 元件</a:t>
              </a:r>
              <a:endParaRPr lang="en-US"/>
            </a:p>
          </p:txBody>
        </p:sp>
      </p:grpSp>
      <p:sp>
        <p:nvSpPr>
          <p:cNvPr id="12" name="TextBox 11">
            <a:extLst>
              <a:ext uri="{FF2B5EF4-FFF2-40B4-BE49-F238E27FC236}">
                <a16:creationId xmlns:a16="http://schemas.microsoft.com/office/drawing/2014/main" id="{D67BA489-1559-6722-5CC2-76D302BC52ED}"/>
              </a:ext>
            </a:extLst>
          </p:cNvPr>
          <p:cNvSpPr txBox="1"/>
          <p:nvPr/>
        </p:nvSpPr>
        <p:spPr>
          <a:xfrm>
            <a:off x="5031105" y="1214165"/>
            <a:ext cx="6761797" cy="960969"/>
          </a:xfrm>
          <a:prstGeom prst="rect">
            <a:avLst/>
          </a:prstGeom>
          <a:noFill/>
        </p:spPr>
        <p:txBody>
          <a:bodyPr wrap="square">
            <a:spAutoFit/>
          </a:bodyPr>
          <a:lstStyle/>
          <a:p>
            <a:pPr algn="just">
              <a:lnSpc>
                <a:spcPct val="150000"/>
              </a:lnSpc>
            </a:pPr>
            <a:r>
              <a:rPr lang="zh-TW" altLang="en-US" sz="2000"/>
              <a:t>分區方法需要識別由設備或軟體設定所產生的不同電磁區域，且每個區域必須以物理區塊或屏障進行隔離</a:t>
            </a:r>
            <a:endParaRPr lang="en-US" sz="2000">
              <a:latin typeface="Arial" panose="020B0604020202020204" pitchFamily="34" charset="0"/>
              <a:cs typeface="Arial" panose="020B0604020202020204" pitchFamily="34" charset="0"/>
            </a:endParaRPr>
          </a:p>
        </p:txBody>
      </p:sp>
      <p:sp>
        <p:nvSpPr>
          <p:cNvPr id="14" name="TextBox 13">
            <a:extLst>
              <a:ext uri="{FF2B5EF4-FFF2-40B4-BE49-F238E27FC236}">
                <a16:creationId xmlns:a16="http://schemas.microsoft.com/office/drawing/2014/main" id="{099DC878-5BFF-372C-01D8-22A18598EB5E}"/>
              </a:ext>
            </a:extLst>
          </p:cNvPr>
          <p:cNvSpPr txBox="1"/>
          <p:nvPr/>
        </p:nvSpPr>
        <p:spPr>
          <a:xfrm>
            <a:off x="5031106" y="2201790"/>
            <a:ext cx="6761796" cy="960969"/>
          </a:xfrm>
          <a:prstGeom prst="rect">
            <a:avLst/>
          </a:prstGeom>
          <a:noFill/>
        </p:spPr>
        <p:txBody>
          <a:bodyPr wrap="square">
            <a:spAutoFit/>
          </a:bodyPr>
          <a:lstStyle/>
          <a:p>
            <a:pPr algn="just">
              <a:lnSpc>
                <a:spcPct val="150000"/>
              </a:lnSpc>
            </a:pPr>
            <a:r>
              <a:rPr lang="zh-TW" altLang="en-US" sz="2000"/>
              <a:t>幾何屏障本質上是一個開放區域，電磁場在該區域內會衰減至可接受的水平</a:t>
            </a:r>
            <a:endParaRPr lang="en-US" sz="2000">
              <a:latin typeface="Arial" panose="020B0604020202020204" pitchFamily="34" charset="0"/>
              <a:cs typeface="Arial" panose="020B0604020202020204" pitchFamily="34" charset="0"/>
            </a:endParaRPr>
          </a:p>
        </p:txBody>
      </p:sp>
      <p:sp>
        <p:nvSpPr>
          <p:cNvPr id="16" name="TextBox 15">
            <a:extLst>
              <a:ext uri="{FF2B5EF4-FFF2-40B4-BE49-F238E27FC236}">
                <a16:creationId xmlns:a16="http://schemas.microsoft.com/office/drawing/2014/main" id="{F2CAB5C4-AC0F-365A-52B3-548E1D8EF668}"/>
              </a:ext>
            </a:extLst>
          </p:cNvPr>
          <p:cNvSpPr txBox="1"/>
          <p:nvPr/>
        </p:nvSpPr>
        <p:spPr>
          <a:xfrm>
            <a:off x="5031106" y="3162759"/>
            <a:ext cx="6761796" cy="1422634"/>
          </a:xfrm>
          <a:prstGeom prst="rect">
            <a:avLst/>
          </a:prstGeom>
          <a:noFill/>
        </p:spPr>
        <p:txBody>
          <a:bodyPr wrap="square">
            <a:spAutoFit/>
          </a:bodyPr>
          <a:lstStyle/>
          <a:p>
            <a:pPr algn="just">
              <a:lnSpc>
                <a:spcPct val="150000"/>
              </a:lnSpc>
            </a:pPr>
            <a:r>
              <a:rPr lang="zh-TW" altLang="en-US" sz="2000"/>
              <a:t>除了根據 元件 的工作速度進行分區外，還需根據功能特性進行劃分，例如數位訊號與類比訊號、低功率與高功率訊號</a:t>
            </a:r>
            <a:endParaRPr lang="en-US" sz="200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401795518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D757468-CA1D-9F15-7D7F-B636ABE25E9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2E2958D-4DCF-FC58-A253-E06A468E14DA}"/>
              </a:ext>
            </a:extLst>
          </p:cNvPr>
          <p:cNvSpPr>
            <a:spLocks noGrp="1"/>
          </p:cNvSpPr>
          <p:nvPr>
            <p:ph type="title"/>
          </p:nvPr>
        </p:nvSpPr>
        <p:spPr>
          <a:xfrm>
            <a:off x="0" y="1"/>
            <a:ext cx="10515600" cy="626806"/>
          </a:xfrm>
        </p:spPr>
        <p:txBody>
          <a:bodyPr>
            <a:normAutofit fontScale="90000"/>
          </a:bodyPr>
          <a:lstStyle/>
          <a:p>
            <a:r>
              <a:rPr lang="zh-TW" altLang="en-US"/>
              <a:t>佈局指南：</a:t>
            </a:r>
            <a:endParaRPr lang="en-US"/>
          </a:p>
        </p:txBody>
      </p:sp>
      <p:sp>
        <p:nvSpPr>
          <p:cNvPr id="3" name="Title 1">
            <a:extLst>
              <a:ext uri="{FF2B5EF4-FFF2-40B4-BE49-F238E27FC236}">
                <a16:creationId xmlns:a16="http://schemas.microsoft.com/office/drawing/2014/main" id="{C873821F-F00F-63E3-1E5C-EDBFC140F512}"/>
              </a:ext>
            </a:extLst>
          </p:cNvPr>
          <p:cNvSpPr txBox="1">
            <a:spLocks/>
          </p:cNvSpPr>
          <p:nvPr/>
        </p:nvSpPr>
        <p:spPr>
          <a:xfrm>
            <a:off x="40640" y="511138"/>
            <a:ext cx="12151360" cy="484238"/>
          </a:xfrm>
          <a:prstGeom prst="rect">
            <a:avLst/>
          </a:prstGeom>
        </p:spPr>
        <p:txBody>
          <a:bodyPr vert="horz" lIns="91440" tIns="45720" rIns="91440" bIns="45720" rtlCol="0" anchor="ctr">
            <a:normAutofit fontScale="975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zh-TW" altLang="en-US" sz="2800"/>
              <a:t>在這種情況下我們該怎麼辦？ 交叉 走線 </a:t>
            </a:r>
            <a:r>
              <a:rPr lang="en-US" sz="2800"/>
              <a:t>？</a:t>
            </a:r>
            <a:endParaRPr lang="en-US" sz="2600"/>
          </a:p>
        </p:txBody>
      </p:sp>
      <p:pic>
        <p:nvPicPr>
          <p:cNvPr id="8" name="Picture 7">
            <a:extLst>
              <a:ext uri="{FF2B5EF4-FFF2-40B4-BE49-F238E27FC236}">
                <a16:creationId xmlns:a16="http://schemas.microsoft.com/office/drawing/2014/main" id="{EABFBEB7-90FC-8155-A4E3-0CC40D0CF6FC}"/>
              </a:ext>
            </a:extLst>
          </p:cNvPr>
          <p:cNvPicPr>
            <a:picLocks noChangeAspect="1"/>
          </p:cNvPicPr>
          <p:nvPr/>
        </p:nvPicPr>
        <p:blipFill>
          <a:blip r:embed="rId2"/>
          <a:stretch>
            <a:fillRect/>
          </a:stretch>
        </p:blipFill>
        <p:spPr>
          <a:xfrm>
            <a:off x="825909" y="1084605"/>
            <a:ext cx="9783097" cy="5262257"/>
          </a:xfrm>
          <a:prstGeom prst="rect">
            <a:avLst/>
          </a:prstGeom>
        </p:spPr>
      </p:pic>
    </p:spTree>
    <p:extLst>
      <p:ext uri="{BB962C8B-B14F-4D97-AF65-F5344CB8AC3E}">
        <p14:creationId xmlns:p14="http://schemas.microsoft.com/office/powerpoint/2010/main" val="51079879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6890EB-2676-DC31-1D1D-E011698AB4C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773CC82-41DC-BD5D-2227-5F17DFAB0D93}"/>
              </a:ext>
            </a:extLst>
          </p:cNvPr>
          <p:cNvSpPr>
            <a:spLocks noGrp="1"/>
          </p:cNvSpPr>
          <p:nvPr>
            <p:ph type="title"/>
          </p:nvPr>
        </p:nvSpPr>
        <p:spPr>
          <a:xfrm>
            <a:off x="0" y="1"/>
            <a:ext cx="10515600" cy="626806"/>
          </a:xfrm>
        </p:spPr>
        <p:txBody>
          <a:bodyPr>
            <a:normAutofit fontScale="90000"/>
          </a:bodyPr>
          <a:lstStyle/>
          <a:p>
            <a:r>
              <a:rPr lang="zh-TW" altLang="en-US"/>
              <a:t>佈局指南：</a:t>
            </a:r>
            <a:endParaRPr lang="en-US"/>
          </a:p>
        </p:txBody>
      </p:sp>
      <p:sp>
        <p:nvSpPr>
          <p:cNvPr id="3" name="Title 1">
            <a:extLst>
              <a:ext uri="{FF2B5EF4-FFF2-40B4-BE49-F238E27FC236}">
                <a16:creationId xmlns:a16="http://schemas.microsoft.com/office/drawing/2014/main" id="{EE403F5B-0E77-B006-E935-489457F5BB9A}"/>
              </a:ext>
            </a:extLst>
          </p:cNvPr>
          <p:cNvSpPr txBox="1">
            <a:spLocks/>
          </p:cNvSpPr>
          <p:nvPr/>
        </p:nvSpPr>
        <p:spPr>
          <a:xfrm>
            <a:off x="40640" y="626807"/>
            <a:ext cx="12151360" cy="484238"/>
          </a:xfrm>
          <a:prstGeom prst="rect">
            <a:avLst/>
          </a:prstGeom>
        </p:spPr>
        <p:txBody>
          <a:bodyPr vert="horz" lIns="91440" tIns="45720" rIns="91440" bIns="45720" rtlCol="0" anchor="ctr">
            <a:normAutofit fontScale="975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zh-TW" altLang="en-US" sz="2400"/>
              <a:t>在這種情況下我們該怎麼辦？ 交叉 走線 </a:t>
            </a:r>
            <a:r>
              <a:rPr lang="en-US" sz="2400"/>
              <a:t>？</a:t>
            </a:r>
          </a:p>
        </p:txBody>
      </p:sp>
      <p:pic>
        <p:nvPicPr>
          <p:cNvPr id="5" name="Picture 4">
            <a:extLst>
              <a:ext uri="{FF2B5EF4-FFF2-40B4-BE49-F238E27FC236}">
                <a16:creationId xmlns:a16="http://schemas.microsoft.com/office/drawing/2014/main" id="{202506B9-54CA-EE65-F352-146D2FBF56F7}"/>
              </a:ext>
            </a:extLst>
          </p:cNvPr>
          <p:cNvPicPr>
            <a:picLocks noChangeAspect="1"/>
          </p:cNvPicPr>
          <p:nvPr/>
        </p:nvPicPr>
        <p:blipFill>
          <a:blip r:embed="rId2"/>
          <a:stretch>
            <a:fillRect/>
          </a:stretch>
        </p:blipFill>
        <p:spPr>
          <a:xfrm>
            <a:off x="213600" y="1740310"/>
            <a:ext cx="5742219" cy="3087329"/>
          </a:xfrm>
          <a:prstGeom prst="rect">
            <a:avLst/>
          </a:prstGeom>
        </p:spPr>
      </p:pic>
      <p:pic>
        <p:nvPicPr>
          <p:cNvPr id="7" name="Picture 6">
            <a:extLst>
              <a:ext uri="{FF2B5EF4-FFF2-40B4-BE49-F238E27FC236}">
                <a16:creationId xmlns:a16="http://schemas.microsoft.com/office/drawing/2014/main" id="{73599C2E-DD60-40AF-012C-348D030E4097}"/>
              </a:ext>
            </a:extLst>
          </p:cNvPr>
          <p:cNvPicPr>
            <a:picLocks noChangeAspect="1"/>
          </p:cNvPicPr>
          <p:nvPr/>
        </p:nvPicPr>
        <p:blipFill>
          <a:blip r:embed="rId3"/>
          <a:stretch>
            <a:fillRect/>
          </a:stretch>
        </p:blipFill>
        <p:spPr>
          <a:xfrm>
            <a:off x="6312310" y="1740310"/>
            <a:ext cx="5698870" cy="3087329"/>
          </a:xfrm>
          <a:prstGeom prst="rect">
            <a:avLst/>
          </a:prstGeom>
        </p:spPr>
      </p:pic>
    </p:spTree>
    <p:extLst>
      <p:ext uri="{BB962C8B-B14F-4D97-AF65-F5344CB8AC3E}">
        <p14:creationId xmlns:p14="http://schemas.microsoft.com/office/powerpoint/2010/main" val="112078533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656ADBA-17BF-2E1C-4E29-1D4BCFA1F12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FEA349C-2777-786A-FC8C-F8D818E2D173}"/>
              </a:ext>
            </a:extLst>
          </p:cNvPr>
          <p:cNvSpPr>
            <a:spLocks noGrp="1"/>
          </p:cNvSpPr>
          <p:nvPr>
            <p:ph type="title"/>
          </p:nvPr>
        </p:nvSpPr>
        <p:spPr>
          <a:xfrm>
            <a:off x="0" y="1"/>
            <a:ext cx="10515600" cy="626806"/>
          </a:xfrm>
        </p:spPr>
        <p:txBody>
          <a:bodyPr>
            <a:normAutofit fontScale="90000"/>
          </a:bodyPr>
          <a:lstStyle/>
          <a:p>
            <a:r>
              <a:rPr lang="zh-TW" altLang="en-US"/>
              <a:t>佈局指南：</a:t>
            </a:r>
            <a:endParaRPr lang="en-US"/>
          </a:p>
        </p:txBody>
      </p:sp>
      <p:sp>
        <p:nvSpPr>
          <p:cNvPr id="3" name="Title 1">
            <a:extLst>
              <a:ext uri="{FF2B5EF4-FFF2-40B4-BE49-F238E27FC236}">
                <a16:creationId xmlns:a16="http://schemas.microsoft.com/office/drawing/2014/main" id="{9FF0BB52-E607-5650-B682-09C45C472927}"/>
              </a:ext>
            </a:extLst>
          </p:cNvPr>
          <p:cNvSpPr txBox="1">
            <a:spLocks/>
          </p:cNvSpPr>
          <p:nvPr/>
        </p:nvSpPr>
        <p:spPr>
          <a:xfrm>
            <a:off x="40640" y="626807"/>
            <a:ext cx="12151360" cy="484238"/>
          </a:xfrm>
          <a:prstGeom prst="rect">
            <a:avLst/>
          </a:prstGeom>
        </p:spPr>
        <p:txBody>
          <a:bodyPr vert="horz" lIns="91440" tIns="45720" rIns="91440" bIns="45720" rtlCol="0" anchor="ctr">
            <a:normAutofit fontScale="975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endParaRPr lang="en-US" sz="2600"/>
          </a:p>
        </p:txBody>
      </p:sp>
      <p:pic>
        <p:nvPicPr>
          <p:cNvPr id="5" name="Picture 4">
            <a:extLst>
              <a:ext uri="{FF2B5EF4-FFF2-40B4-BE49-F238E27FC236}">
                <a16:creationId xmlns:a16="http://schemas.microsoft.com/office/drawing/2014/main" id="{D85E2783-C6F3-D711-5903-607B0F1EA6AC}"/>
              </a:ext>
            </a:extLst>
          </p:cNvPr>
          <p:cNvPicPr>
            <a:picLocks noChangeAspect="1"/>
          </p:cNvPicPr>
          <p:nvPr/>
        </p:nvPicPr>
        <p:blipFill>
          <a:blip r:embed="rId2"/>
          <a:stretch>
            <a:fillRect/>
          </a:stretch>
        </p:blipFill>
        <p:spPr>
          <a:xfrm>
            <a:off x="213600" y="1740310"/>
            <a:ext cx="5742219" cy="3087329"/>
          </a:xfrm>
          <a:prstGeom prst="rect">
            <a:avLst/>
          </a:prstGeom>
        </p:spPr>
      </p:pic>
      <p:pic>
        <p:nvPicPr>
          <p:cNvPr id="7" name="Picture 6">
            <a:extLst>
              <a:ext uri="{FF2B5EF4-FFF2-40B4-BE49-F238E27FC236}">
                <a16:creationId xmlns:a16="http://schemas.microsoft.com/office/drawing/2014/main" id="{D55DFB33-9F36-3A32-B039-CB6A6C2F88DB}"/>
              </a:ext>
            </a:extLst>
          </p:cNvPr>
          <p:cNvPicPr>
            <a:picLocks noChangeAspect="1"/>
          </p:cNvPicPr>
          <p:nvPr/>
        </p:nvPicPr>
        <p:blipFill>
          <a:blip r:embed="rId3"/>
          <a:stretch>
            <a:fillRect/>
          </a:stretch>
        </p:blipFill>
        <p:spPr>
          <a:xfrm>
            <a:off x="6312310" y="1740310"/>
            <a:ext cx="5698870" cy="3087329"/>
          </a:xfrm>
          <a:prstGeom prst="rect">
            <a:avLst/>
          </a:prstGeom>
        </p:spPr>
      </p:pic>
      <p:sp>
        <p:nvSpPr>
          <p:cNvPr id="9" name="Title 1">
            <a:extLst>
              <a:ext uri="{FF2B5EF4-FFF2-40B4-BE49-F238E27FC236}">
                <a16:creationId xmlns:a16="http://schemas.microsoft.com/office/drawing/2014/main" id="{95A4ACF1-BDFC-0F1B-7605-EC3D5BFC03EE}"/>
              </a:ext>
            </a:extLst>
          </p:cNvPr>
          <p:cNvSpPr txBox="1">
            <a:spLocks/>
          </p:cNvSpPr>
          <p:nvPr/>
        </p:nvSpPr>
        <p:spPr>
          <a:xfrm>
            <a:off x="368675" y="5324173"/>
            <a:ext cx="8455086" cy="484238"/>
          </a:xfrm>
          <a:prstGeom prst="rect">
            <a:avLst/>
          </a:prstGeom>
          <a:noFill/>
          <a:ln>
            <a:solidFill>
              <a:srgbClr val="FF0000"/>
            </a:solidFill>
          </a:ln>
        </p:spPr>
        <p:txBody>
          <a:bodyPr vert="horz" lIns="91440" tIns="45720" rIns="91440" bIns="45720" rtlCol="0" anchor="ctr">
            <a:normAutofit fontScale="975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zh-TW" altLang="en-US" sz="2800"/>
              <a:t>與通孔焊盤 </a:t>
            </a:r>
            <a:r>
              <a:rPr lang="en-US" altLang="zh-TW" sz="2800"/>
              <a:t>(</a:t>
            </a:r>
            <a:r>
              <a:rPr lang="en-US" sz="2800"/>
              <a:t>Through-hole pad) </a:t>
            </a:r>
            <a:r>
              <a:rPr lang="zh-TW" altLang="en-US" sz="2800"/>
              <a:t>的間距太小，太危險了！</a:t>
            </a:r>
            <a:endParaRPr lang="en-US" sz="2600"/>
          </a:p>
        </p:txBody>
      </p:sp>
      <p:sp>
        <p:nvSpPr>
          <p:cNvPr id="4" name="Oval 3">
            <a:extLst>
              <a:ext uri="{FF2B5EF4-FFF2-40B4-BE49-F238E27FC236}">
                <a16:creationId xmlns:a16="http://schemas.microsoft.com/office/drawing/2014/main" id="{DA21875F-3CF0-5830-A9E1-17D8D8BE65F7}"/>
              </a:ext>
            </a:extLst>
          </p:cNvPr>
          <p:cNvSpPr/>
          <p:nvPr/>
        </p:nvSpPr>
        <p:spPr>
          <a:xfrm>
            <a:off x="1925320" y="3368040"/>
            <a:ext cx="645160" cy="629920"/>
          </a:xfrm>
          <a:prstGeom prst="ellipse">
            <a:avLst/>
          </a:prstGeom>
          <a:noFill/>
          <a:ln w="254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8" name="Straight Arrow Connector 7">
            <a:extLst>
              <a:ext uri="{FF2B5EF4-FFF2-40B4-BE49-F238E27FC236}">
                <a16:creationId xmlns:a16="http://schemas.microsoft.com/office/drawing/2014/main" id="{E65E23EA-3651-F3F1-8045-DAC56C3B0BB6}"/>
              </a:ext>
            </a:extLst>
          </p:cNvPr>
          <p:cNvCxnSpPr>
            <a:cxnSpLocks/>
            <a:endCxn id="4" idx="3"/>
          </p:cNvCxnSpPr>
          <p:nvPr/>
        </p:nvCxnSpPr>
        <p:spPr>
          <a:xfrm flipV="1">
            <a:off x="1010920" y="3905710"/>
            <a:ext cx="1008881" cy="1357170"/>
          </a:xfrm>
          <a:prstGeom prst="straightConnector1">
            <a:avLst/>
          </a:prstGeom>
          <a:ln w="25400">
            <a:tailEnd type="triangle"/>
          </a:ln>
        </p:spPr>
        <p:style>
          <a:lnRef idx="2">
            <a:schemeClr val="accent1"/>
          </a:lnRef>
          <a:fillRef idx="0">
            <a:schemeClr val="accent1"/>
          </a:fillRef>
          <a:effectRef idx="1">
            <a:schemeClr val="accent1"/>
          </a:effectRef>
          <a:fontRef idx="minor">
            <a:schemeClr val="tx1"/>
          </a:fontRef>
        </p:style>
      </p:cxnSp>
      <p:sp>
        <p:nvSpPr>
          <p:cNvPr id="11" name="Oval 10">
            <a:extLst>
              <a:ext uri="{FF2B5EF4-FFF2-40B4-BE49-F238E27FC236}">
                <a16:creationId xmlns:a16="http://schemas.microsoft.com/office/drawing/2014/main" id="{46FB3B7D-B826-86F1-BB4B-91803D312899}"/>
              </a:ext>
            </a:extLst>
          </p:cNvPr>
          <p:cNvSpPr/>
          <p:nvPr/>
        </p:nvSpPr>
        <p:spPr>
          <a:xfrm>
            <a:off x="8501181" y="2143924"/>
            <a:ext cx="645160" cy="629920"/>
          </a:xfrm>
          <a:prstGeom prst="ellipse">
            <a:avLst/>
          </a:prstGeom>
          <a:noFill/>
          <a:ln w="254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3" name="Straight Arrow Connector 12">
            <a:extLst>
              <a:ext uri="{FF2B5EF4-FFF2-40B4-BE49-F238E27FC236}">
                <a16:creationId xmlns:a16="http://schemas.microsoft.com/office/drawing/2014/main" id="{6BE3725D-1297-F361-D667-CA7C6758BC5B}"/>
              </a:ext>
            </a:extLst>
          </p:cNvPr>
          <p:cNvCxnSpPr>
            <a:cxnSpLocks/>
          </p:cNvCxnSpPr>
          <p:nvPr/>
        </p:nvCxnSpPr>
        <p:spPr>
          <a:xfrm flipV="1">
            <a:off x="1010920" y="2689455"/>
            <a:ext cx="7595594" cy="2573425"/>
          </a:xfrm>
          <a:prstGeom prst="straightConnector1">
            <a:avLst/>
          </a:prstGeom>
          <a:ln w="25400">
            <a:tailEnd type="triangle"/>
          </a:ln>
        </p:spPr>
        <p:style>
          <a:lnRef idx="2">
            <a:schemeClr val="accent1"/>
          </a:lnRef>
          <a:fillRef idx="0">
            <a:schemeClr val="accent1"/>
          </a:fillRef>
          <a:effectRef idx="1">
            <a:schemeClr val="accent1"/>
          </a:effectRef>
          <a:fontRef idx="minor">
            <a:schemeClr val="tx1"/>
          </a:fontRef>
        </p:style>
      </p:cxnSp>
      <p:sp>
        <p:nvSpPr>
          <p:cNvPr id="10" name="Title 1">
            <a:extLst>
              <a:ext uri="{FF2B5EF4-FFF2-40B4-BE49-F238E27FC236}">
                <a16:creationId xmlns:a16="http://schemas.microsoft.com/office/drawing/2014/main" id="{FEE7CF72-D40E-429C-41CA-4ED21CEEAB0A}"/>
              </a:ext>
            </a:extLst>
          </p:cNvPr>
          <p:cNvSpPr txBox="1">
            <a:spLocks/>
          </p:cNvSpPr>
          <p:nvPr/>
        </p:nvSpPr>
        <p:spPr>
          <a:xfrm>
            <a:off x="193040" y="779207"/>
            <a:ext cx="12151360" cy="484238"/>
          </a:xfrm>
          <a:prstGeom prst="rect">
            <a:avLst/>
          </a:prstGeom>
        </p:spPr>
        <p:txBody>
          <a:bodyPr vert="horz" lIns="91440" tIns="45720" rIns="91440" bIns="45720" rtlCol="0" anchor="ctr">
            <a:normAutofit fontScale="975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zh-TW" altLang="en-US" sz="2400"/>
              <a:t>在這種情況下我們該怎麼辦？ 交叉 走線 </a:t>
            </a:r>
            <a:r>
              <a:rPr lang="en-US" sz="2400"/>
              <a:t>？</a:t>
            </a:r>
          </a:p>
        </p:txBody>
      </p:sp>
    </p:spTree>
    <p:extLst>
      <p:ext uri="{BB962C8B-B14F-4D97-AF65-F5344CB8AC3E}">
        <p14:creationId xmlns:p14="http://schemas.microsoft.com/office/powerpoint/2010/main" val="241402824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DECE39A-7D7E-53F7-00C8-E029B652FF8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828A5BE-5D2B-B536-E783-E2B735B06BF2}"/>
              </a:ext>
            </a:extLst>
          </p:cNvPr>
          <p:cNvSpPr>
            <a:spLocks noGrp="1"/>
          </p:cNvSpPr>
          <p:nvPr>
            <p:ph type="title"/>
          </p:nvPr>
        </p:nvSpPr>
        <p:spPr>
          <a:xfrm>
            <a:off x="0" y="1"/>
            <a:ext cx="10515600" cy="626806"/>
          </a:xfrm>
        </p:spPr>
        <p:txBody>
          <a:bodyPr>
            <a:normAutofit fontScale="90000"/>
          </a:bodyPr>
          <a:lstStyle/>
          <a:p>
            <a:r>
              <a:rPr lang="zh-TW" altLang="en-US"/>
              <a:t>佈局指南：</a:t>
            </a:r>
            <a:endParaRPr lang="en-US"/>
          </a:p>
        </p:txBody>
      </p:sp>
      <p:sp>
        <p:nvSpPr>
          <p:cNvPr id="3" name="Title 1">
            <a:extLst>
              <a:ext uri="{FF2B5EF4-FFF2-40B4-BE49-F238E27FC236}">
                <a16:creationId xmlns:a16="http://schemas.microsoft.com/office/drawing/2014/main" id="{1DD1A349-82CC-BCCC-D932-394D380DFAD5}"/>
              </a:ext>
            </a:extLst>
          </p:cNvPr>
          <p:cNvSpPr txBox="1">
            <a:spLocks/>
          </p:cNvSpPr>
          <p:nvPr/>
        </p:nvSpPr>
        <p:spPr>
          <a:xfrm>
            <a:off x="40640" y="626807"/>
            <a:ext cx="12151360" cy="484238"/>
          </a:xfrm>
          <a:prstGeom prst="rect">
            <a:avLst/>
          </a:prstGeom>
        </p:spPr>
        <p:txBody>
          <a:bodyPr vert="horz" lIns="91440" tIns="45720" rIns="91440" bIns="45720" rtlCol="0" anchor="ctr">
            <a:normAutofit fontScale="975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zh-TW" altLang="en-US" sz="2600"/>
              <a:t>解法：加入「過孔」</a:t>
            </a:r>
            <a:endParaRPr lang="en-US" sz="2600"/>
          </a:p>
        </p:txBody>
      </p:sp>
      <p:sp>
        <p:nvSpPr>
          <p:cNvPr id="9" name="Title 1">
            <a:extLst>
              <a:ext uri="{FF2B5EF4-FFF2-40B4-BE49-F238E27FC236}">
                <a16:creationId xmlns:a16="http://schemas.microsoft.com/office/drawing/2014/main" id="{E5C4A468-4763-6FB1-1D50-CA142AAA0DC8}"/>
              </a:ext>
            </a:extLst>
          </p:cNvPr>
          <p:cNvSpPr txBox="1">
            <a:spLocks/>
          </p:cNvSpPr>
          <p:nvPr/>
        </p:nvSpPr>
        <p:spPr>
          <a:xfrm>
            <a:off x="368675" y="6012836"/>
            <a:ext cx="2639996" cy="484238"/>
          </a:xfrm>
          <a:prstGeom prst="rect">
            <a:avLst/>
          </a:prstGeom>
          <a:noFill/>
          <a:ln>
            <a:solidFill>
              <a:srgbClr val="FF0000"/>
            </a:solidFill>
          </a:ln>
        </p:spPr>
        <p:txBody>
          <a:bodyPr vert="horz" lIns="91440" tIns="45720" rIns="91440" bIns="45720" rtlCol="0" anchor="ctr">
            <a:normAutofit fontScale="60000" lnSpcReduction="2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zh-TW" altLang="en-US" sz="2800"/>
              <a:t>所以，什麼是 過孔 </a:t>
            </a:r>
            <a:r>
              <a:rPr lang="en-US" altLang="zh-TW" sz="2800"/>
              <a:t>(</a:t>
            </a:r>
            <a:r>
              <a:rPr lang="en-US" sz="2800"/>
              <a:t>Via)？</a:t>
            </a:r>
            <a:endParaRPr lang="en-US" sz="2600"/>
          </a:p>
        </p:txBody>
      </p:sp>
      <p:sp>
        <p:nvSpPr>
          <p:cNvPr id="4" name="Oval 3">
            <a:extLst>
              <a:ext uri="{FF2B5EF4-FFF2-40B4-BE49-F238E27FC236}">
                <a16:creationId xmlns:a16="http://schemas.microsoft.com/office/drawing/2014/main" id="{F41EBA1E-16B6-4555-7FDE-ACFD64D2C621}"/>
              </a:ext>
            </a:extLst>
          </p:cNvPr>
          <p:cNvSpPr/>
          <p:nvPr/>
        </p:nvSpPr>
        <p:spPr>
          <a:xfrm>
            <a:off x="1925320" y="3368040"/>
            <a:ext cx="645160" cy="629920"/>
          </a:xfrm>
          <a:prstGeom prst="ellipse">
            <a:avLst/>
          </a:prstGeom>
          <a:noFill/>
          <a:ln w="254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Oval 10">
            <a:extLst>
              <a:ext uri="{FF2B5EF4-FFF2-40B4-BE49-F238E27FC236}">
                <a16:creationId xmlns:a16="http://schemas.microsoft.com/office/drawing/2014/main" id="{3A68ABCD-A519-7392-74A9-F9180C2A39AA}"/>
              </a:ext>
            </a:extLst>
          </p:cNvPr>
          <p:cNvSpPr/>
          <p:nvPr/>
        </p:nvSpPr>
        <p:spPr>
          <a:xfrm>
            <a:off x="8501181" y="2143924"/>
            <a:ext cx="645160" cy="629920"/>
          </a:xfrm>
          <a:prstGeom prst="ellipse">
            <a:avLst/>
          </a:prstGeom>
          <a:noFill/>
          <a:ln w="254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0" name="Picture 9">
            <a:extLst>
              <a:ext uri="{FF2B5EF4-FFF2-40B4-BE49-F238E27FC236}">
                <a16:creationId xmlns:a16="http://schemas.microsoft.com/office/drawing/2014/main" id="{2A0CE60B-C277-FD25-6659-775D417FAD4A}"/>
              </a:ext>
            </a:extLst>
          </p:cNvPr>
          <p:cNvPicPr>
            <a:picLocks noChangeAspect="1"/>
          </p:cNvPicPr>
          <p:nvPr/>
        </p:nvPicPr>
        <p:blipFill>
          <a:blip r:embed="rId2"/>
          <a:stretch>
            <a:fillRect/>
          </a:stretch>
        </p:blipFill>
        <p:spPr>
          <a:xfrm>
            <a:off x="1422507" y="1253613"/>
            <a:ext cx="8156454" cy="4306486"/>
          </a:xfrm>
          <a:prstGeom prst="rect">
            <a:avLst/>
          </a:prstGeom>
        </p:spPr>
      </p:pic>
      <p:sp>
        <p:nvSpPr>
          <p:cNvPr id="12" name="Oval 11">
            <a:extLst>
              <a:ext uri="{FF2B5EF4-FFF2-40B4-BE49-F238E27FC236}">
                <a16:creationId xmlns:a16="http://schemas.microsoft.com/office/drawing/2014/main" id="{7D0AF024-AB59-8530-78AD-1BD6529DE2AB}"/>
              </a:ext>
            </a:extLst>
          </p:cNvPr>
          <p:cNvSpPr/>
          <p:nvPr/>
        </p:nvSpPr>
        <p:spPr>
          <a:xfrm>
            <a:off x="5257800" y="4650658"/>
            <a:ext cx="346587" cy="294968"/>
          </a:xfrm>
          <a:prstGeom prst="ellipse">
            <a:avLst/>
          </a:prstGeom>
          <a:no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5" name="Straight Arrow Connector 14">
            <a:extLst>
              <a:ext uri="{FF2B5EF4-FFF2-40B4-BE49-F238E27FC236}">
                <a16:creationId xmlns:a16="http://schemas.microsoft.com/office/drawing/2014/main" id="{11BC72FD-5131-5EB4-AA1F-B2F531211BDF}"/>
              </a:ext>
            </a:extLst>
          </p:cNvPr>
          <p:cNvCxnSpPr/>
          <p:nvPr/>
        </p:nvCxnSpPr>
        <p:spPr>
          <a:xfrm flipV="1">
            <a:off x="2939845" y="4945626"/>
            <a:ext cx="2317955" cy="1297858"/>
          </a:xfrm>
          <a:prstGeom prst="straightConnector1">
            <a:avLst/>
          </a:prstGeom>
          <a:ln w="25400">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24465853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DC1FDC9-BC03-2727-5DED-85BAEAA76C9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1C87798-2AC3-550F-D1C8-D68179346835}"/>
              </a:ext>
            </a:extLst>
          </p:cNvPr>
          <p:cNvSpPr>
            <a:spLocks noGrp="1"/>
          </p:cNvSpPr>
          <p:nvPr>
            <p:ph type="title"/>
          </p:nvPr>
        </p:nvSpPr>
        <p:spPr>
          <a:xfrm>
            <a:off x="0" y="1"/>
            <a:ext cx="10515600" cy="626806"/>
          </a:xfrm>
        </p:spPr>
        <p:txBody>
          <a:bodyPr>
            <a:normAutofit fontScale="90000"/>
          </a:bodyPr>
          <a:lstStyle/>
          <a:p>
            <a:r>
              <a:rPr lang="zh-TW" altLang="en-US"/>
              <a:t>佈局指南：</a:t>
            </a:r>
            <a:endParaRPr lang="en-US"/>
          </a:p>
        </p:txBody>
      </p:sp>
      <p:sp>
        <p:nvSpPr>
          <p:cNvPr id="3" name="Title 1">
            <a:extLst>
              <a:ext uri="{FF2B5EF4-FFF2-40B4-BE49-F238E27FC236}">
                <a16:creationId xmlns:a16="http://schemas.microsoft.com/office/drawing/2014/main" id="{8CC3FCCC-C6C3-4147-F633-0A6B38DF4437}"/>
              </a:ext>
            </a:extLst>
          </p:cNvPr>
          <p:cNvSpPr txBox="1">
            <a:spLocks/>
          </p:cNvSpPr>
          <p:nvPr/>
        </p:nvSpPr>
        <p:spPr>
          <a:xfrm>
            <a:off x="40640" y="626807"/>
            <a:ext cx="12151360" cy="484238"/>
          </a:xfrm>
          <a:prstGeom prst="rect">
            <a:avLst/>
          </a:prstGeom>
        </p:spPr>
        <p:txBody>
          <a:bodyPr vert="horz" lIns="91440" tIns="45720" rIns="91440" bIns="45720" rtlCol="0" anchor="ctr">
            <a:normAutofit fontScale="975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zh-TW" altLang="en-US" sz="2600"/>
              <a:t>解法：加入「過孔」</a:t>
            </a:r>
            <a:endParaRPr lang="en-US" sz="2600"/>
          </a:p>
        </p:txBody>
      </p:sp>
      <p:sp>
        <p:nvSpPr>
          <p:cNvPr id="4" name="Oval 3">
            <a:extLst>
              <a:ext uri="{FF2B5EF4-FFF2-40B4-BE49-F238E27FC236}">
                <a16:creationId xmlns:a16="http://schemas.microsoft.com/office/drawing/2014/main" id="{F9B759CA-CF9F-170D-D76C-0AE7F7012F76}"/>
              </a:ext>
            </a:extLst>
          </p:cNvPr>
          <p:cNvSpPr/>
          <p:nvPr/>
        </p:nvSpPr>
        <p:spPr>
          <a:xfrm>
            <a:off x="1925320" y="3368040"/>
            <a:ext cx="645160" cy="629920"/>
          </a:xfrm>
          <a:prstGeom prst="ellipse">
            <a:avLst/>
          </a:prstGeom>
          <a:noFill/>
          <a:ln w="254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Oval 10">
            <a:extLst>
              <a:ext uri="{FF2B5EF4-FFF2-40B4-BE49-F238E27FC236}">
                <a16:creationId xmlns:a16="http://schemas.microsoft.com/office/drawing/2014/main" id="{3DAE6A85-6407-BFAD-E241-88407912E387}"/>
              </a:ext>
            </a:extLst>
          </p:cNvPr>
          <p:cNvSpPr/>
          <p:nvPr/>
        </p:nvSpPr>
        <p:spPr>
          <a:xfrm>
            <a:off x="8501181" y="2143924"/>
            <a:ext cx="645160" cy="629920"/>
          </a:xfrm>
          <a:prstGeom prst="ellipse">
            <a:avLst/>
          </a:prstGeom>
          <a:noFill/>
          <a:ln w="254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Oval 11">
            <a:extLst>
              <a:ext uri="{FF2B5EF4-FFF2-40B4-BE49-F238E27FC236}">
                <a16:creationId xmlns:a16="http://schemas.microsoft.com/office/drawing/2014/main" id="{89088FD7-E0C7-A0D6-5D18-42D5440A2E95}"/>
              </a:ext>
            </a:extLst>
          </p:cNvPr>
          <p:cNvSpPr/>
          <p:nvPr/>
        </p:nvSpPr>
        <p:spPr>
          <a:xfrm>
            <a:off x="5257800" y="4650658"/>
            <a:ext cx="346587" cy="294968"/>
          </a:xfrm>
          <a:prstGeom prst="ellipse">
            <a:avLst/>
          </a:prstGeom>
          <a:no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 name="Picture 5">
            <a:extLst>
              <a:ext uri="{FF2B5EF4-FFF2-40B4-BE49-F238E27FC236}">
                <a16:creationId xmlns:a16="http://schemas.microsoft.com/office/drawing/2014/main" id="{D0C78715-0195-8B85-F8D1-737DF1BC7F41}"/>
              </a:ext>
            </a:extLst>
          </p:cNvPr>
          <p:cNvPicPr>
            <a:picLocks noChangeAspect="1"/>
          </p:cNvPicPr>
          <p:nvPr/>
        </p:nvPicPr>
        <p:blipFill>
          <a:blip r:embed="rId2"/>
          <a:stretch>
            <a:fillRect/>
          </a:stretch>
        </p:blipFill>
        <p:spPr>
          <a:xfrm>
            <a:off x="1441016" y="1111045"/>
            <a:ext cx="8326741" cy="3947652"/>
          </a:xfrm>
          <a:prstGeom prst="rect">
            <a:avLst/>
          </a:prstGeom>
        </p:spPr>
      </p:pic>
      <p:sp>
        <p:nvSpPr>
          <p:cNvPr id="8" name="TextBox 7">
            <a:extLst>
              <a:ext uri="{FF2B5EF4-FFF2-40B4-BE49-F238E27FC236}">
                <a16:creationId xmlns:a16="http://schemas.microsoft.com/office/drawing/2014/main" id="{94BD36E7-6675-0BAD-C6C1-15B015D63DEF}"/>
              </a:ext>
            </a:extLst>
          </p:cNvPr>
          <p:cNvSpPr txBox="1"/>
          <p:nvPr/>
        </p:nvSpPr>
        <p:spPr>
          <a:xfrm>
            <a:off x="0" y="5204345"/>
            <a:ext cx="12192000" cy="830997"/>
          </a:xfrm>
          <a:prstGeom prst="rect">
            <a:avLst/>
          </a:prstGeom>
          <a:noFill/>
        </p:spPr>
        <p:txBody>
          <a:bodyPr wrap="square">
            <a:spAutoFit/>
          </a:bodyPr>
          <a:lstStyle/>
          <a:p>
            <a:r>
              <a:rPr lang="zh-TW" altLang="en-US" sz="2400"/>
              <a:t>過孔 </a:t>
            </a:r>
            <a:r>
              <a:rPr lang="en-US" altLang="zh-TW" sz="2400"/>
              <a:t>(Vias) </a:t>
            </a:r>
            <a:r>
              <a:rPr lang="zh-TW" altLang="en-US" sz="2400"/>
              <a:t>作為垂直通道，允許電氣訊號 </a:t>
            </a:r>
            <a:r>
              <a:rPr lang="en-US" altLang="zh-TW" sz="2400"/>
              <a:t>hoặc </a:t>
            </a:r>
            <a:r>
              <a:rPr lang="zh-TW" altLang="en-US" sz="2400"/>
              <a:t>電源在印刷電路板的不同 圖層 </a:t>
            </a:r>
            <a:r>
              <a:rPr lang="en-US" altLang="zh-TW" sz="2400"/>
              <a:t>(Layers) </a:t>
            </a:r>
            <a:r>
              <a:rPr lang="zh-TW" altLang="en-US" sz="2400"/>
              <a:t>之間進行切換</a:t>
            </a:r>
            <a:endParaRPr lang="en-US" sz="2200">
              <a:latin typeface="+mj-lt"/>
            </a:endParaRPr>
          </a:p>
        </p:txBody>
      </p:sp>
    </p:spTree>
    <p:extLst>
      <p:ext uri="{BB962C8B-B14F-4D97-AF65-F5344CB8AC3E}">
        <p14:creationId xmlns:p14="http://schemas.microsoft.com/office/powerpoint/2010/main" val="409683029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442796-60E2-82DD-798D-095C2BDDBC7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300A709-F104-1502-434A-87A25F0111EC}"/>
              </a:ext>
            </a:extLst>
          </p:cNvPr>
          <p:cNvSpPr>
            <a:spLocks noGrp="1"/>
          </p:cNvSpPr>
          <p:nvPr>
            <p:ph type="title"/>
          </p:nvPr>
        </p:nvSpPr>
        <p:spPr>
          <a:xfrm>
            <a:off x="0" y="1"/>
            <a:ext cx="10515600" cy="626806"/>
          </a:xfrm>
        </p:spPr>
        <p:txBody>
          <a:bodyPr>
            <a:normAutofit fontScale="90000"/>
          </a:bodyPr>
          <a:lstStyle/>
          <a:p>
            <a:r>
              <a:rPr lang="zh-TW" altLang="en-US"/>
              <a:t>佈局指南：</a:t>
            </a:r>
            <a:endParaRPr lang="en-US"/>
          </a:p>
        </p:txBody>
      </p:sp>
      <p:sp>
        <p:nvSpPr>
          <p:cNvPr id="4" name="Oval 3">
            <a:extLst>
              <a:ext uri="{FF2B5EF4-FFF2-40B4-BE49-F238E27FC236}">
                <a16:creationId xmlns:a16="http://schemas.microsoft.com/office/drawing/2014/main" id="{BB5A224C-4468-9BB2-151F-53EF71508B75}"/>
              </a:ext>
            </a:extLst>
          </p:cNvPr>
          <p:cNvSpPr/>
          <p:nvPr/>
        </p:nvSpPr>
        <p:spPr>
          <a:xfrm>
            <a:off x="1925320" y="3368040"/>
            <a:ext cx="645160" cy="629920"/>
          </a:xfrm>
          <a:prstGeom prst="ellipse">
            <a:avLst/>
          </a:prstGeom>
          <a:noFill/>
          <a:ln w="254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Oval 10">
            <a:extLst>
              <a:ext uri="{FF2B5EF4-FFF2-40B4-BE49-F238E27FC236}">
                <a16:creationId xmlns:a16="http://schemas.microsoft.com/office/drawing/2014/main" id="{ADD0449E-7B34-DE42-D654-0DAEFAD5F453}"/>
              </a:ext>
            </a:extLst>
          </p:cNvPr>
          <p:cNvSpPr/>
          <p:nvPr/>
        </p:nvSpPr>
        <p:spPr>
          <a:xfrm>
            <a:off x="8501181" y="2143924"/>
            <a:ext cx="645160" cy="629920"/>
          </a:xfrm>
          <a:prstGeom prst="ellipse">
            <a:avLst/>
          </a:prstGeom>
          <a:noFill/>
          <a:ln w="254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Oval 11">
            <a:extLst>
              <a:ext uri="{FF2B5EF4-FFF2-40B4-BE49-F238E27FC236}">
                <a16:creationId xmlns:a16="http://schemas.microsoft.com/office/drawing/2014/main" id="{4CC93D87-145F-75F2-6445-0ED138484B7E}"/>
              </a:ext>
            </a:extLst>
          </p:cNvPr>
          <p:cNvSpPr/>
          <p:nvPr/>
        </p:nvSpPr>
        <p:spPr>
          <a:xfrm>
            <a:off x="5257800" y="4650658"/>
            <a:ext cx="346587" cy="294968"/>
          </a:xfrm>
          <a:prstGeom prst="ellipse">
            <a:avLst/>
          </a:prstGeom>
          <a:no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extBox 7">
            <a:extLst>
              <a:ext uri="{FF2B5EF4-FFF2-40B4-BE49-F238E27FC236}">
                <a16:creationId xmlns:a16="http://schemas.microsoft.com/office/drawing/2014/main" id="{37D5DE54-FEE8-717F-C844-92AA39BCAF30}"/>
              </a:ext>
            </a:extLst>
          </p:cNvPr>
          <p:cNvSpPr txBox="1"/>
          <p:nvPr/>
        </p:nvSpPr>
        <p:spPr>
          <a:xfrm>
            <a:off x="1623633" y="5659154"/>
            <a:ext cx="6254275" cy="461665"/>
          </a:xfrm>
          <a:prstGeom prst="rect">
            <a:avLst/>
          </a:prstGeom>
          <a:noFill/>
        </p:spPr>
        <p:txBody>
          <a:bodyPr wrap="square">
            <a:spAutoFit/>
          </a:bodyPr>
          <a:lstStyle/>
          <a:p>
            <a:r>
              <a:rPr lang="zh-TW" altLang="en-US" sz="2400"/>
              <a:t>各種不同類型的 過孔</a:t>
            </a:r>
            <a:endParaRPr lang="en-US" sz="2200">
              <a:latin typeface="+mj-lt"/>
            </a:endParaRPr>
          </a:p>
        </p:txBody>
      </p:sp>
      <p:pic>
        <p:nvPicPr>
          <p:cNvPr id="7" name="Picture 6">
            <a:extLst>
              <a:ext uri="{FF2B5EF4-FFF2-40B4-BE49-F238E27FC236}">
                <a16:creationId xmlns:a16="http://schemas.microsoft.com/office/drawing/2014/main" id="{786E51C2-3C79-5150-6460-9F66D90A534B}"/>
              </a:ext>
            </a:extLst>
          </p:cNvPr>
          <p:cNvPicPr>
            <a:picLocks noChangeAspect="1"/>
          </p:cNvPicPr>
          <p:nvPr/>
        </p:nvPicPr>
        <p:blipFill>
          <a:blip r:embed="rId2"/>
          <a:stretch>
            <a:fillRect/>
          </a:stretch>
        </p:blipFill>
        <p:spPr>
          <a:xfrm>
            <a:off x="1139428" y="799141"/>
            <a:ext cx="9656392" cy="4860013"/>
          </a:xfrm>
          <a:prstGeom prst="rect">
            <a:avLst/>
          </a:prstGeom>
        </p:spPr>
      </p:pic>
    </p:spTree>
    <p:extLst>
      <p:ext uri="{BB962C8B-B14F-4D97-AF65-F5344CB8AC3E}">
        <p14:creationId xmlns:p14="http://schemas.microsoft.com/office/powerpoint/2010/main" val="272145061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4778B25-4426-C133-04DB-F9C540D3B07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FE1A780-585B-6DDE-0F77-1604426C8ACC}"/>
              </a:ext>
            </a:extLst>
          </p:cNvPr>
          <p:cNvSpPr>
            <a:spLocks noGrp="1"/>
          </p:cNvSpPr>
          <p:nvPr>
            <p:ph type="title"/>
          </p:nvPr>
        </p:nvSpPr>
        <p:spPr>
          <a:xfrm>
            <a:off x="0" y="1"/>
            <a:ext cx="10515600" cy="626806"/>
          </a:xfrm>
        </p:spPr>
        <p:txBody>
          <a:bodyPr>
            <a:normAutofit fontScale="90000"/>
          </a:bodyPr>
          <a:lstStyle/>
          <a:p>
            <a:r>
              <a:rPr lang="zh-TW" altLang="en-US"/>
              <a:t>佈局指南：</a:t>
            </a:r>
            <a:endParaRPr lang="en-US"/>
          </a:p>
        </p:txBody>
      </p:sp>
      <p:sp>
        <p:nvSpPr>
          <p:cNvPr id="4" name="Oval 3">
            <a:extLst>
              <a:ext uri="{FF2B5EF4-FFF2-40B4-BE49-F238E27FC236}">
                <a16:creationId xmlns:a16="http://schemas.microsoft.com/office/drawing/2014/main" id="{98475907-44A2-9794-DDDC-E89EBE181CFB}"/>
              </a:ext>
            </a:extLst>
          </p:cNvPr>
          <p:cNvSpPr/>
          <p:nvPr/>
        </p:nvSpPr>
        <p:spPr>
          <a:xfrm>
            <a:off x="1925320" y="3368040"/>
            <a:ext cx="645160" cy="629920"/>
          </a:xfrm>
          <a:prstGeom prst="ellipse">
            <a:avLst/>
          </a:prstGeom>
          <a:noFill/>
          <a:ln w="254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Oval 10">
            <a:extLst>
              <a:ext uri="{FF2B5EF4-FFF2-40B4-BE49-F238E27FC236}">
                <a16:creationId xmlns:a16="http://schemas.microsoft.com/office/drawing/2014/main" id="{8B564695-087D-4EA4-073E-4C60221F1BA6}"/>
              </a:ext>
            </a:extLst>
          </p:cNvPr>
          <p:cNvSpPr/>
          <p:nvPr/>
        </p:nvSpPr>
        <p:spPr>
          <a:xfrm>
            <a:off x="8501181" y="2143924"/>
            <a:ext cx="645160" cy="629920"/>
          </a:xfrm>
          <a:prstGeom prst="ellipse">
            <a:avLst/>
          </a:prstGeom>
          <a:noFill/>
          <a:ln w="254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Oval 11">
            <a:extLst>
              <a:ext uri="{FF2B5EF4-FFF2-40B4-BE49-F238E27FC236}">
                <a16:creationId xmlns:a16="http://schemas.microsoft.com/office/drawing/2014/main" id="{C3F02B90-A106-DE6B-E300-907D092F0C71}"/>
              </a:ext>
            </a:extLst>
          </p:cNvPr>
          <p:cNvSpPr/>
          <p:nvPr/>
        </p:nvSpPr>
        <p:spPr>
          <a:xfrm>
            <a:off x="5257800" y="4650658"/>
            <a:ext cx="346587" cy="294968"/>
          </a:xfrm>
          <a:prstGeom prst="ellipse">
            <a:avLst/>
          </a:prstGeom>
          <a:no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extBox 7">
            <a:extLst>
              <a:ext uri="{FF2B5EF4-FFF2-40B4-BE49-F238E27FC236}">
                <a16:creationId xmlns:a16="http://schemas.microsoft.com/office/drawing/2014/main" id="{A575C913-4DA3-AFDF-4624-0AF4CA7053A6}"/>
              </a:ext>
            </a:extLst>
          </p:cNvPr>
          <p:cNvSpPr txBox="1"/>
          <p:nvPr/>
        </p:nvSpPr>
        <p:spPr>
          <a:xfrm>
            <a:off x="1259840" y="5922793"/>
            <a:ext cx="3243334" cy="400110"/>
          </a:xfrm>
          <a:prstGeom prst="rect">
            <a:avLst/>
          </a:prstGeom>
          <a:noFill/>
        </p:spPr>
        <p:txBody>
          <a:bodyPr wrap="square">
            <a:spAutoFit/>
          </a:bodyPr>
          <a:lstStyle/>
          <a:p>
            <a:r>
              <a:rPr lang="zh-TW" altLang="en-US" sz="2000"/>
              <a:t>各種不同類型的 過孔</a:t>
            </a:r>
            <a:endParaRPr lang="en-US" sz="2000"/>
          </a:p>
        </p:txBody>
      </p:sp>
      <p:pic>
        <p:nvPicPr>
          <p:cNvPr id="10" name="Picture 9">
            <a:extLst>
              <a:ext uri="{FF2B5EF4-FFF2-40B4-BE49-F238E27FC236}">
                <a16:creationId xmlns:a16="http://schemas.microsoft.com/office/drawing/2014/main" id="{84280C68-3BD6-7B69-F7A7-3D418AF64231}"/>
              </a:ext>
            </a:extLst>
          </p:cNvPr>
          <p:cNvPicPr>
            <a:picLocks noChangeAspect="1"/>
          </p:cNvPicPr>
          <p:nvPr/>
        </p:nvPicPr>
        <p:blipFill>
          <a:blip r:embed="rId2"/>
          <a:stretch>
            <a:fillRect/>
          </a:stretch>
        </p:blipFill>
        <p:spPr>
          <a:xfrm>
            <a:off x="1150374" y="1012320"/>
            <a:ext cx="10058400" cy="4833359"/>
          </a:xfrm>
          <a:prstGeom prst="rect">
            <a:avLst/>
          </a:prstGeom>
        </p:spPr>
      </p:pic>
    </p:spTree>
    <p:extLst>
      <p:ext uri="{BB962C8B-B14F-4D97-AF65-F5344CB8AC3E}">
        <p14:creationId xmlns:p14="http://schemas.microsoft.com/office/powerpoint/2010/main" val="88604070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B5FF26-5C4D-56A9-2520-7A3D440AEBC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445018B-7F5C-2A30-5578-7B73BBA3E4F9}"/>
              </a:ext>
            </a:extLst>
          </p:cNvPr>
          <p:cNvSpPr>
            <a:spLocks noGrp="1"/>
          </p:cNvSpPr>
          <p:nvPr>
            <p:ph type="title"/>
          </p:nvPr>
        </p:nvSpPr>
        <p:spPr>
          <a:xfrm>
            <a:off x="0" y="1"/>
            <a:ext cx="10515600" cy="626806"/>
          </a:xfrm>
        </p:spPr>
        <p:txBody>
          <a:bodyPr>
            <a:normAutofit fontScale="90000"/>
          </a:bodyPr>
          <a:lstStyle/>
          <a:p>
            <a:r>
              <a:rPr lang="zh-TW" altLang="en-US"/>
              <a:t>佈局指南：</a:t>
            </a:r>
            <a:endParaRPr lang="en-US"/>
          </a:p>
        </p:txBody>
      </p:sp>
      <p:sp>
        <p:nvSpPr>
          <p:cNvPr id="4" name="Oval 3">
            <a:extLst>
              <a:ext uri="{FF2B5EF4-FFF2-40B4-BE49-F238E27FC236}">
                <a16:creationId xmlns:a16="http://schemas.microsoft.com/office/drawing/2014/main" id="{9E8FCC17-B6BE-2BF3-D8C7-669802DFEEA3}"/>
              </a:ext>
            </a:extLst>
          </p:cNvPr>
          <p:cNvSpPr/>
          <p:nvPr/>
        </p:nvSpPr>
        <p:spPr>
          <a:xfrm>
            <a:off x="1925320" y="3368040"/>
            <a:ext cx="645160" cy="629920"/>
          </a:xfrm>
          <a:prstGeom prst="ellipse">
            <a:avLst/>
          </a:prstGeom>
          <a:noFill/>
          <a:ln w="254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Oval 10">
            <a:extLst>
              <a:ext uri="{FF2B5EF4-FFF2-40B4-BE49-F238E27FC236}">
                <a16:creationId xmlns:a16="http://schemas.microsoft.com/office/drawing/2014/main" id="{F344CEB7-79FB-596A-41A5-07456103AA06}"/>
              </a:ext>
            </a:extLst>
          </p:cNvPr>
          <p:cNvSpPr/>
          <p:nvPr/>
        </p:nvSpPr>
        <p:spPr>
          <a:xfrm>
            <a:off x="8501181" y="2143924"/>
            <a:ext cx="645160" cy="629920"/>
          </a:xfrm>
          <a:prstGeom prst="ellipse">
            <a:avLst/>
          </a:prstGeom>
          <a:noFill/>
          <a:ln w="254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Oval 11">
            <a:extLst>
              <a:ext uri="{FF2B5EF4-FFF2-40B4-BE49-F238E27FC236}">
                <a16:creationId xmlns:a16="http://schemas.microsoft.com/office/drawing/2014/main" id="{86F5AF75-5CB3-9AB4-D184-696B3A87CFB2}"/>
              </a:ext>
            </a:extLst>
          </p:cNvPr>
          <p:cNvSpPr/>
          <p:nvPr/>
        </p:nvSpPr>
        <p:spPr>
          <a:xfrm>
            <a:off x="5257800" y="4650658"/>
            <a:ext cx="346587" cy="294968"/>
          </a:xfrm>
          <a:prstGeom prst="ellipse">
            <a:avLst/>
          </a:prstGeom>
          <a:no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 name="Picture 5">
            <a:extLst>
              <a:ext uri="{FF2B5EF4-FFF2-40B4-BE49-F238E27FC236}">
                <a16:creationId xmlns:a16="http://schemas.microsoft.com/office/drawing/2014/main" id="{9451AEB1-E569-3834-3F7B-4FC8619128C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47483" y="736888"/>
            <a:ext cx="11720052" cy="5892224"/>
          </a:xfrm>
          <a:prstGeom prst="rect">
            <a:avLst/>
          </a:prstGeom>
        </p:spPr>
      </p:pic>
    </p:spTree>
    <p:extLst>
      <p:ext uri="{BB962C8B-B14F-4D97-AF65-F5344CB8AC3E}">
        <p14:creationId xmlns:p14="http://schemas.microsoft.com/office/powerpoint/2010/main" val="409029533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213F9EB-BC25-E0C4-2B25-C27AEBF5DF1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F1A721D-DF65-26EA-B991-9FDF65BB0023}"/>
              </a:ext>
            </a:extLst>
          </p:cNvPr>
          <p:cNvSpPr>
            <a:spLocks noGrp="1"/>
          </p:cNvSpPr>
          <p:nvPr>
            <p:ph type="title"/>
          </p:nvPr>
        </p:nvSpPr>
        <p:spPr>
          <a:xfrm>
            <a:off x="0" y="1"/>
            <a:ext cx="10515600" cy="626806"/>
          </a:xfrm>
        </p:spPr>
        <p:txBody>
          <a:bodyPr>
            <a:normAutofit fontScale="90000"/>
          </a:bodyPr>
          <a:lstStyle/>
          <a:p>
            <a:r>
              <a:rPr lang="zh-TW" altLang="en-US"/>
              <a:t>佈局指南：過孔 </a:t>
            </a:r>
            <a:r>
              <a:rPr lang="en-US" altLang="zh-TW"/>
              <a:t>(</a:t>
            </a:r>
            <a:r>
              <a:rPr lang="en-US"/>
              <a:t>Via) </a:t>
            </a:r>
            <a:r>
              <a:rPr lang="zh-TW" altLang="en-US"/>
              <a:t>的用途</a:t>
            </a:r>
            <a:endParaRPr lang="en-US"/>
          </a:p>
        </p:txBody>
      </p:sp>
      <p:sp>
        <p:nvSpPr>
          <p:cNvPr id="4" name="Oval 3">
            <a:extLst>
              <a:ext uri="{FF2B5EF4-FFF2-40B4-BE49-F238E27FC236}">
                <a16:creationId xmlns:a16="http://schemas.microsoft.com/office/drawing/2014/main" id="{494251A9-9291-E339-1F4A-A88B79458486}"/>
              </a:ext>
            </a:extLst>
          </p:cNvPr>
          <p:cNvSpPr/>
          <p:nvPr/>
        </p:nvSpPr>
        <p:spPr>
          <a:xfrm>
            <a:off x="1925320" y="3368040"/>
            <a:ext cx="645160" cy="629920"/>
          </a:xfrm>
          <a:prstGeom prst="ellipse">
            <a:avLst/>
          </a:prstGeom>
          <a:noFill/>
          <a:ln w="254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Oval 10">
            <a:extLst>
              <a:ext uri="{FF2B5EF4-FFF2-40B4-BE49-F238E27FC236}">
                <a16:creationId xmlns:a16="http://schemas.microsoft.com/office/drawing/2014/main" id="{527EF756-3E76-31B3-C6FE-5F23C69A8E8D}"/>
              </a:ext>
            </a:extLst>
          </p:cNvPr>
          <p:cNvSpPr/>
          <p:nvPr/>
        </p:nvSpPr>
        <p:spPr>
          <a:xfrm>
            <a:off x="8501181" y="2143924"/>
            <a:ext cx="645160" cy="629920"/>
          </a:xfrm>
          <a:prstGeom prst="ellipse">
            <a:avLst/>
          </a:prstGeom>
          <a:noFill/>
          <a:ln w="254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Oval 11">
            <a:extLst>
              <a:ext uri="{FF2B5EF4-FFF2-40B4-BE49-F238E27FC236}">
                <a16:creationId xmlns:a16="http://schemas.microsoft.com/office/drawing/2014/main" id="{9E5DC3A2-D016-E0F6-4B22-14895E12F7EE}"/>
              </a:ext>
            </a:extLst>
          </p:cNvPr>
          <p:cNvSpPr/>
          <p:nvPr/>
        </p:nvSpPr>
        <p:spPr>
          <a:xfrm>
            <a:off x="5257800" y="4650658"/>
            <a:ext cx="346587" cy="294968"/>
          </a:xfrm>
          <a:prstGeom prst="ellipse">
            <a:avLst/>
          </a:prstGeom>
          <a:no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a:extLst>
              <a:ext uri="{FF2B5EF4-FFF2-40B4-BE49-F238E27FC236}">
                <a16:creationId xmlns:a16="http://schemas.microsoft.com/office/drawing/2014/main" id="{62E4BCF1-8882-C1FD-85F7-26C265726494}"/>
              </a:ext>
            </a:extLst>
          </p:cNvPr>
          <p:cNvPicPr>
            <a:picLocks noChangeAspect="1"/>
          </p:cNvPicPr>
          <p:nvPr/>
        </p:nvPicPr>
        <p:blipFill>
          <a:blip r:embed="rId2"/>
          <a:stretch>
            <a:fillRect/>
          </a:stretch>
        </p:blipFill>
        <p:spPr>
          <a:xfrm>
            <a:off x="2521586" y="2104516"/>
            <a:ext cx="7745094" cy="3156968"/>
          </a:xfrm>
          <a:prstGeom prst="rect">
            <a:avLst/>
          </a:prstGeom>
        </p:spPr>
      </p:pic>
      <p:sp>
        <p:nvSpPr>
          <p:cNvPr id="7" name="TextBox 6">
            <a:extLst>
              <a:ext uri="{FF2B5EF4-FFF2-40B4-BE49-F238E27FC236}">
                <a16:creationId xmlns:a16="http://schemas.microsoft.com/office/drawing/2014/main" id="{740CDDA7-D8BF-2D1D-B0B8-C0388B120148}"/>
              </a:ext>
            </a:extLst>
          </p:cNvPr>
          <p:cNvSpPr txBox="1"/>
          <p:nvPr/>
        </p:nvSpPr>
        <p:spPr>
          <a:xfrm>
            <a:off x="255639" y="816077"/>
            <a:ext cx="2448232" cy="461665"/>
          </a:xfrm>
          <a:prstGeom prst="rect">
            <a:avLst/>
          </a:prstGeom>
          <a:noFill/>
        </p:spPr>
        <p:txBody>
          <a:bodyPr wrap="square" rtlCol="0">
            <a:spAutoFit/>
          </a:bodyPr>
          <a:lstStyle/>
          <a:p>
            <a:r>
              <a:rPr lang="zh-TW" altLang="en-US" sz="2400"/>
              <a:t>熱傳導：</a:t>
            </a:r>
            <a:endParaRPr lang="en-US" sz="2200"/>
          </a:p>
        </p:txBody>
      </p:sp>
    </p:spTree>
    <p:extLst>
      <p:ext uri="{BB962C8B-B14F-4D97-AF65-F5344CB8AC3E}">
        <p14:creationId xmlns:p14="http://schemas.microsoft.com/office/powerpoint/2010/main" val="96639485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8229F53-CD5E-5557-195B-B846A8E2E04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74A3481-BF78-7DBE-84B0-71526A61D7D5}"/>
              </a:ext>
            </a:extLst>
          </p:cNvPr>
          <p:cNvSpPr>
            <a:spLocks noGrp="1"/>
          </p:cNvSpPr>
          <p:nvPr>
            <p:ph type="title"/>
          </p:nvPr>
        </p:nvSpPr>
        <p:spPr>
          <a:xfrm>
            <a:off x="0" y="1"/>
            <a:ext cx="10515600" cy="626806"/>
          </a:xfrm>
        </p:spPr>
        <p:txBody>
          <a:bodyPr>
            <a:normAutofit fontScale="90000"/>
          </a:bodyPr>
          <a:lstStyle/>
          <a:p>
            <a:r>
              <a:rPr lang="zh-TW" altLang="en-US"/>
              <a:t>佈局指南：過孔 </a:t>
            </a:r>
            <a:r>
              <a:rPr lang="en-US" altLang="zh-TW"/>
              <a:t>(</a:t>
            </a:r>
            <a:r>
              <a:rPr lang="en-US"/>
              <a:t>Via) </a:t>
            </a:r>
            <a:r>
              <a:rPr lang="zh-TW" altLang="en-US"/>
              <a:t>的用途</a:t>
            </a:r>
            <a:endParaRPr lang="en-US"/>
          </a:p>
        </p:txBody>
      </p:sp>
      <p:sp>
        <p:nvSpPr>
          <p:cNvPr id="4" name="Oval 3">
            <a:extLst>
              <a:ext uri="{FF2B5EF4-FFF2-40B4-BE49-F238E27FC236}">
                <a16:creationId xmlns:a16="http://schemas.microsoft.com/office/drawing/2014/main" id="{05D78F7D-381F-B5AE-5E0F-85C6E6762CFB}"/>
              </a:ext>
            </a:extLst>
          </p:cNvPr>
          <p:cNvSpPr/>
          <p:nvPr/>
        </p:nvSpPr>
        <p:spPr>
          <a:xfrm>
            <a:off x="1925320" y="3368040"/>
            <a:ext cx="645160" cy="629920"/>
          </a:xfrm>
          <a:prstGeom prst="ellipse">
            <a:avLst/>
          </a:prstGeom>
          <a:noFill/>
          <a:ln w="254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Oval 10">
            <a:extLst>
              <a:ext uri="{FF2B5EF4-FFF2-40B4-BE49-F238E27FC236}">
                <a16:creationId xmlns:a16="http://schemas.microsoft.com/office/drawing/2014/main" id="{E1A6871F-3172-F95F-13AA-A22C68FD6A47}"/>
              </a:ext>
            </a:extLst>
          </p:cNvPr>
          <p:cNvSpPr/>
          <p:nvPr/>
        </p:nvSpPr>
        <p:spPr>
          <a:xfrm>
            <a:off x="8501181" y="2143924"/>
            <a:ext cx="645160" cy="629920"/>
          </a:xfrm>
          <a:prstGeom prst="ellipse">
            <a:avLst/>
          </a:prstGeom>
          <a:noFill/>
          <a:ln w="254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Oval 11">
            <a:extLst>
              <a:ext uri="{FF2B5EF4-FFF2-40B4-BE49-F238E27FC236}">
                <a16:creationId xmlns:a16="http://schemas.microsoft.com/office/drawing/2014/main" id="{93F60748-8A06-5685-8A12-6DC2823A2EF7}"/>
              </a:ext>
            </a:extLst>
          </p:cNvPr>
          <p:cNvSpPr/>
          <p:nvPr/>
        </p:nvSpPr>
        <p:spPr>
          <a:xfrm>
            <a:off x="5257800" y="4650658"/>
            <a:ext cx="346587" cy="294968"/>
          </a:xfrm>
          <a:prstGeom prst="ellipse">
            <a:avLst/>
          </a:prstGeom>
          <a:no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extBox 6">
            <a:extLst>
              <a:ext uri="{FF2B5EF4-FFF2-40B4-BE49-F238E27FC236}">
                <a16:creationId xmlns:a16="http://schemas.microsoft.com/office/drawing/2014/main" id="{C836EFD6-DA08-FDB8-5A92-14A8D188A926}"/>
              </a:ext>
            </a:extLst>
          </p:cNvPr>
          <p:cNvSpPr txBox="1"/>
          <p:nvPr/>
        </p:nvSpPr>
        <p:spPr>
          <a:xfrm>
            <a:off x="0" y="775147"/>
            <a:ext cx="12192000" cy="461665"/>
          </a:xfrm>
          <a:prstGeom prst="rect">
            <a:avLst/>
          </a:prstGeom>
          <a:noFill/>
        </p:spPr>
        <p:txBody>
          <a:bodyPr wrap="square" rtlCol="0">
            <a:spAutoFit/>
          </a:bodyPr>
          <a:lstStyle/>
          <a:p>
            <a:r>
              <a:rPr lang="zh-TW" altLang="en-US" sz="2400"/>
              <a:t>使用 接地縫合過孔 </a:t>
            </a:r>
            <a:r>
              <a:rPr lang="en-US" altLang="zh-TW" sz="2400"/>
              <a:t>(</a:t>
            </a:r>
            <a:r>
              <a:rPr lang="en-US" sz="2400"/>
              <a:t>Ground stitched vias) </a:t>
            </a:r>
            <a:r>
              <a:rPr lang="zh-TW" altLang="en-US" sz="2400"/>
              <a:t>來保護敏感訊號 </a:t>
            </a:r>
            <a:r>
              <a:rPr lang="en-US" altLang="zh-TW" sz="2400"/>
              <a:t>(</a:t>
            </a:r>
            <a:r>
              <a:rPr lang="en-US" sz="2400"/>
              <a:t>Sensitive signals)</a:t>
            </a:r>
            <a:endParaRPr lang="en-US" sz="2200"/>
          </a:p>
        </p:txBody>
      </p:sp>
      <p:pic>
        <p:nvPicPr>
          <p:cNvPr id="6" name="Picture 5">
            <a:extLst>
              <a:ext uri="{FF2B5EF4-FFF2-40B4-BE49-F238E27FC236}">
                <a16:creationId xmlns:a16="http://schemas.microsoft.com/office/drawing/2014/main" id="{0A036FE9-DBC2-36BF-FC15-DE0A22537947}"/>
              </a:ext>
            </a:extLst>
          </p:cNvPr>
          <p:cNvPicPr>
            <a:picLocks noChangeAspect="1"/>
          </p:cNvPicPr>
          <p:nvPr/>
        </p:nvPicPr>
        <p:blipFill>
          <a:blip r:embed="rId2"/>
          <a:stretch>
            <a:fillRect/>
          </a:stretch>
        </p:blipFill>
        <p:spPr>
          <a:xfrm>
            <a:off x="3869634" y="1615786"/>
            <a:ext cx="4020111" cy="4134427"/>
          </a:xfrm>
          <a:prstGeom prst="rect">
            <a:avLst/>
          </a:prstGeom>
        </p:spPr>
      </p:pic>
    </p:spTree>
    <p:extLst>
      <p:ext uri="{BB962C8B-B14F-4D97-AF65-F5344CB8AC3E}">
        <p14:creationId xmlns:p14="http://schemas.microsoft.com/office/powerpoint/2010/main" val="97947783"/>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572E99B-88E5-2982-F87C-4A283A5FB71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E9E59D5-E242-9A89-568D-257DAED7341E}"/>
              </a:ext>
            </a:extLst>
          </p:cNvPr>
          <p:cNvSpPr>
            <a:spLocks noGrp="1"/>
          </p:cNvSpPr>
          <p:nvPr>
            <p:ph type="title"/>
          </p:nvPr>
        </p:nvSpPr>
        <p:spPr>
          <a:xfrm>
            <a:off x="0" y="1"/>
            <a:ext cx="10515600" cy="626806"/>
          </a:xfrm>
        </p:spPr>
        <p:txBody>
          <a:bodyPr>
            <a:normAutofit fontScale="90000"/>
          </a:bodyPr>
          <a:lstStyle/>
          <a:p>
            <a:r>
              <a:rPr lang="zh-TW" altLang="en-US"/>
              <a:t>練習：</a:t>
            </a:r>
            <a:endParaRPr lang="en-US"/>
          </a:p>
        </p:txBody>
      </p:sp>
      <p:sp>
        <p:nvSpPr>
          <p:cNvPr id="4" name="Oval 3">
            <a:extLst>
              <a:ext uri="{FF2B5EF4-FFF2-40B4-BE49-F238E27FC236}">
                <a16:creationId xmlns:a16="http://schemas.microsoft.com/office/drawing/2014/main" id="{FB1DA8D4-B993-3AE7-A069-C827A84B0FF9}"/>
              </a:ext>
            </a:extLst>
          </p:cNvPr>
          <p:cNvSpPr/>
          <p:nvPr/>
        </p:nvSpPr>
        <p:spPr>
          <a:xfrm>
            <a:off x="1925320" y="3368040"/>
            <a:ext cx="645160" cy="629920"/>
          </a:xfrm>
          <a:prstGeom prst="ellipse">
            <a:avLst/>
          </a:prstGeom>
          <a:noFill/>
          <a:ln w="254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Oval 10">
            <a:extLst>
              <a:ext uri="{FF2B5EF4-FFF2-40B4-BE49-F238E27FC236}">
                <a16:creationId xmlns:a16="http://schemas.microsoft.com/office/drawing/2014/main" id="{44330E13-EF25-EC23-7A16-AD72EB9D62D1}"/>
              </a:ext>
            </a:extLst>
          </p:cNvPr>
          <p:cNvSpPr/>
          <p:nvPr/>
        </p:nvSpPr>
        <p:spPr>
          <a:xfrm>
            <a:off x="8501181" y="2143924"/>
            <a:ext cx="645160" cy="629920"/>
          </a:xfrm>
          <a:prstGeom prst="ellipse">
            <a:avLst/>
          </a:prstGeom>
          <a:noFill/>
          <a:ln w="254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Oval 11">
            <a:extLst>
              <a:ext uri="{FF2B5EF4-FFF2-40B4-BE49-F238E27FC236}">
                <a16:creationId xmlns:a16="http://schemas.microsoft.com/office/drawing/2014/main" id="{CF3B9384-D24A-E770-CE0F-D5AF2DF7902D}"/>
              </a:ext>
            </a:extLst>
          </p:cNvPr>
          <p:cNvSpPr/>
          <p:nvPr/>
        </p:nvSpPr>
        <p:spPr>
          <a:xfrm>
            <a:off x="5257800" y="4650658"/>
            <a:ext cx="346587" cy="294968"/>
          </a:xfrm>
          <a:prstGeom prst="ellipse">
            <a:avLst/>
          </a:prstGeom>
          <a:no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a:extLst>
              <a:ext uri="{FF2B5EF4-FFF2-40B4-BE49-F238E27FC236}">
                <a16:creationId xmlns:a16="http://schemas.microsoft.com/office/drawing/2014/main" id="{723DADB5-EE99-C9EC-0155-17F700753046}"/>
              </a:ext>
            </a:extLst>
          </p:cNvPr>
          <p:cNvSpPr txBox="1"/>
          <p:nvPr/>
        </p:nvSpPr>
        <p:spPr>
          <a:xfrm>
            <a:off x="117986" y="626807"/>
            <a:ext cx="12074013" cy="769441"/>
          </a:xfrm>
          <a:prstGeom prst="rect">
            <a:avLst/>
          </a:prstGeom>
          <a:noFill/>
        </p:spPr>
        <p:txBody>
          <a:bodyPr wrap="square" rtlCol="0">
            <a:spAutoFit/>
          </a:bodyPr>
          <a:lstStyle/>
          <a:p>
            <a:r>
              <a:rPr lang="en-US" sz="2200"/>
              <a:t>Amplifier speaker circuit: https://therepaircafe.wordpress.com/2017/03/23/kicad-3-lm386-amplifier-with-bass-boost/</a:t>
            </a:r>
          </a:p>
        </p:txBody>
      </p:sp>
      <p:pic>
        <p:nvPicPr>
          <p:cNvPr id="1026" name="Picture 2" descr="ytfytf">
            <a:extLst>
              <a:ext uri="{FF2B5EF4-FFF2-40B4-BE49-F238E27FC236}">
                <a16:creationId xmlns:a16="http://schemas.microsoft.com/office/drawing/2014/main" id="{CB463B07-4277-28EB-433E-C785CC8D390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02597" y="1903771"/>
            <a:ext cx="4019960" cy="2894371"/>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gyfty">
            <a:extLst>
              <a:ext uri="{FF2B5EF4-FFF2-40B4-BE49-F238E27FC236}">
                <a16:creationId xmlns:a16="http://schemas.microsoft.com/office/drawing/2014/main" id="{2F998913-64F1-C332-D081-C4A15EF2D5F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345903" y="1612643"/>
            <a:ext cx="5143500" cy="3476625"/>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411ABB8D-6B35-442A-C588-56E876DA23A9}"/>
              </a:ext>
            </a:extLst>
          </p:cNvPr>
          <p:cNvSpPr txBox="1"/>
          <p:nvPr/>
        </p:nvSpPr>
        <p:spPr>
          <a:xfrm>
            <a:off x="6464710" y="5189662"/>
            <a:ext cx="4326194" cy="430887"/>
          </a:xfrm>
          <a:prstGeom prst="rect">
            <a:avLst/>
          </a:prstGeom>
          <a:noFill/>
        </p:spPr>
        <p:txBody>
          <a:bodyPr wrap="square" rtlCol="0">
            <a:spAutoFit/>
          </a:bodyPr>
          <a:lstStyle/>
          <a:p>
            <a:r>
              <a:rPr lang="en-US" sz="2200"/>
              <a:t>KiCad </a:t>
            </a:r>
            <a:r>
              <a:rPr lang="zh-TW" altLang="en-US" sz="2200"/>
              <a:t>原理圖</a:t>
            </a:r>
            <a:endParaRPr lang="en-US" sz="2200"/>
          </a:p>
        </p:txBody>
      </p:sp>
    </p:spTree>
    <p:extLst>
      <p:ext uri="{BB962C8B-B14F-4D97-AF65-F5344CB8AC3E}">
        <p14:creationId xmlns:p14="http://schemas.microsoft.com/office/powerpoint/2010/main" val="3198410002"/>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E91E07-8799-2563-C62C-F17615355D5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C8DBC5F-44F7-76DC-5218-550AFBDD5A7E}"/>
              </a:ext>
            </a:extLst>
          </p:cNvPr>
          <p:cNvSpPr>
            <a:spLocks noGrp="1"/>
          </p:cNvSpPr>
          <p:nvPr>
            <p:ph type="title"/>
          </p:nvPr>
        </p:nvSpPr>
        <p:spPr>
          <a:xfrm>
            <a:off x="0" y="1"/>
            <a:ext cx="10515600" cy="626806"/>
          </a:xfrm>
        </p:spPr>
        <p:txBody>
          <a:bodyPr>
            <a:normAutofit fontScale="90000"/>
          </a:bodyPr>
          <a:lstStyle/>
          <a:p>
            <a:r>
              <a:rPr lang="zh-TW" altLang="en-US"/>
              <a:t>練習：</a:t>
            </a:r>
            <a:endParaRPr lang="en-US"/>
          </a:p>
        </p:txBody>
      </p:sp>
      <p:sp>
        <p:nvSpPr>
          <p:cNvPr id="4" name="Oval 3">
            <a:extLst>
              <a:ext uri="{FF2B5EF4-FFF2-40B4-BE49-F238E27FC236}">
                <a16:creationId xmlns:a16="http://schemas.microsoft.com/office/drawing/2014/main" id="{625C6CCE-955B-EFE7-D619-FF2C1664852F}"/>
              </a:ext>
            </a:extLst>
          </p:cNvPr>
          <p:cNvSpPr/>
          <p:nvPr/>
        </p:nvSpPr>
        <p:spPr>
          <a:xfrm>
            <a:off x="1925320" y="3368040"/>
            <a:ext cx="645160" cy="629920"/>
          </a:xfrm>
          <a:prstGeom prst="ellipse">
            <a:avLst/>
          </a:prstGeom>
          <a:noFill/>
          <a:ln w="254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Oval 10">
            <a:extLst>
              <a:ext uri="{FF2B5EF4-FFF2-40B4-BE49-F238E27FC236}">
                <a16:creationId xmlns:a16="http://schemas.microsoft.com/office/drawing/2014/main" id="{239DC6EC-D4B9-5A90-FE07-A385319667F1}"/>
              </a:ext>
            </a:extLst>
          </p:cNvPr>
          <p:cNvSpPr/>
          <p:nvPr/>
        </p:nvSpPr>
        <p:spPr>
          <a:xfrm>
            <a:off x="8501181" y="2143924"/>
            <a:ext cx="645160" cy="629920"/>
          </a:xfrm>
          <a:prstGeom prst="ellipse">
            <a:avLst/>
          </a:prstGeom>
          <a:noFill/>
          <a:ln w="254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Oval 11">
            <a:extLst>
              <a:ext uri="{FF2B5EF4-FFF2-40B4-BE49-F238E27FC236}">
                <a16:creationId xmlns:a16="http://schemas.microsoft.com/office/drawing/2014/main" id="{229A106F-A754-2D6B-3D5C-6424D4DCC514}"/>
              </a:ext>
            </a:extLst>
          </p:cNvPr>
          <p:cNvSpPr/>
          <p:nvPr/>
        </p:nvSpPr>
        <p:spPr>
          <a:xfrm>
            <a:off x="5257800" y="4650658"/>
            <a:ext cx="346587" cy="294968"/>
          </a:xfrm>
          <a:prstGeom prst="ellipse">
            <a:avLst/>
          </a:prstGeom>
          <a:no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a:extLst>
              <a:ext uri="{FF2B5EF4-FFF2-40B4-BE49-F238E27FC236}">
                <a16:creationId xmlns:a16="http://schemas.microsoft.com/office/drawing/2014/main" id="{D2E8472A-1777-BF4A-0B17-A9A79B7F2732}"/>
              </a:ext>
            </a:extLst>
          </p:cNvPr>
          <p:cNvSpPr txBox="1"/>
          <p:nvPr/>
        </p:nvSpPr>
        <p:spPr>
          <a:xfrm>
            <a:off x="117987" y="626807"/>
            <a:ext cx="4326194" cy="430887"/>
          </a:xfrm>
          <a:prstGeom prst="rect">
            <a:avLst/>
          </a:prstGeom>
          <a:noFill/>
        </p:spPr>
        <p:txBody>
          <a:bodyPr wrap="square" rtlCol="0">
            <a:spAutoFit/>
          </a:bodyPr>
          <a:lstStyle/>
          <a:p>
            <a:r>
              <a:rPr lang="en-US" sz="2200"/>
              <a:t>Amplifier speaker circuit:</a:t>
            </a:r>
          </a:p>
        </p:txBody>
      </p:sp>
      <p:sp>
        <p:nvSpPr>
          <p:cNvPr id="5" name="TextBox 4">
            <a:extLst>
              <a:ext uri="{FF2B5EF4-FFF2-40B4-BE49-F238E27FC236}">
                <a16:creationId xmlns:a16="http://schemas.microsoft.com/office/drawing/2014/main" id="{C8072CC0-6B90-B601-0999-98B3FB28641E}"/>
              </a:ext>
            </a:extLst>
          </p:cNvPr>
          <p:cNvSpPr txBox="1"/>
          <p:nvPr/>
        </p:nvSpPr>
        <p:spPr>
          <a:xfrm>
            <a:off x="620712" y="6392197"/>
            <a:ext cx="4326194" cy="430887"/>
          </a:xfrm>
          <a:prstGeom prst="rect">
            <a:avLst/>
          </a:prstGeom>
          <a:noFill/>
        </p:spPr>
        <p:txBody>
          <a:bodyPr wrap="square" rtlCol="0">
            <a:spAutoFit/>
          </a:bodyPr>
          <a:lstStyle/>
          <a:p>
            <a:r>
              <a:rPr lang="en-US" sz="2200"/>
              <a:t>PCB </a:t>
            </a:r>
            <a:r>
              <a:rPr lang="zh-TW" altLang="en-US" sz="2200"/>
              <a:t>佈局</a:t>
            </a:r>
            <a:endParaRPr lang="en-US" sz="2200"/>
          </a:p>
        </p:txBody>
      </p:sp>
      <p:pic>
        <p:nvPicPr>
          <p:cNvPr id="2050" name="Picture 2" descr="huhub">
            <a:extLst>
              <a:ext uri="{FF2B5EF4-FFF2-40B4-BE49-F238E27FC236}">
                <a16:creationId xmlns:a16="http://schemas.microsoft.com/office/drawing/2014/main" id="{46BD68A4-C5B5-4584-857B-4CEF73FFDE4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02597" y="1134397"/>
            <a:ext cx="4162425" cy="5257800"/>
          </a:xfrm>
          <a:prstGeom prst="rect">
            <a:avLst/>
          </a:prstGeom>
          <a:noFill/>
          <a:extLst>
            <a:ext uri="{909E8E84-426E-40DD-AFC4-6F175D3DCCD1}">
              <a14:hiddenFill xmlns:a14="http://schemas.microsoft.com/office/drawing/2010/main">
                <a:solidFill>
                  <a:srgbClr val="FFFFFF"/>
                </a:solidFill>
              </a14:hiddenFill>
            </a:ext>
          </a:extLst>
        </p:spPr>
      </p:pic>
      <p:pic>
        <p:nvPicPr>
          <p:cNvPr id="2052" name="Picture 4">
            <a:extLst>
              <a:ext uri="{FF2B5EF4-FFF2-40B4-BE49-F238E27FC236}">
                <a16:creationId xmlns:a16="http://schemas.microsoft.com/office/drawing/2014/main" id="{AD23B221-EF01-B54F-D3A5-8D1826EE781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148506" y="1134397"/>
            <a:ext cx="4705350" cy="4953000"/>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5">
            <a:extLst>
              <a:ext uri="{FF2B5EF4-FFF2-40B4-BE49-F238E27FC236}">
                <a16:creationId xmlns:a16="http://schemas.microsoft.com/office/drawing/2014/main" id="{28F37E0B-7FE5-AE76-AE8F-CD1520922FF9}"/>
              </a:ext>
            </a:extLst>
          </p:cNvPr>
          <p:cNvSpPr txBox="1"/>
          <p:nvPr/>
        </p:nvSpPr>
        <p:spPr>
          <a:xfrm>
            <a:off x="6096000" y="6288959"/>
            <a:ext cx="4326194" cy="430887"/>
          </a:xfrm>
          <a:prstGeom prst="rect">
            <a:avLst/>
          </a:prstGeom>
          <a:noFill/>
        </p:spPr>
        <p:txBody>
          <a:bodyPr wrap="square" rtlCol="0">
            <a:spAutoFit/>
          </a:bodyPr>
          <a:lstStyle/>
          <a:p>
            <a:r>
              <a:rPr lang="en-US" sz="2200"/>
              <a:t>3D </a:t>
            </a:r>
            <a:r>
              <a:rPr lang="zh-TW" altLang="en-US" sz="2200"/>
              <a:t>檢視</a:t>
            </a:r>
            <a:endParaRPr lang="en-US" sz="2200"/>
          </a:p>
        </p:txBody>
      </p:sp>
    </p:spTree>
    <p:extLst>
      <p:ext uri="{BB962C8B-B14F-4D97-AF65-F5344CB8AC3E}">
        <p14:creationId xmlns:p14="http://schemas.microsoft.com/office/powerpoint/2010/main" val="3586054041"/>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500D347-6707-62D3-7C40-0DB11361780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87E49B3-2A8D-22AD-5F51-2267C2BED89D}"/>
              </a:ext>
            </a:extLst>
          </p:cNvPr>
          <p:cNvSpPr>
            <a:spLocks noGrp="1"/>
          </p:cNvSpPr>
          <p:nvPr>
            <p:ph type="title"/>
          </p:nvPr>
        </p:nvSpPr>
        <p:spPr>
          <a:xfrm>
            <a:off x="0" y="1"/>
            <a:ext cx="10515600" cy="626806"/>
          </a:xfrm>
        </p:spPr>
        <p:txBody>
          <a:bodyPr>
            <a:normAutofit fontScale="90000"/>
          </a:bodyPr>
          <a:lstStyle/>
          <a:p>
            <a:r>
              <a:rPr lang="zh-TW" altLang="en-US"/>
              <a:t>練習：</a:t>
            </a:r>
            <a:endParaRPr lang="en-US"/>
          </a:p>
        </p:txBody>
      </p:sp>
      <p:sp>
        <p:nvSpPr>
          <p:cNvPr id="4" name="Oval 3">
            <a:extLst>
              <a:ext uri="{FF2B5EF4-FFF2-40B4-BE49-F238E27FC236}">
                <a16:creationId xmlns:a16="http://schemas.microsoft.com/office/drawing/2014/main" id="{EFE9D5B8-7CF1-2EA4-159A-20A88D366C85}"/>
              </a:ext>
            </a:extLst>
          </p:cNvPr>
          <p:cNvSpPr/>
          <p:nvPr/>
        </p:nvSpPr>
        <p:spPr>
          <a:xfrm>
            <a:off x="1925320" y="3368040"/>
            <a:ext cx="645160" cy="629920"/>
          </a:xfrm>
          <a:prstGeom prst="ellipse">
            <a:avLst/>
          </a:prstGeom>
          <a:noFill/>
          <a:ln w="254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Oval 10">
            <a:extLst>
              <a:ext uri="{FF2B5EF4-FFF2-40B4-BE49-F238E27FC236}">
                <a16:creationId xmlns:a16="http://schemas.microsoft.com/office/drawing/2014/main" id="{B32C421A-559B-6159-A54E-11EE7B676F28}"/>
              </a:ext>
            </a:extLst>
          </p:cNvPr>
          <p:cNvSpPr/>
          <p:nvPr/>
        </p:nvSpPr>
        <p:spPr>
          <a:xfrm>
            <a:off x="8501181" y="2143924"/>
            <a:ext cx="645160" cy="629920"/>
          </a:xfrm>
          <a:prstGeom prst="ellipse">
            <a:avLst/>
          </a:prstGeom>
          <a:noFill/>
          <a:ln w="254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Oval 11">
            <a:extLst>
              <a:ext uri="{FF2B5EF4-FFF2-40B4-BE49-F238E27FC236}">
                <a16:creationId xmlns:a16="http://schemas.microsoft.com/office/drawing/2014/main" id="{ADD0DD4E-A40A-F454-2F06-D85342183F83}"/>
              </a:ext>
            </a:extLst>
          </p:cNvPr>
          <p:cNvSpPr/>
          <p:nvPr/>
        </p:nvSpPr>
        <p:spPr>
          <a:xfrm>
            <a:off x="5257800" y="4650658"/>
            <a:ext cx="346587" cy="294968"/>
          </a:xfrm>
          <a:prstGeom prst="ellipse">
            <a:avLst/>
          </a:prstGeom>
          <a:no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a:extLst>
              <a:ext uri="{FF2B5EF4-FFF2-40B4-BE49-F238E27FC236}">
                <a16:creationId xmlns:a16="http://schemas.microsoft.com/office/drawing/2014/main" id="{396D5158-3B85-850A-F744-D23FC9D0F265}"/>
              </a:ext>
            </a:extLst>
          </p:cNvPr>
          <p:cNvSpPr txBox="1"/>
          <p:nvPr/>
        </p:nvSpPr>
        <p:spPr>
          <a:xfrm>
            <a:off x="117987" y="626807"/>
            <a:ext cx="4326194" cy="430887"/>
          </a:xfrm>
          <a:prstGeom prst="rect">
            <a:avLst/>
          </a:prstGeom>
          <a:noFill/>
        </p:spPr>
        <p:txBody>
          <a:bodyPr wrap="square" rtlCol="0">
            <a:spAutoFit/>
          </a:bodyPr>
          <a:lstStyle/>
          <a:p>
            <a:r>
              <a:rPr lang="en-US" sz="2200"/>
              <a:t>DC-DC converter circuit:</a:t>
            </a:r>
          </a:p>
        </p:txBody>
      </p:sp>
      <p:sp>
        <p:nvSpPr>
          <p:cNvPr id="5" name="TextBox 4">
            <a:extLst>
              <a:ext uri="{FF2B5EF4-FFF2-40B4-BE49-F238E27FC236}">
                <a16:creationId xmlns:a16="http://schemas.microsoft.com/office/drawing/2014/main" id="{B6A0544E-9FF9-BDB4-8C95-DCE18DC2BA7B}"/>
              </a:ext>
            </a:extLst>
          </p:cNvPr>
          <p:cNvSpPr txBox="1"/>
          <p:nvPr/>
        </p:nvSpPr>
        <p:spPr>
          <a:xfrm>
            <a:off x="2410183" y="5800305"/>
            <a:ext cx="4326194" cy="430887"/>
          </a:xfrm>
          <a:prstGeom prst="rect">
            <a:avLst/>
          </a:prstGeom>
          <a:noFill/>
        </p:spPr>
        <p:txBody>
          <a:bodyPr wrap="square" rtlCol="0">
            <a:spAutoFit/>
          </a:bodyPr>
          <a:lstStyle/>
          <a:p>
            <a:r>
              <a:rPr lang="en-US" sz="2200"/>
              <a:t>Schematic</a:t>
            </a:r>
          </a:p>
        </p:txBody>
      </p:sp>
      <p:pic>
        <p:nvPicPr>
          <p:cNvPr id="8" name="Picture 7">
            <a:extLst>
              <a:ext uri="{FF2B5EF4-FFF2-40B4-BE49-F238E27FC236}">
                <a16:creationId xmlns:a16="http://schemas.microsoft.com/office/drawing/2014/main" id="{CAC2075B-D34F-5E1C-AC72-0F5F3361C5F4}"/>
              </a:ext>
            </a:extLst>
          </p:cNvPr>
          <p:cNvPicPr>
            <a:picLocks noChangeAspect="1"/>
          </p:cNvPicPr>
          <p:nvPr/>
        </p:nvPicPr>
        <p:blipFill>
          <a:blip r:embed="rId2"/>
          <a:stretch>
            <a:fillRect/>
          </a:stretch>
        </p:blipFill>
        <p:spPr>
          <a:xfrm>
            <a:off x="556439" y="1271286"/>
            <a:ext cx="11079121" cy="4315427"/>
          </a:xfrm>
          <a:prstGeom prst="rect">
            <a:avLst/>
          </a:prstGeom>
        </p:spPr>
      </p:pic>
    </p:spTree>
    <p:extLst>
      <p:ext uri="{BB962C8B-B14F-4D97-AF65-F5344CB8AC3E}">
        <p14:creationId xmlns:p14="http://schemas.microsoft.com/office/powerpoint/2010/main" val="3945000328"/>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407B07-9898-B8C5-1AA7-28C12772985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0796541-CABA-7E25-E9E9-E36FA7CB84F8}"/>
              </a:ext>
            </a:extLst>
          </p:cNvPr>
          <p:cNvSpPr>
            <a:spLocks noGrp="1"/>
          </p:cNvSpPr>
          <p:nvPr>
            <p:ph type="title"/>
          </p:nvPr>
        </p:nvSpPr>
        <p:spPr>
          <a:xfrm>
            <a:off x="0" y="1"/>
            <a:ext cx="10515600" cy="626806"/>
          </a:xfrm>
        </p:spPr>
        <p:txBody>
          <a:bodyPr>
            <a:normAutofit fontScale="90000"/>
          </a:bodyPr>
          <a:lstStyle/>
          <a:p>
            <a:r>
              <a:rPr lang="zh-TW" altLang="en-US"/>
              <a:t>練習：</a:t>
            </a:r>
            <a:endParaRPr lang="en-US"/>
          </a:p>
        </p:txBody>
      </p:sp>
      <p:sp>
        <p:nvSpPr>
          <p:cNvPr id="4" name="Oval 3">
            <a:extLst>
              <a:ext uri="{FF2B5EF4-FFF2-40B4-BE49-F238E27FC236}">
                <a16:creationId xmlns:a16="http://schemas.microsoft.com/office/drawing/2014/main" id="{4189D9C1-B055-ABC9-19FF-4825BB515FE1}"/>
              </a:ext>
            </a:extLst>
          </p:cNvPr>
          <p:cNvSpPr/>
          <p:nvPr/>
        </p:nvSpPr>
        <p:spPr>
          <a:xfrm>
            <a:off x="1925320" y="3368040"/>
            <a:ext cx="645160" cy="629920"/>
          </a:xfrm>
          <a:prstGeom prst="ellipse">
            <a:avLst/>
          </a:prstGeom>
          <a:noFill/>
          <a:ln w="254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Oval 10">
            <a:extLst>
              <a:ext uri="{FF2B5EF4-FFF2-40B4-BE49-F238E27FC236}">
                <a16:creationId xmlns:a16="http://schemas.microsoft.com/office/drawing/2014/main" id="{B96E27EB-01DC-6647-D5B8-98898AA5796F}"/>
              </a:ext>
            </a:extLst>
          </p:cNvPr>
          <p:cNvSpPr/>
          <p:nvPr/>
        </p:nvSpPr>
        <p:spPr>
          <a:xfrm>
            <a:off x="8501181" y="2143924"/>
            <a:ext cx="645160" cy="629920"/>
          </a:xfrm>
          <a:prstGeom prst="ellipse">
            <a:avLst/>
          </a:prstGeom>
          <a:noFill/>
          <a:ln w="254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Oval 11">
            <a:extLst>
              <a:ext uri="{FF2B5EF4-FFF2-40B4-BE49-F238E27FC236}">
                <a16:creationId xmlns:a16="http://schemas.microsoft.com/office/drawing/2014/main" id="{F5E89F57-3BA6-4846-F9E9-67FB47A6727F}"/>
              </a:ext>
            </a:extLst>
          </p:cNvPr>
          <p:cNvSpPr/>
          <p:nvPr/>
        </p:nvSpPr>
        <p:spPr>
          <a:xfrm>
            <a:off x="5257800" y="4650658"/>
            <a:ext cx="346587" cy="294968"/>
          </a:xfrm>
          <a:prstGeom prst="ellipse">
            <a:avLst/>
          </a:prstGeom>
          <a:no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a:extLst>
              <a:ext uri="{FF2B5EF4-FFF2-40B4-BE49-F238E27FC236}">
                <a16:creationId xmlns:a16="http://schemas.microsoft.com/office/drawing/2014/main" id="{786B1B88-7D9E-26A4-2142-890AC96BB844}"/>
              </a:ext>
            </a:extLst>
          </p:cNvPr>
          <p:cNvSpPr txBox="1"/>
          <p:nvPr/>
        </p:nvSpPr>
        <p:spPr>
          <a:xfrm>
            <a:off x="117986" y="626807"/>
            <a:ext cx="6735097" cy="430887"/>
          </a:xfrm>
          <a:prstGeom prst="rect">
            <a:avLst/>
          </a:prstGeom>
          <a:noFill/>
        </p:spPr>
        <p:txBody>
          <a:bodyPr wrap="square" rtlCol="0">
            <a:spAutoFit/>
          </a:bodyPr>
          <a:lstStyle/>
          <a:p>
            <a:r>
              <a:rPr lang="zh-TW" altLang="en-US" sz="2200"/>
              <a:t>佈局指南： 讀取 </a:t>
            </a:r>
            <a:r>
              <a:rPr lang="en-US" sz="2200"/>
              <a:t>datasheet for IC instruction</a:t>
            </a:r>
          </a:p>
        </p:txBody>
      </p:sp>
      <p:sp>
        <p:nvSpPr>
          <p:cNvPr id="7" name="TextBox 6">
            <a:extLst>
              <a:ext uri="{FF2B5EF4-FFF2-40B4-BE49-F238E27FC236}">
                <a16:creationId xmlns:a16="http://schemas.microsoft.com/office/drawing/2014/main" id="{682E1AF4-A84C-9CE7-2FE1-D5AA511D33C2}"/>
              </a:ext>
            </a:extLst>
          </p:cNvPr>
          <p:cNvSpPr txBox="1"/>
          <p:nvPr/>
        </p:nvSpPr>
        <p:spPr>
          <a:xfrm>
            <a:off x="117986" y="1057694"/>
            <a:ext cx="11100619" cy="369332"/>
          </a:xfrm>
          <a:prstGeom prst="rect">
            <a:avLst/>
          </a:prstGeom>
          <a:noFill/>
        </p:spPr>
        <p:txBody>
          <a:bodyPr wrap="square">
            <a:spAutoFit/>
          </a:bodyPr>
          <a:lstStyle/>
          <a:p>
            <a:r>
              <a:rPr lang="en-US"/>
              <a:t>https://www.alldatasheet.com/datasheet-pdf/view/1132228/XLSEMI/XL6009.html</a:t>
            </a:r>
          </a:p>
        </p:txBody>
      </p:sp>
      <p:pic>
        <p:nvPicPr>
          <p:cNvPr id="14" name="Picture 13">
            <a:extLst>
              <a:ext uri="{FF2B5EF4-FFF2-40B4-BE49-F238E27FC236}">
                <a16:creationId xmlns:a16="http://schemas.microsoft.com/office/drawing/2014/main" id="{600DC2E8-19F4-7CBC-750C-95D7831E2541}"/>
              </a:ext>
            </a:extLst>
          </p:cNvPr>
          <p:cNvPicPr>
            <a:picLocks noChangeAspect="1"/>
          </p:cNvPicPr>
          <p:nvPr/>
        </p:nvPicPr>
        <p:blipFill>
          <a:blip r:embed="rId2"/>
          <a:stretch>
            <a:fillRect/>
          </a:stretch>
        </p:blipFill>
        <p:spPr>
          <a:xfrm>
            <a:off x="1925320" y="1882190"/>
            <a:ext cx="7961164" cy="4231540"/>
          </a:xfrm>
          <a:prstGeom prst="rect">
            <a:avLst/>
          </a:prstGeom>
        </p:spPr>
      </p:pic>
    </p:spTree>
    <p:extLst>
      <p:ext uri="{BB962C8B-B14F-4D97-AF65-F5344CB8AC3E}">
        <p14:creationId xmlns:p14="http://schemas.microsoft.com/office/powerpoint/2010/main" val="4224678096"/>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7DDBA4-DADF-8993-8EAE-2EAA9743C34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3301519-4E86-54DD-6405-178FFBB60F56}"/>
              </a:ext>
            </a:extLst>
          </p:cNvPr>
          <p:cNvSpPr>
            <a:spLocks noGrp="1"/>
          </p:cNvSpPr>
          <p:nvPr>
            <p:ph type="title"/>
          </p:nvPr>
        </p:nvSpPr>
        <p:spPr>
          <a:xfrm>
            <a:off x="0" y="1"/>
            <a:ext cx="10515600" cy="626806"/>
          </a:xfrm>
        </p:spPr>
        <p:txBody>
          <a:bodyPr>
            <a:normAutofit fontScale="90000"/>
          </a:bodyPr>
          <a:lstStyle/>
          <a:p>
            <a:r>
              <a:rPr lang="zh-TW" altLang="en-US"/>
              <a:t>練習：</a:t>
            </a:r>
            <a:endParaRPr lang="en-US"/>
          </a:p>
        </p:txBody>
      </p:sp>
      <p:sp>
        <p:nvSpPr>
          <p:cNvPr id="4" name="Oval 3">
            <a:extLst>
              <a:ext uri="{FF2B5EF4-FFF2-40B4-BE49-F238E27FC236}">
                <a16:creationId xmlns:a16="http://schemas.microsoft.com/office/drawing/2014/main" id="{5C827305-2A0B-B067-115A-CA1F935051E3}"/>
              </a:ext>
            </a:extLst>
          </p:cNvPr>
          <p:cNvSpPr/>
          <p:nvPr/>
        </p:nvSpPr>
        <p:spPr>
          <a:xfrm>
            <a:off x="1925320" y="3368040"/>
            <a:ext cx="645160" cy="629920"/>
          </a:xfrm>
          <a:prstGeom prst="ellipse">
            <a:avLst/>
          </a:prstGeom>
          <a:noFill/>
          <a:ln w="254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Oval 10">
            <a:extLst>
              <a:ext uri="{FF2B5EF4-FFF2-40B4-BE49-F238E27FC236}">
                <a16:creationId xmlns:a16="http://schemas.microsoft.com/office/drawing/2014/main" id="{E7036D18-7F12-329F-6E7E-5D5B9DD4087D}"/>
              </a:ext>
            </a:extLst>
          </p:cNvPr>
          <p:cNvSpPr/>
          <p:nvPr/>
        </p:nvSpPr>
        <p:spPr>
          <a:xfrm>
            <a:off x="8501181" y="2143924"/>
            <a:ext cx="645160" cy="629920"/>
          </a:xfrm>
          <a:prstGeom prst="ellipse">
            <a:avLst/>
          </a:prstGeom>
          <a:noFill/>
          <a:ln w="254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Oval 11">
            <a:extLst>
              <a:ext uri="{FF2B5EF4-FFF2-40B4-BE49-F238E27FC236}">
                <a16:creationId xmlns:a16="http://schemas.microsoft.com/office/drawing/2014/main" id="{AE15A8C2-32FE-E907-293D-51D4BA1DC743}"/>
              </a:ext>
            </a:extLst>
          </p:cNvPr>
          <p:cNvSpPr/>
          <p:nvPr/>
        </p:nvSpPr>
        <p:spPr>
          <a:xfrm>
            <a:off x="5257800" y="4650658"/>
            <a:ext cx="346587" cy="294968"/>
          </a:xfrm>
          <a:prstGeom prst="ellipse">
            <a:avLst/>
          </a:prstGeom>
          <a:no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a:extLst>
              <a:ext uri="{FF2B5EF4-FFF2-40B4-BE49-F238E27FC236}">
                <a16:creationId xmlns:a16="http://schemas.microsoft.com/office/drawing/2014/main" id="{D8F3D360-4240-E614-53A1-3D7D3CD6EAE5}"/>
              </a:ext>
            </a:extLst>
          </p:cNvPr>
          <p:cNvSpPr txBox="1"/>
          <p:nvPr/>
        </p:nvSpPr>
        <p:spPr>
          <a:xfrm>
            <a:off x="117986" y="626807"/>
            <a:ext cx="6735097" cy="430887"/>
          </a:xfrm>
          <a:prstGeom prst="rect">
            <a:avLst/>
          </a:prstGeom>
          <a:noFill/>
        </p:spPr>
        <p:txBody>
          <a:bodyPr wrap="square" rtlCol="0">
            <a:spAutoFit/>
          </a:bodyPr>
          <a:lstStyle/>
          <a:p>
            <a:r>
              <a:rPr lang="zh-TW" altLang="en-US" sz="2200"/>
              <a:t>佈局指南： 讀取 </a:t>
            </a:r>
            <a:r>
              <a:rPr lang="en-US" sz="2200"/>
              <a:t>datasheet for IC instruction</a:t>
            </a:r>
          </a:p>
        </p:txBody>
      </p:sp>
      <p:sp>
        <p:nvSpPr>
          <p:cNvPr id="7" name="TextBox 6">
            <a:extLst>
              <a:ext uri="{FF2B5EF4-FFF2-40B4-BE49-F238E27FC236}">
                <a16:creationId xmlns:a16="http://schemas.microsoft.com/office/drawing/2014/main" id="{32B0FE34-CFD1-21F2-0E85-7AFA484693C8}"/>
              </a:ext>
            </a:extLst>
          </p:cNvPr>
          <p:cNvSpPr txBox="1"/>
          <p:nvPr/>
        </p:nvSpPr>
        <p:spPr>
          <a:xfrm>
            <a:off x="117986" y="1057694"/>
            <a:ext cx="11100619" cy="369332"/>
          </a:xfrm>
          <a:prstGeom prst="rect">
            <a:avLst/>
          </a:prstGeom>
          <a:noFill/>
        </p:spPr>
        <p:txBody>
          <a:bodyPr wrap="square">
            <a:spAutoFit/>
          </a:bodyPr>
          <a:lstStyle/>
          <a:p>
            <a:r>
              <a:rPr lang="en-US"/>
              <a:t>https://www.alldatasheet.com/datasheet-pdf/view/1132228/XLSEMI/XL6009.html</a:t>
            </a:r>
          </a:p>
        </p:txBody>
      </p:sp>
      <p:pic>
        <p:nvPicPr>
          <p:cNvPr id="6" name="Picture 5">
            <a:extLst>
              <a:ext uri="{FF2B5EF4-FFF2-40B4-BE49-F238E27FC236}">
                <a16:creationId xmlns:a16="http://schemas.microsoft.com/office/drawing/2014/main" id="{FCEEB3C0-288D-ACDD-CDA5-CED9EFC8FBC0}"/>
              </a:ext>
            </a:extLst>
          </p:cNvPr>
          <p:cNvPicPr>
            <a:picLocks noChangeAspect="1"/>
          </p:cNvPicPr>
          <p:nvPr/>
        </p:nvPicPr>
        <p:blipFill>
          <a:blip r:embed="rId2"/>
          <a:stretch>
            <a:fillRect/>
          </a:stretch>
        </p:blipFill>
        <p:spPr>
          <a:xfrm>
            <a:off x="1545716" y="1533226"/>
            <a:ext cx="7424167" cy="4929468"/>
          </a:xfrm>
          <a:prstGeom prst="rect">
            <a:avLst/>
          </a:prstGeom>
        </p:spPr>
      </p:pic>
    </p:spTree>
    <p:extLst>
      <p:ext uri="{BB962C8B-B14F-4D97-AF65-F5344CB8AC3E}">
        <p14:creationId xmlns:p14="http://schemas.microsoft.com/office/powerpoint/2010/main" val="1853563348"/>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69528E-EC6F-2FCC-2F80-43F0B2259A7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83B3D8B-7909-E579-EEED-3D63B121A415}"/>
              </a:ext>
            </a:extLst>
          </p:cNvPr>
          <p:cNvSpPr>
            <a:spLocks noGrp="1"/>
          </p:cNvSpPr>
          <p:nvPr>
            <p:ph type="title"/>
          </p:nvPr>
        </p:nvSpPr>
        <p:spPr>
          <a:xfrm>
            <a:off x="0" y="1"/>
            <a:ext cx="10515600" cy="626806"/>
          </a:xfrm>
        </p:spPr>
        <p:txBody>
          <a:bodyPr>
            <a:normAutofit fontScale="90000"/>
          </a:bodyPr>
          <a:lstStyle/>
          <a:p>
            <a:r>
              <a:rPr lang="zh-TW" altLang="en-US"/>
              <a:t>練習：</a:t>
            </a:r>
            <a:endParaRPr lang="en-US"/>
          </a:p>
        </p:txBody>
      </p:sp>
      <p:sp>
        <p:nvSpPr>
          <p:cNvPr id="4" name="Oval 3">
            <a:extLst>
              <a:ext uri="{FF2B5EF4-FFF2-40B4-BE49-F238E27FC236}">
                <a16:creationId xmlns:a16="http://schemas.microsoft.com/office/drawing/2014/main" id="{08A338B7-607F-A2D6-BEE8-BC967B04C126}"/>
              </a:ext>
            </a:extLst>
          </p:cNvPr>
          <p:cNvSpPr/>
          <p:nvPr/>
        </p:nvSpPr>
        <p:spPr>
          <a:xfrm>
            <a:off x="1925320" y="3368040"/>
            <a:ext cx="645160" cy="629920"/>
          </a:xfrm>
          <a:prstGeom prst="ellipse">
            <a:avLst/>
          </a:prstGeom>
          <a:noFill/>
          <a:ln w="254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Oval 10">
            <a:extLst>
              <a:ext uri="{FF2B5EF4-FFF2-40B4-BE49-F238E27FC236}">
                <a16:creationId xmlns:a16="http://schemas.microsoft.com/office/drawing/2014/main" id="{05DD2521-19E8-55C2-E6E9-5775301FA17E}"/>
              </a:ext>
            </a:extLst>
          </p:cNvPr>
          <p:cNvSpPr/>
          <p:nvPr/>
        </p:nvSpPr>
        <p:spPr>
          <a:xfrm>
            <a:off x="8501181" y="2143924"/>
            <a:ext cx="645160" cy="629920"/>
          </a:xfrm>
          <a:prstGeom prst="ellipse">
            <a:avLst/>
          </a:prstGeom>
          <a:noFill/>
          <a:ln w="254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Oval 11">
            <a:extLst>
              <a:ext uri="{FF2B5EF4-FFF2-40B4-BE49-F238E27FC236}">
                <a16:creationId xmlns:a16="http://schemas.microsoft.com/office/drawing/2014/main" id="{23C32763-7935-E8C9-3DE0-13FF25A859F8}"/>
              </a:ext>
            </a:extLst>
          </p:cNvPr>
          <p:cNvSpPr/>
          <p:nvPr/>
        </p:nvSpPr>
        <p:spPr>
          <a:xfrm>
            <a:off x="5257800" y="4650658"/>
            <a:ext cx="346587" cy="294968"/>
          </a:xfrm>
          <a:prstGeom prst="ellipse">
            <a:avLst/>
          </a:prstGeom>
          <a:no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a:extLst>
              <a:ext uri="{FF2B5EF4-FFF2-40B4-BE49-F238E27FC236}">
                <a16:creationId xmlns:a16="http://schemas.microsoft.com/office/drawing/2014/main" id="{59E3E536-8DEE-C512-FF6E-1185F9522604}"/>
              </a:ext>
            </a:extLst>
          </p:cNvPr>
          <p:cNvSpPr txBox="1"/>
          <p:nvPr/>
        </p:nvSpPr>
        <p:spPr>
          <a:xfrm>
            <a:off x="117986" y="626807"/>
            <a:ext cx="6735097" cy="461665"/>
          </a:xfrm>
          <a:prstGeom prst="rect">
            <a:avLst/>
          </a:prstGeom>
          <a:noFill/>
        </p:spPr>
        <p:txBody>
          <a:bodyPr wrap="square" rtlCol="0">
            <a:spAutoFit/>
          </a:bodyPr>
          <a:lstStyle/>
          <a:p>
            <a:r>
              <a:rPr lang="zh-TW" altLang="en-US" sz="2400"/>
              <a:t>佈局指南：元件放置</a:t>
            </a:r>
            <a:endParaRPr lang="en-US" sz="2200"/>
          </a:p>
        </p:txBody>
      </p:sp>
      <p:pic>
        <p:nvPicPr>
          <p:cNvPr id="8" name="Picture 7">
            <a:extLst>
              <a:ext uri="{FF2B5EF4-FFF2-40B4-BE49-F238E27FC236}">
                <a16:creationId xmlns:a16="http://schemas.microsoft.com/office/drawing/2014/main" id="{E9786886-80A1-DC2A-2911-A8735DE28667}"/>
              </a:ext>
            </a:extLst>
          </p:cNvPr>
          <p:cNvPicPr>
            <a:picLocks noChangeAspect="1"/>
          </p:cNvPicPr>
          <p:nvPr/>
        </p:nvPicPr>
        <p:blipFill>
          <a:blip r:embed="rId2"/>
          <a:stretch>
            <a:fillRect/>
          </a:stretch>
        </p:blipFill>
        <p:spPr>
          <a:xfrm>
            <a:off x="1740309" y="1907074"/>
            <a:ext cx="9303174" cy="4331470"/>
          </a:xfrm>
          <a:prstGeom prst="rect">
            <a:avLst/>
          </a:prstGeom>
        </p:spPr>
      </p:pic>
    </p:spTree>
    <p:extLst>
      <p:ext uri="{BB962C8B-B14F-4D97-AF65-F5344CB8AC3E}">
        <p14:creationId xmlns:p14="http://schemas.microsoft.com/office/powerpoint/2010/main" val="4052286581"/>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F6DE93D-D6A6-8ECF-0CF3-A80DCF6931D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672427A-F6E3-2CCE-6FA8-29D7CD6B3230}"/>
              </a:ext>
            </a:extLst>
          </p:cNvPr>
          <p:cNvSpPr>
            <a:spLocks noGrp="1"/>
          </p:cNvSpPr>
          <p:nvPr>
            <p:ph type="title"/>
          </p:nvPr>
        </p:nvSpPr>
        <p:spPr>
          <a:xfrm>
            <a:off x="0" y="1"/>
            <a:ext cx="10515600" cy="626806"/>
          </a:xfrm>
        </p:spPr>
        <p:txBody>
          <a:bodyPr>
            <a:normAutofit fontScale="90000"/>
          </a:bodyPr>
          <a:lstStyle/>
          <a:p>
            <a:r>
              <a:rPr lang="zh-TW" altLang="en-US"/>
              <a:t>練習：</a:t>
            </a:r>
            <a:endParaRPr lang="en-US"/>
          </a:p>
        </p:txBody>
      </p:sp>
      <p:sp>
        <p:nvSpPr>
          <p:cNvPr id="4" name="Oval 3">
            <a:extLst>
              <a:ext uri="{FF2B5EF4-FFF2-40B4-BE49-F238E27FC236}">
                <a16:creationId xmlns:a16="http://schemas.microsoft.com/office/drawing/2014/main" id="{A9DEBD59-DAA1-C78D-45D3-AEDD7F9445FA}"/>
              </a:ext>
            </a:extLst>
          </p:cNvPr>
          <p:cNvSpPr/>
          <p:nvPr/>
        </p:nvSpPr>
        <p:spPr>
          <a:xfrm>
            <a:off x="1925320" y="3368040"/>
            <a:ext cx="645160" cy="629920"/>
          </a:xfrm>
          <a:prstGeom prst="ellipse">
            <a:avLst/>
          </a:prstGeom>
          <a:noFill/>
          <a:ln w="254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Oval 10">
            <a:extLst>
              <a:ext uri="{FF2B5EF4-FFF2-40B4-BE49-F238E27FC236}">
                <a16:creationId xmlns:a16="http://schemas.microsoft.com/office/drawing/2014/main" id="{C57182F6-F5E8-7A57-C5FD-5B0F345BCB85}"/>
              </a:ext>
            </a:extLst>
          </p:cNvPr>
          <p:cNvSpPr/>
          <p:nvPr/>
        </p:nvSpPr>
        <p:spPr>
          <a:xfrm>
            <a:off x="8501181" y="2143924"/>
            <a:ext cx="645160" cy="629920"/>
          </a:xfrm>
          <a:prstGeom prst="ellipse">
            <a:avLst/>
          </a:prstGeom>
          <a:noFill/>
          <a:ln w="254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Oval 11">
            <a:extLst>
              <a:ext uri="{FF2B5EF4-FFF2-40B4-BE49-F238E27FC236}">
                <a16:creationId xmlns:a16="http://schemas.microsoft.com/office/drawing/2014/main" id="{30226D85-46FD-D377-B865-BE405F3C98D9}"/>
              </a:ext>
            </a:extLst>
          </p:cNvPr>
          <p:cNvSpPr/>
          <p:nvPr/>
        </p:nvSpPr>
        <p:spPr>
          <a:xfrm>
            <a:off x="5257800" y="4650658"/>
            <a:ext cx="346587" cy="294968"/>
          </a:xfrm>
          <a:prstGeom prst="ellipse">
            <a:avLst/>
          </a:prstGeom>
          <a:no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a:extLst>
              <a:ext uri="{FF2B5EF4-FFF2-40B4-BE49-F238E27FC236}">
                <a16:creationId xmlns:a16="http://schemas.microsoft.com/office/drawing/2014/main" id="{6913E38C-8EA8-20A9-8850-FBD3D860CB83}"/>
              </a:ext>
            </a:extLst>
          </p:cNvPr>
          <p:cNvSpPr txBox="1"/>
          <p:nvPr/>
        </p:nvSpPr>
        <p:spPr>
          <a:xfrm>
            <a:off x="117986" y="626807"/>
            <a:ext cx="6735097" cy="461665"/>
          </a:xfrm>
          <a:prstGeom prst="rect">
            <a:avLst/>
          </a:prstGeom>
          <a:noFill/>
        </p:spPr>
        <p:txBody>
          <a:bodyPr wrap="square" rtlCol="0">
            <a:spAutoFit/>
          </a:bodyPr>
          <a:lstStyle/>
          <a:p>
            <a:r>
              <a:rPr lang="zh-TW" altLang="en-US" sz="2400"/>
              <a:t>佈局指南：添加 走線寬度 選項</a:t>
            </a:r>
            <a:endParaRPr lang="en-US" sz="2200"/>
          </a:p>
        </p:txBody>
      </p:sp>
      <p:pic>
        <p:nvPicPr>
          <p:cNvPr id="6" name="Picture 5">
            <a:extLst>
              <a:ext uri="{FF2B5EF4-FFF2-40B4-BE49-F238E27FC236}">
                <a16:creationId xmlns:a16="http://schemas.microsoft.com/office/drawing/2014/main" id="{0772498D-C96A-6C2D-BBC3-69C8A41F9056}"/>
              </a:ext>
            </a:extLst>
          </p:cNvPr>
          <p:cNvPicPr>
            <a:picLocks noChangeAspect="1"/>
          </p:cNvPicPr>
          <p:nvPr/>
        </p:nvPicPr>
        <p:blipFill>
          <a:blip r:embed="rId2"/>
          <a:stretch>
            <a:fillRect/>
          </a:stretch>
        </p:blipFill>
        <p:spPr>
          <a:xfrm>
            <a:off x="1651818" y="1253613"/>
            <a:ext cx="8411339" cy="5290423"/>
          </a:xfrm>
          <a:prstGeom prst="rect">
            <a:avLst/>
          </a:prstGeom>
        </p:spPr>
      </p:pic>
    </p:spTree>
    <p:extLst>
      <p:ext uri="{BB962C8B-B14F-4D97-AF65-F5344CB8AC3E}">
        <p14:creationId xmlns:p14="http://schemas.microsoft.com/office/powerpoint/2010/main" val="3657701140"/>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A7BB16-AFC4-E73F-199F-654DE93B412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3F95545-A229-5AC7-2B93-882693092A4B}"/>
              </a:ext>
            </a:extLst>
          </p:cNvPr>
          <p:cNvSpPr>
            <a:spLocks noGrp="1"/>
          </p:cNvSpPr>
          <p:nvPr>
            <p:ph type="title"/>
          </p:nvPr>
        </p:nvSpPr>
        <p:spPr>
          <a:xfrm>
            <a:off x="0" y="1"/>
            <a:ext cx="10515600" cy="626806"/>
          </a:xfrm>
        </p:spPr>
        <p:txBody>
          <a:bodyPr>
            <a:normAutofit fontScale="90000"/>
          </a:bodyPr>
          <a:lstStyle/>
          <a:p>
            <a:r>
              <a:rPr lang="zh-TW" altLang="en-US"/>
              <a:t>練習：</a:t>
            </a:r>
            <a:endParaRPr lang="en-US"/>
          </a:p>
        </p:txBody>
      </p:sp>
      <p:sp>
        <p:nvSpPr>
          <p:cNvPr id="4" name="Oval 3">
            <a:extLst>
              <a:ext uri="{FF2B5EF4-FFF2-40B4-BE49-F238E27FC236}">
                <a16:creationId xmlns:a16="http://schemas.microsoft.com/office/drawing/2014/main" id="{47896FFC-BCBD-1C49-BD70-997ABFD49792}"/>
              </a:ext>
            </a:extLst>
          </p:cNvPr>
          <p:cNvSpPr/>
          <p:nvPr/>
        </p:nvSpPr>
        <p:spPr>
          <a:xfrm>
            <a:off x="1925320" y="3368040"/>
            <a:ext cx="645160" cy="629920"/>
          </a:xfrm>
          <a:prstGeom prst="ellipse">
            <a:avLst/>
          </a:prstGeom>
          <a:noFill/>
          <a:ln w="254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Oval 10">
            <a:extLst>
              <a:ext uri="{FF2B5EF4-FFF2-40B4-BE49-F238E27FC236}">
                <a16:creationId xmlns:a16="http://schemas.microsoft.com/office/drawing/2014/main" id="{5296F5E1-6D7A-1771-3E00-0EEA48F76A6E}"/>
              </a:ext>
            </a:extLst>
          </p:cNvPr>
          <p:cNvSpPr/>
          <p:nvPr/>
        </p:nvSpPr>
        <p:spPr>
          <a:xfrm>
            <a:off x="8501181" y="2143924"/>
            <a:ext cx="645160" cy="629920"/>
          </a:xfrm>
          <a:prstGeom prst="ellipse">
            <a:avLst/>
          </a:prstGeom>
          <a:noFill/>
          <a:ln w="254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Oval 11">
            <a:extLst>
              <a:ext uri="{FF2B5EF4-FFF2-40B4-BE49-F238E27FC236}">
                <a16:creationId xmlns:a16="http://schemas.microsoft.com/office/drawing/2014/main" id="{F9663C88-E546-3E73-0706-931B3CB39644}"/>
              </a:ext>
            </a:extLst>
          </p:cNvPr>
          <p:cNvSpPr/>
          <p:nvPr/>
        </p:nvSpPr>
        <p:spPr>
          <a:xfrm>
            <a:off x="5257800" y="4650658"/>
            <a:ext cx="346587" cy="294968"/>
          </a:xfrm>
          <a:prstGeom prst="ellipse">
            <a:avLst/>
          </a:prstGeom>
          <a:no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a:extLst>
              <a:ext uri="{FF2B5EF4-FFF2-40B4-BE49-F238E27FC236}">
                <a16:creationId xmlns:a16="http://schemas.microsoft.com/office/drawing/2014/main" id="{019DFD72-934E-2909-27BF-4E32B8CA0006}"/>
              </a:ext>
            </a:extLst>
          </p:cNvPr>
          <p:cNvSpPr txBox="1"/>
          <p:nvPr/>
        </p:nvSpPr>
        <p:spPr>
          <a:xfrm>
            <a:off x="117986" y="626807"/>
            <a:ext cx="6735097" cy="461665"/>
          </a:xfrm>
          <a:prstGeom prst="rect">
            <a:avLst/>
          </a:prstGeom>
          <a:noFill/>
        </p:spPr>
        <p:txBody>
          <a:bodyPr wrap="square" rtlCol="0">
            <a:spAutoFit/>
          </a:bodyPr>
          <a:lstStyle/>
          <a:p>
            <a:r>
              <a:rPr lang="zh-TW" altLang="en-US" sz="2400"/>
              <a:t>佈局指南：添加 走線寬度 選項</a:t>
            </a:r>
            <a:endParaRPr lang="en-US" sz="2200"/>
          </a:p>
        </p:txBody>
      </p:sp>
      <p:pic>
        <p:nvPicPr>
          <p:cNvPr id="7" name="Picture 6">
            <a:extLst>
              <a:ext uri="{FF2B5EF4-FFF2-40B4-BE49-F238E27FC236}">
                <a16:creationId xmlns:a16="http://schemas.microsoft.com/office/drawing/2014/main" id="{4CF6B4A6-1F90-7EB4-156C-7AF9080381DC}"/>
              </a:ext>
            </a:extLst>
          </p:cNvPr>
          <p:cNvPicPr>
            <a:picLocks noChangeAspect="1"/>
          </p:cNvPicPr>
          <p:nvPr/>
        </p:nvPicPr>
        <p:blipFill>
          <a:blip r:embed="rId2"/>
          <a:stretch>
            <a:fillRect/>
          </a:stretch>
        </p:blipFill>
        <p:spPr>
          <a:xfrm>
            <a:off x="855406" y="1253613"/>
            <a:ext cx="9497961" cy="4783195"/>
          </a:xfrm>
          <a:prstGeom prst="rect">
            <a:avLst/>
          </a:prstGeom>
        </p:spPr>
      </p:pic>
    </p:spTree>
    <p:extLst>
      <p:ext uri="{BB962C8B-B14F-4D97-AF65-F5344CB8AC3E}">
        <p14:creationId xmlns:p14="http://schemas.microsoft.com/office/powerpoint/2010/main" val="266012900"/>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6E25E96-3A97-8AEA-BC99-D9BDBD7B5E1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FFA9292-408A-9DA7-70E2-88F5F02FA6E4}"/>
              </a:ext>
            </a:extLst>
          </p:cNvPr>
          <p:cNvSpPr>
            <a:spLocks noGrp="1"/>
          </p:cNvSpPr>
          <p:nvPr>
            <p:ph type="title"/>
          </p:nvPr>
        </p:nvSpPr>
        <p:spPr>
          <a:xfrm>
            <a:off x="0" y="1"/>
            <a:ext cx="10515600" cy="626806"/>
          </a:xfrm>
        </p:spPr>
        <p:txBody>
          <a:bodyPr>
            <a:normAutofit fontScale="90000"/>
          </a:bodyPr>
          <a:lstStyle/>
          <a:p>
            <a:r>
              <a:rPr lang="zh-TW" altLang="en-US"/>
              <a:t>練習：</a:t>
            </a:r>
            <a:endParaRPr lang="en-US"/>
          </a:p>
        </p:txBody>
      </p:sp>
      <p:sp>
        <p:nvSpPr>
          <p:cNvPr id="4" name="Oval 3">
            <a:extLst>
              <a:ext uri="{FF2B5EF4-FFF2-40B4-BE49-F238E27FC236}">
                <a16:creationId xmlns:a16="http://schemas.microsoft.com/office/drawing/2014/main" id="{F9C6088E-F293-4F28-BF67-66CB9F166CFF}"/>
              </a:ext>
            </a:extLst>
          </p:cNvPr>
          <p:cNvSpPr/>
          <p:nvPr/>
        </p:nvSpPr>
        <p:spPr>
          <a:xfrm>
            <a:off x="1925320" y="3368040"/>
            <a:ext cx="645160" cy="629920"/>
          </a:xfrm>
          <a:prstGeom prst="ellipse">
            <a:avLst/>
          </a:prstGeom>
          <a:noFill/>
          <a:ln w="254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Oval 10">
            <a:extLst>
              <a:ext uri="{FF2B5EF4-FFF2-40B4-BE49-F238E27FC236}">
                <a16:creationId xmlns:a16="http://schemas.microsoft.com/office/drawing/2014/main" id="{D2E19898-4C8A-F1E1-4201-AE766B3C7065}"/>
              </a:ext>
            </a:extLst>
          </p:cNvPr>
          <p:cNvSpPr/>
          <p:nvPr/>
        </p:nvSpPr>
        <p:spPr>
          <a:xfrm>
            <a:off x="8501181" y="2143924"/>
            <a:ext cx="645160" cy="629920"/>
          </a:xfrm>
          <a:prstGeom prst="ellipse">
            <a:avLst/>
          </a:prstGeom>
          <a:noFill/>
          <a:ln w="254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Oval 11">
            <a:extLst>
              <a:ext uri="{FF2B5EF4-FFF2-40B4-BE49-F238E27FC236}">
                <a16:creationId xmlns:a16="http://schemas.microsoft.com/office/drawing/2014/main" id="{7F4B4CC3-4637-CCB6-C6D6-DA751461852B}"/>
              </a:ext>
            </a:extLst>
          </p:cNvPr>
          <p:cNvSpPr/>
          <p:nvPr/>
        </p:nvSpPr>
        <p:spPr>
          <a:xfrm>
            <a:off x="5257800" y="4650658"/>
            <a:ext cx="346587" cy="294968"/>
          </a:xfrm>
          <a:prstGeom prst="ellipse">
            <a:avLst/>
          </a:prstGeom>
          <a:no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a:extLst>
              <a:ext uri="{FF2B5EF4-FFF2-40B4-BE49-F238E27FC236}">
                <a16:creationId xmlns:a16="http://schemas.microsoft.com/office/drawing/2014/main" id="{D43CC1DD-11AC-D350-D754-92F0A73277E5}"/>
              </a:ext>
            </a:extLst>
          </p:cNvPr>
          <p:cNvSpPr txBox="1"/>
          <p:nvPr/>
        </p:nvSpPr>
        <p:spPr>
          <a:xfrm>
            <a:off x="117986" y="626807"/>
            <a:ext cx="6735097" cy="461665"/>
          </a:xfrm>
          <a:prstGeom prst="rect">
            <a:avLst/>
          </a:prstGeom>
          <a:noFill/>
        </p:spPr>
        <p:txBody>
          <a:bodyPr wrap="square" rtlCol="0">
            <a:spAutoFit/>
          </a:bodyPr>
          <a:lstStyle/>
          <a:p>
            <a:r>
              <a:rPr lang="zh-TW" altLang="en-US" sz="2400"/>
              <a:t>佈局指南：添加 過孔 以進行熱傳導</a:t>
            </a:r>
            <a:endParaRPr lang="en-US" sz="2200"/>
          </a:p>
        </p:txBody>
      </p:sp>
      <p:pic>
        <p:nvPicPr>
          <p:cNvPr id="6" name="Picture 5">
            <a:extLst>
              <a:ext uri="{FF2B5EF4-FFF2-40B4-BE49-F238E27FC236}">
                <a16:creationId xmlns:a16="http://schemas.microsoft.com/office/drawing/2014/main" id="{54C466A8-F602-518B-CF4C-D0F92FDBE68E}"/>
              </a:ext>
            </a:extLst>
          </p:cNvPr>
          <p:cNvPicPr>
            <a:picLocks noChangeAspect="1"/>
          </p:cNvPicPr>
          <p:nvPr/>
        </p:nvPicPr>
        <p:blipFill>
          <a:blip r:embed="rId2"/>
          <a:stretch>
            <a:fillRect/>
          </a:stretch>
        </p:blipFill>
        <p:spPr>
          <a:xfrm>
            <a:off x="1714187" y="1896304"/>
            <a:ext cx="7780399" cy="3933461"/>
          </a:xfrm>
          <a:prstGeom prst="rect">
            <a:avLst/>
          </a:prstGeom>
        </p:spPr>
      </p:pic>
    </p:spTree>
    <p:extLst>
      <p:ext uri="{BB962C8B-B14F-4D97-AF65-F5344CB8AC3E}">
        <p14:creationId xmlns:p14="http://schemas.microsoft.com/office/powerpoint/2010/main" val="481087270"/>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5420C0-DF59-4CEC-DA04-83470BB79EB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3A84854-6C76-03F4-4664-F2E380C6FBDB}"/>
              </a:ext>
            </a:extLst>
          </p:cNvPr>
          <p:cNvSpPr>
            <a:spLocks noGrp="1"/>
          </p:cNvSpPr>
          <p:nvPr>
            <p:ph type="title"/>
          </p:nvPr>
        </p:nvSpPr>
        <p:spPr>
          <a:xfrm>
            <a:off x="0" y="1"/>
            <a:ext cx="10515600" cy="626806"/>
          </a:xfrm>
        </p:spPr>
        <p:txBody>
          <a:bodyPr>
            <a:normAutofit fontScale="90000"/>
          </a:bodyPr>
          <a:lstStyle/>
          <a:p>
            <a:r>
              <a:rPr lang="zh-TW" altLang="en-US"/>
              <a:t>練習：</a:t>
            </a:r>
            <a:endParaRPr lang="en-US"/>
          </a:p>
        </p:txBody>
      </p:sp>
      <p:sp>
        <p:nvSpPr>
          <p:cNvPr id="4" name="Oval 3">
            <a:extLst>
              <a:ext uri="{FF2B5EF4-FFF2-40B4-BE49-F238E27FC236}">
                <a16:creationId xmlns:a16="http://schemas.microsoft.com/office/drawing/2014/main" id="{614E4913-BFA5-3375-EF13-855B81501677}"/>
              </a:ext>
            </a:extLst>
          </p:cNvPr>
          <p:cNvSpPr/>
          <p:nvPr/>
        </p:nvSpPr>
        <p:spPr>
          <a:xfrm>
            <a:off x="1925320" y="3368040"/>
            <a:ext cx="645160" cy="629920"/>
          </a:xfrm>
          <a:prstGeom prst="ellipse">
            <a:avLst/>
          </a:prstGeom>
          <a:noFill/>
          <a:ln w="254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Oval 10">
            <a:extLst>
              <a:ext uri="{FF2B5EF4-FFF2-40B4-BE49-F238E27FC236}">
                <a16:creationId xmlns:a16="http://schemas.microsoft.com/office/drawing/2014/main" id="{16B5EA6B-B9A6-0268-C291-AEF3F6783525}"/>
              </a:ext>
            </a:extLst>
          </p:cNvPr>
          <p:cNvSpPr/>
          <p:nvPr/>
        </p:nvSpPr>
        <p:spPr>
          <a:xfrm>
            <a:off x="8501181" y="2143924"/>
            <a:ext cx="645160" cy="629920"/>
          </a:xfrm>
          <a:prstGeom prst="ellipse">
            <a:avLst/>
          </a:prstGeom>
          <a:noFill/>
          <a:ln w="254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Oval 11">
            <a:extLst>
              <a:ext uri="{FF2B5EF4-FFF2-40B4-BE49-F238E27FC236}">
                <a16:creationId xmlns:a16="http://schemas.microsoft.com/office/drawing/2014/main" id="{FC085238-76C0-0E5D-F275-0B75761E8EEB}"/>
              </a:ext>
            </a:extLst>
          </p:cNvPr>
          <p:cNvSpPr/>
          <p:nvPr/>
        </p:nvSpPr>
        <p:spPr>
          <a:xfrm>
            <a:off x="5257800" y="4650658"/>
            <a:ext cx="346587" cy="294968"/>
          </a:xfrm>
          <a:prstGeom prst="ellipse">
            <a:avLst/>
          </a:prstGeom>
          <a:no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a:extLst>
              <a:ext uri="{FF2B5EF4-FFF2-40B4-BE49-F238E27FC236}">
                <a16:creationId xmlns:a16="http://schemas.microsoft.com/office/drawing/2014/main" id="{93391EE6-CF58-EE4B-4C6E-A11DB58AB895}"/>
              </a:ext>
            </a:extLst>
          </p:cNvPr>
          <p:cNvSpPr txBox="1"/>
          <p:nvPr/>
        </p:nvSpPr>
        <p:spPr>
          <a:xfrm>
            <a:off x="117986" y="626807"/>
            <a:ext cx="6735097" cy="461665"/>
          </a:xfrm>
          <a:prstGeom prst="rect">
            <a:avLst/>
          </a:prstGeom>
          <a:noFill/>
        </p:spPr>
        <p:txBody>
          <a:bodyPr wrap="square" rtlCol="0">
            <a:spAutoFit/>
          </a:bodyPr>
          <a:lstStyle/>
          <a:p>
            <a:r>
              <a:rPr lang="zh-TW" altLang="en-US" sz="2400"/>
              <a:t>佈局指南：添加 鋪銅 區域</a:t>
            </a:r>
            <a:endParaRPr lang="en-US" sz="2200"/>
          </a:p>
        </p:txBody>
      </p:sp>
      <p:pic>
        <p:nvPicPr>
          <p:cNvPr id="7" name="Picture 6">
            <a:extLst>
              <a:ext uri="{FF2B5EF4-FFF2-40B4-BE49-F238E27FC236}">
                <a16:creationId xmlns:a16="http://schemas.microsoft.com/office/drawing/2014/main" id="{91E12A8A-07C7-18F7-FEA4-1E2554E36045}"/>
              </a:ext>
            </a:extLst>
          </p:cNvPr>
          <p:cNvPicPr>
            <a:picLocks noChangeAspect="1"/>
          </p:cNvPicPr>
          <p:nvPr/>
        </p:nvPicPr>
        <p:blipFill>
          <a:blip r:embed="rId2"/>
          <a:stretch>
            <a:fillRect/>
          </a:stretch>
        </p:blipFill>
        <p:spPr>
          <a:xfrm>
            <a:off x="1444286" y="1057694"/>
            <a:ext cx="7798037" cy="5748305"/>
          </a:xfrm>
          <a:prstGeom prst="rect">
            <a:avLst/>
          </a:prstGeom>
        </p:spPr>
      </p:pic>
    </p:spTree>
    <p:extLst>
      <p:ext uri="{BB962C8B-B14F-4D97-AF65-F5344CB8AC3E}">
        <p14:creationId xmlns:p14="http://schemas.microsoft.com/office/powerpoint/2010/main" val="585528600"/>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A842D9-081D-C80B-928B-4AF47E44A3C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B4417EF-CA2F-A6C5-E299-5DCE0A58DF82}"/>
              </a:ext>
            </a:extLst>
          </p:cNvPr>
          <p:cNvSpPr>
            <a:spLocks noGrp="1"/>
          </p:cNvSpPr>
          <p:nvPr>
            <p:ph type="title"/>
          </p:nvPr>
        </p:nvSpPr>
        <p:spPr>
          <a:xfrm>
            <a:off x="0" y="1"/>
            <a:ext cx="10515600" cy="626806"/>
          </a:xfrm>
        </p:spPr>
        <p:txBody>
          <a:bodyPr>
            <a:normAutofit fontScale="90000"/>
          </a:bodyPr>
          <a:lstStyle/>
          <a:p>
            <a:r>
              <a:rPr lang="zh-TW" altLang="en-US"/>
              <a:t>練習：</a:t>
            </a:r>
            <a:endParaRPr lang="en-US"/>
          </a:p>
        </p:txBody>
      </p:sp>
      <p:sp>
        <p:nvSpPr>
          <p:cNvPr id="4" name="Oval 3">
            <a:extLst>
              <a:ext uri="{FF2B5EF4-FFF2-40B4-BE49-F238E27FC236}">
                <a16:creationId xmlns:a16="http://schemas.microsoft.com/office/drawing/2014/main" id="{1D37ECF6-1712-EEC4-8608-E390259EEE03}"/>
              </a:ext>
            </a:extLst>
          </p:cNvPr>
          <p:cNvSpPr/>
          <p:nvPr/>
        </p:nvSpPr>
        <p:spPr>
          <a:xfrm>
            <a:off x="1925320" y="3368040"/>
            <a:ext cx="645160" cy="629920"/>
          </a:xfrm>
          <a:prstGeom prst="ellipse">
            <a:avLst/>
          </a:prstGeom>
          <a:noFill/>
          <a:ln w="254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Oval 10">
            <a:extLst>
              <a:ext uri="{FF2B5EF4-FFF2-40B4-BE49-F238E27FC236}">
                <a16:creationId xmlns:a16="http://schemas.microsoft.com/office/drawing/2014/main" id="{69E6A742-50F6-962A-97AA-6D61B5CFF069}"/>
              </a:ext>
            </a:extLst>
          </p:cNvPr>
          <p:cNvSpPr/>
          <p:nvPr/>
        </p:nvSpPr>
        <p:spPr>
          <a:xfrm>
            <a:off x="8501181" y="2143924"/>
            <a:ext cx="645160" cy="629920"/>
          </a:xfrm>
          <a:prstGeom prst="ellipse">
            <a:avLst/>
          </a:prstGeom>
          <a:noFill/>
          <a:ln w="254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Oval 11">
            <a:extLst>
              <a:ext uri="{FF2B5EF4-FFF2-40B4-BE49-F238E27FC236}">
                <a16:creationId xmlns:a16="http://schemas.microsoft.com/office/drawing/2014/main" id="{D172B288-AE0C-0801-860D-BECF7BC01552}"/>
              </a:ext>
            </a:extLst>
          </p:cNvPr>
          <p:cNvSpPr/>
          <p:nvPr/>
        </p:nvSpPr>
        <p:spPr>
          <a:xfrm>
            <a:off x="5257800" y="4650658"/>
            <a:ext cx="346587" cy="294968"/>
          </a:xfrm>
          <a:prstGeom prst="ellipse">
            <a:avLst/>
          </a:prstGeom>
          <a:no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a:extLst>
              <a:ext uri="{FF2B5EF4-FFF2-40B4-BE49-F238E27FC236}">
                <a16:creationId xmlns:a16="http://schemas.microsoft.com/office/drawing/2014/main" id="{0E63BB97-270E-D65E-E102-6C903A0F9F90}"/>
              </a:ext>
            </a:extLst>
          </p:cNvPr>
          <p:cNvSpPr txBox="1"/>
          <p:nvPr/>
        </p:nvSpPr>
        <p:spPr>
          <a:xfrm>
            <a:off x="117986" y="626807"/>
            <a:ext cx="6735097" cy="461665"/>
          </a:xfrm>
          <a:prstGeom prst="rect">
            <a:avLst/>
          </a:prstGeom>
          <a:noFill/>
        </p:spPr>
        <p:txBody>
          <a:bodyPr wrap="square" rtlCol="0">
            <a:spAutoFit/>
          </a:bodyPr>
          <a:lstStyle/>
          <a:p>
            <a:r>
              <a:rPr lang="zh-TW" altLang="en-US" sz="2400"/>
              <a:t>佈局指南：添加 鋪銅 區域</a:t>
            </a:r>
            <a:endParaRPr lang="en-US" sz="2200"/>
          </a:p>
        </p:txBody>
      </p:sp>
      <p:pic>
        <p:nvPicPr>
          <p:cNvPr id="6" name="Picture 5">
            <a:extLst>
              <a:ext uri="{FF2B5EF4-FFF2-40B4-BE49-F238E27FC236}">
                <a16:creationId xmlns:a16="http://schemas.microsoft.com/office/drawing/2014/main" id="{AA05DD43-1C0A-AF40-A6F8-4D70D4C29E8B}"/>
              </a:ext>
            </a:extLst>
          </p:cNvPr>
          <p:cNvPicPr>
            <a:picLocks noChangeAspect="1"/>
          </p:cNvPicPr>
          <p:nvPr/>
        </p:nvPicPr>
        <p:blipFill>
          <a:blip r:embed="rId2"/>
          <a:stretch>
            <a:fillRect/>
          </a:stretch>
        </p:blipFill>
        <p:spPr>
          <a:xfrm>
            <a:off x="1001424" y="1684500"/>
            <a:ext cx="10012172" cy="4887007"/>
          </a:xfrm>
          <a:prstGeom prst="rect">
            <a:avLst/>
          </a:prstGeom>
        </p:spPr>
      </p:pic>
    </p:spTree>
    <p:extLst>
      <p:ext uri="{BB962C8B-B14F-4D97-AF65-F5344CB8AC3E}">
        <p14:creationId xmlns:p14="http://schemas.microsoft.com/office/powerpoint/2010/main" val="3004556424"/>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E59480-FF86-C42D-AC81-77E3A25B598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72BEFC8-9C57-8856-5286-162D13CAF882}"/>
              </a:ext>
            </a:extLst>
          </p:cNvPr>
          <p:cNvSpPr>
            <a:spLocks noGrp="1"/>
          </p:cNvSpPr>
          <p:nvPr>
            <p:ph type="title"/>
          </p:nvPr>
        </p:nvSpPr>
        <p:spPr>
          <a:xfrm>
            <a:off x="0" y="1"/>
            <a:ext cx="10515600" cy="626806"/>
          </a:xfrm>
        </p:spPr>
        <p:txBody>
          <a:bodyPr>
            <a:normAutofit fontScale="90000"/>
          </a:bodyPr>
          <a:lstStyle/>
          <a:p>
            <a:r>
              <a:rPr lang="zh-TW" altLang="en-US"/>
              <a:t>練習：</a:t>
            </a:r>
            <a:endParaRPr lang="en-US"/>
          </a:p>
        </p:txBody>
      </p:sp>
      <p:sp>
        <p:nvSpPr>
          <p:cNvPr id="4" name="Oval 3">
            <a:extLst>
              <a:ext uri="{FF2B5EF4-FFF2-40B4-BE49-F238E27FC236}">
                <a16:creationId xmlns:a16="http://schemas.microsoft.com/office/drawing/2014/main" id="{74284EA3-4D42-869B-656E-0666AB8C83C7}"/>
              </a:ext>
            </a:extLst>
          </p:cNvPr>
          <p:cNvSpPr/>
          <p:nvPr/>
        </p:nvSpPr>
        <p:spPr>
          <a:xfrm>
            <a:off x="1925320" y="3368040"/>
            <a:ext cx="645160" cy="629920"/>
          </a:xfrm>
          <a:prstGeom prst="ellipse">
            <a:avLst/>
          </a:prstGeom>
          <a:noFill/>
          <a:ln w="254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Oval 10">
            <a:extLst>
              <a:ext uri="{FF2B5EF4-FFF2-40B4-BE49-F238E27FC236}">
                <a16:creationId xmlns:a16="http://schemas.microsoft.com/office/drawing/2014/main" id="{0B2F1A69-2EB4-05C0-97D8-6A8D3CA802AE}"/>
              </a:ext>
            </a:extLst>
          </p:cNvPr>
          <p:cNvSpPr/>
          <p:nvPr/>
        </p:nvSpPr>
        <p:spPr>
          <a:xfrm>
            <a:off x="8501181" y="2143924"/>
            <a:ext cx="645160" cy="629920"/>
          </a:xfrm>
          <a:prstGeom prst="ellipse">
            <a:avLst/>
          </a:prstGeom>
          <a:noFill/>
          <a:ln w="254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Oval 11">
            <a:extLst>
              <a:ext uri="{FF2B5EF4-FFF2-40B4-BE49-F238E27FC236}">
                <a16:creationId xmlns:a16="http://schemas.microsoft.com/office/drawing/2014/main" id="{2D022A35-47D9-70DD-72B5-202E3FFE6D34}"/>
              </a:ext>
            </a:extLst>
          </p:cNvPr>
          <p:cNvSpPr/>
          <p:nvPr/>
        </p:nvSpPr>
        <p:spPr>
          <a:xfrm>
            <a:off x="5257800" y="4650658"/>
            <a:ext cx="346587" cy="294968"/>
          </a:xfrm>
          <a:prstGeom prst="ellipse">
            <a:avLst/>
          </a:prstGeom>
          <a:no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a:extLst>
              <a:ext uri="{FF2B5EF4-FFF2-40B4-BE49-F238E27FC236}">
                <a16:creationId xmlns:a16="http://schemas.microsoft.com/office/drawing/2014/main" id="{B7FAF00F-C9A9-E8CB-A8B1-EA56C364CE81}"/>
              </a:ext>
            </a:extLst>
          </p:cNvPr>
          <p:cNvSpPr txBox="1"/>
          <p:nvPr/>
        </p:nvSpPr>
        <p:spPr>
          <a:xfrm>
            <a:off x="117986" y="626807"/>
            <a:ext cx="6735097" cy="430887"/>
          </a:xfrm>
          <a:prstGeom prst="rect">
            <a:avLst/>
          </a:prstGeom>
          <a:noFill/>
        </p:spPr>
        <p:txBody>
          <a:bodyPr wrap="square" rtlCol="0">
            <a:spAutoFit/>
          </a:bodyPr>
          <a:lstStyle/>
          <a:p>
            <a:r>
              <a:rPr lang="en-US" sz="2200"/>
              <a:t>3D </a:t>
            </a:r>
            <a:r>
              <a:rPr lang="zh-TW" altLang="en-US" sz="2200"/>
              <a:t>檢視：</a:t>
            </a:r>
            <a:endParaRPr lang="en-US" sz="2200"/>
          </a:p>
        </p:txBody>
      </p:sp>
      <p:pic>
        <p:nvPicPr>
          <p:cNvPr id="7" name="Picture 6">
            <a:extLst>
              <a:ext uri="{FF2B5EF4-FFF2-40B4-BE49-F238E27FC236}">
                <a16:creationId xmlns:a16="http://schemas.microsoft.com/office/drawing/2014/main" id="{6FB47124-34E2-6E04-8AE3-5E23E24687ED}"/>
              </a:ext>
            </a:extLst>
          </p:cNvPr>
          <p:cNvPicPr>
            <a:picLocks noChangeAspect="1"/>
          </p:cNvPicPr>
          <p:nvPr/>
        </p:nvPicPr>
        <p:blipFill>
          <a:blip r:embed="rId2"/>
          <a:stretch>
            <a:fillRect/>
          </a:stretch>
        </p:blipFill>
        <p:spPr>
          <a:xfrm>
            <a:off x="1218519" y="1487081"/>
            <a:ext cx="9754961" cy="4744112"/>
          </a:xfrm>
          <a:prstGeom prst="rect">
            <a:avLst/>
          </a:prstGeom>
        </p:spPr>
      </p:pic>
    </p:spTree>
    <p:extLst>
      <p:ext uri="{BB962C8B-B14F-4D97-AF65-F5344CB8AC3E}">
        <p14:creationId xmlns:p14="http://schemas.microsoft.com/office/powerpoint/2010/main" val="3035813210"/>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753AA67-706E-D474-43C7-CCE83F56FEB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00F4ADC-8098-2320-75ED-B28A1C5154C9}"/>
              </a:ext>
            </a:extLst>
          </p:cNvPr>
          <p:cNvSpPr>
            <a:spLocks noGrp="1"/>
          </p:cNvSpPr>
          <p:nvPr>
            <p:ph type="title"/>
          </p:nvPr>
        </p:nvSpPr>
        <p:spPr>
          <a:xfrm>
            <a:off x="0" y="1"/>
            <a:ext cx="10515600" cy="626806"/>
          </a:xfrm>
        </p:spPr>
        <p:txBody>
          <a:bodyPr>
            <a:normAutofit fontScale="90000"/>
          </a:bodyPr>
          <a:lstStyle/>
          <a:p>
            <a:r>
              <a:rPr lang="zh-TW" altLang="en-US"/>
              <a:t>練習：</a:t>
            </a:r>
            <a:endParaRPr lang="en-US"/>
          </a:p>
        </p:txBody>
      </p:sp>
      <p:sp>
        <p:nvSpPr>
          <p:cNvPr id="4" name="Oval 3">
            <a:extLst>
              <a:ext uri="{FF2B5EF4-FFF2-40B4-BE49-F238E27FC236}">
                <a16:creationId xmlns:a16="http://schemas.microsoft.com/office/drawing/2014/main" id="{3FBDC92E-D511-CAB5-00B8-33E567E7DBEF}"/>
              </a:ext>
            </a:extLst>
          </p:cNvPr>
          <p:cNvSpPr/>
          <p:nvPr/>
        </p:nvSpPr>
        <p:spPr>
          <a:xfrm>
            <a:off x="1925320" y="3368040"/>
            <a:ext cx="645160" cy="629920"/>
          </a:xfrm>
          <a:prstGeom prst="ellipse">
            <a:avLst/>
          </a:prstGeom>
          <a:noFill/>
          <a:ln w="254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Oval 10">
            <a:extLst>
              <a:ext uri="{FF2B5EF4-FFF2-40B4-BE49-F238E27FC236}">
                <a16:creationId xmlns:a16="http://schemas.microsoft.com/office/drawing/2014/main" id="{E1CB26E1-1733-3B35-523D-30B3A0CF6705}"/>
              </a:ext>
            </a:extLst>
          </p:cNvPr>
          <p:cNvSpPr/>
          <p:nvPr/>
        </p:nvSpPr>
        <p:spPr>
          <a:xfrm>
            <a:off x="8501181" y="2143924"/>
            <a:ext cx="645160" cy="629920"/>
          </a:xfrm>
          <a:prstGeom prst="ellipse">
            <a:avLst/>
          </a:prstGeom>
          <a:noFill/>
          <a:ln w="254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Oval 11">
            <a:extLst>
              <a:ext uri="{FF2B5EF4-FFF2-40B4-BE49-F238E27FC236}">
                <a16:creationId xmlns:a16="http://schemas.microsoft.com/office/drawing/2014/main" id="{AB5DED2B-54EC-4DEC-0E8C-81B4FCFF4F92}"/>
              </a:ext>
            </a:extLst>
          </p:cNvPr>
          <p:cNvSpPr/>
          <p:nvPr/>
        </p:nvSpPr>
        <p:spPr>
          <a:xfrm>
            <a:off x="5257800" y="4650658"/>
            <a:ext cx="346587" cy="294968"/>
          </a:xfrm>
          <a:prstGeom prst="ellipse">
            <a:avLst/>
          </a:prstGeom>
          <a:no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a:extLst>
              <a:ext uri="{FF2B5EF4-FFF2-40B4-BE49-F238E27FC236}">
                <a16:creationId xmlns:a16="http://schemas.microsoft.com/office/drawing/2014/main" id="{10FED1E9-BB38-A6CF-10BE-BC6C2D3C2D0C}"/>
              </a:ext>
            </a:extLst>
          </p:cNvPr>
          <p:cNvSpPr txBox="1"/>
          <p:nvPr/>
        </p:nvSpPr>
        <p:spPr>
          <a:xfrm>
            <a:off x="117986" y="626807"/>
            <a:ext cx="6735097" cy="430887"/>
          </a:xfrm>
          <a:prstGeom prst="rect">
            <a:avLst/>
          </a:prstGeom>
          <a:noFill/>
        </p:spPr>
        <p:txBody>
          <a:bodyPr wrap="square" rtlCol="0">
            <a:spAutoFit/>
          </a:bodyPr>
          <a:lstStyle/>
          <a:p>
            <a:r>
              <a:rPr lang="en-US" sz="2200"/>
              <a:t>Audio Amplifier circuit:</a:t>
            </a:r>
          </a:p>
        </p:txBody>
      </p:sp>
      <p:pic>
        <p:nvPicPr>
          <p:cNvPr id="3074" name="Picture 2">
            <a:extLst>
              <a:ext uri="{FF2B5EF4-FFF2-40B4-BE49-F238E27FC236}">
                <a16:creationId xmlns:a16="http://schemas.microsoft.com/office/drawing/2014/main" id="{9EED845D-A7FC-4A63-A71F-BEF8E10762A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39097" y="1066813"/>
            <a:ext cx="10913806" cy="523237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594494000"/>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24FDC94-D37E-C920-B683-E7D6E9A4B59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0B0BB66-5324-A575-E626-0FE50340BA99}"/>
              </a:ext>
            </a:extLst>
          </p:cNvPr>
          <p:cNvSpPr>
            <a:spLocks noGrp="1"/>
          </p:cNvSpPr>
          <p:nvPr>
            <p:ph type="title"/>
          </p:nvPr>
        </p:nvSpPr>
        <p:spPr>
          <a:xfrm>
            <a:off x="0" y="1"/>
            <a:ext cx="10515600" cy="626806"/>
          </a:xfrm>
        </p:spPr>
        <p:txBody>
          <a:bodyPr>
            <a:normAutofit fontScale="90000"/>
          </a:bodyPr>
          <a:lstStyle/>
          <a:p>
            <a:r>
              <a:rPr lang="zh-TW" altLang="en-US"/>
              <a:t>練習：</a:t>
            </a:r>
            <a:endParaRPr lang="en-US"/>
          </a:p>
        </p:txBody>
      </p:sp>
      <p:sp>
        <p:nvSpPr>
          <p:cNvPr id="4" name="Oval 3">
            <a:extLst>
              <a:ext uri="{FF2B5EF4-FFF2-40B4-BE49-F238E27FC236}">
                <a16:creationId xmlns:a16="http://schemas.microsoft.com/office/drawing/2014/main" id="{8FF6C7FD-4C31-D40D-84D0-945AB279FAF6}"/>
              </a:ext>
            </a:extLst>
          </p:cNvPr>
          <p:cNvSpPr/>
          <p:nvPr/>
        </p:nvSpPr>
        <p:spPr>
          <a:xfrm>
            <a:off x="1925320" y="3368040"/>
            <a:ext cx="645160" cy="629920"/>
          </a:xfrm>
          <a:prstGeom prst="ellipse">
            <a:avLst/>
          </a:prstGeom>
          <a:noFill/>
          <a:ln w="254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Oval 10">
            <a:extLst>
              <a:ext uri="{FF2B5EF4-FFF2-40B4-BE49-F238E27FC236}">
                <a16:creationId xmlns:a16="http://schemas.microsoft.com/office/drawing/2014/main" id="{51CE9109-BDFB-F3F8-172E-C59D2D2729CC}"/>
              </a:ext>
            </a:extLst>
          </p:cNvPr>
          <p:cNvSpPr/>
          <p:nvPr/>
        </p:nvSpPr>
        <p:spPr>
          <a:xfrm>
            <a:off x="8501181" y="2143924"/>
            <a:ext cx="645160" cy="629920"/>
          </a:xfrm>
          <a:prstGeom prst="ellipse">
            <a:avLst/>
          </a:prstGeom>
          <a:noFill/>
          <a:ln w="254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Oval 11">
            <a:extLst>
              <a:ext uri="{FF2B5EF4-FFF2-40B4-BE49-F238E27FC236}">
                <a16:creationId xmlns:a16="http://schemas.microsoft.com/office/drawing/2014/main" id="{3F597B90-589A-D4D9-5903-9A1F4BB362FE}"/>
              </a:ext>
            </a:extLst>
          </p:cNvPr>
          <p:cNvSpPr/>
          <p:nvPr/>
        </p:nvSpPr>
        <p:spPr>
          <a:xfrm>
            <a:off x="5257800" y="4650658"/>
            <a:ext cx="346587" cy="294968"/>
          </a:xfrm>
          <a:prstGeom prst="ellipse">
            <a:avLst/>
          </a:prstGeom>
          <a:no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a:extLst>
              <a:ext uri="{FF2B5EF4-FFF2-40B4-BE49-F238E27FC236}">
                <a16:creationId xmlns:a16="http://schemas.microsoft.com/office/drawing/2014/main" id="{6C8DB9EB-F4F1-6909-2C4B-AA0E0F2E6722}"/>
              </a:ext>
            </a:extLst>
          </p:cNvPr>
          <p:cNvSpPr txBox="1"/>
          <p:nvPr/>
        </p:nvSpPr>
        <p:spPr>
          <a:xfrm>
            <a:off x="58993" y="584232"/>
            <a:ext cx="12074014" cy="461665"/>
          </a:xfrm>
          <a:prstGeom prst="rect">
            <a:avLst/>
          </a:prstGeom>
          <a:noFill/>
        </p:spPr>
        <p:txBody>
          <a:bodyPr wrap="square" rtlCol="0">
            <a:spAutoFit/>
          </a:bodyPr>
          <a:lstStyle/>
          <a:p>
            <a:r>
              <a:rPr lang="zh-TW" altLang="en-US" sz="2400"/>
              <a:t>音訊放大器電路 請盡最大努力在 單一平面內完成 佈局 </a:t>
            </a:r>
            <a:endParaRPr lang="en-US" sz="2200"/>
          </a:p>
        </p:txBody>
      </p:sp>
      <p:pic>
        <p:nvPicPr>
          <p:cNvPr id="6" name="Picture 5">
            <a:extLst>
              <a:ext uri="{FF2B5EF4-FFF2-40B4-BE49-F238E27FC236}">
                <a16:creationId xmlns:a16="http://schemas.microsoft.com/office/drawing/2014/main" id="{91881699-6EA2-E55C-5922-9348A355FA19}"/>
              </a:ext>
            </a:extLst>
          </p:cNvPr>
          <p:cNvPicPr>
            <a:picLocks noChangeAspect="1"/>
          </p:cNvPicPr>
          <p:nvPr/>
        </p:nvPicPr>
        <p:blipFill>
          <a:blip r:embed="rId2"/>
          <a:stretch>
            <a:fillRect/>
          </a:stretch>
        </p:blipFill>
        <p:spPr>
          <a:xfrm>
            <a:off x="1130710" y="1068019"/>
            <a:ext cx="9582148" cy="5676155"/>
          </a:xfrm>
          <a:prstGeom prst="rect">
            <a:avLst/>
          </a:prstGeom>
        </p:spPr>
      </p:pic>
    </p:spTree>
    <p:extLst>
      <p:ext uri="{BB962C8B-B14F-4D97-AF65-F5344CB8AC3E}">
        <p14:creationId xmlns:p14="http://schemas.microsoft.com/office/powerpoint/2010/main" val="54241615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583</TotalTime>
  <Words>1932</Words>
  <Application>Microsoft Office PowerPoint</Application>
  <PresentationFormat>Widescreen</PresentationFormat>
  <Paragraphs>142</Paragraphs>
  <Slides>43</Slides>
  <Notes>17</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43</vt:i4>
      </vt:variant>
    </vt:vector>
  </HeadingPairs>
  <TitlesOfParts>
    <vt:vector size="47" baseType="lpstr">
      <vt:lpstr>Aptos</vt:lpstr>
      <vt:lpstr>Aptos Display</vt:lpstr>
      <vt:lpstr>Arial</vt:lpstr>
      <vt:lpstr>Office Theme</vt:lpstr>
      <vt:lpstr>基礎佈線</vt:lpstr>
      <vt:lpstr>基礎佈線</vt:lpstr>
      <vt:lpstr>基礎佈線</vt:lpstr>
      <vt:lpstr>基礎佈線</vt:lpstr>
      <vt:lpstr>最佳走線角度：</vt:lpstr>
      <vt:lpstr>PowerPoint Presentation</vt:lpstr>
      <vt:lpstr>從焊盤正確引出走線</vt:lpstr>
      <vt:lpstr>小型晶片元件的對稱佈線</vt:lpstr>
      <vt:lpstr>基礎佈線：最小化訊號佈線中的迴路面積</vt:lpstr>
      <vt:lpstr>基礎佈線：避免在不同圖層之間形成迴路</vt:lpstr>
      <vt:lpstr>基礎佈線：針對易受干擾或敏感訊號的屏蔽</vt:lpstr>
      <vt:lpstr>基礎佈線：同一網路中的走線寬度一致</vt:lpstr>
      <vt:lpstr>基礎佈線：IC 引腳的 走線寬度</vt:lpstr>
      <vt:lpstr>基礎佈線：敏感元件周圍的佈線考量</vt:lpstr>
      <vt:lpstr>基礎佈線：計算 走線 (Track) 寬度</vt:lpstr>
      <vt:lpstr>基礎佈線：計算 走線 (Track) 寬度</vt:lpstr>
      <vt:lpstr>基礎佈線：計算 走線 (Track) 寬度</vt:lpstr>
      <vt:lpstr>基礎佈線：確保訊號完整性的圖層切換與過孔管理</vt:lpstr>
      <vt:lpstr>PCB 分迴技術</vt:lpstr>
      <vt:lpstr>佈局指南：</vt:lpstr>
      <vt:lpstr>佈局指南：</vt:lpstr>
      <vt:lpstr>佈局指南：</vt:lpstr>
      <vt:lpstr>佈局指南：</vt:lpstr>
      <vt:lpstr>佈局指南：</vt:lpstr>
      <vt:lpstr>佈局指南：</vt:lpstr>
      <vt:lpstr>佈局指南：</vt:lpstr>
      <vt:lpstr>佈局指南：</vt:lpstr>
      <vt:lpstr>佈局指南：過孔 (Via) 的用途</vt:lpstr>
      <vt:lpstr>佈局指南：過孔 (Via) 的用途</vt:lpstr>
      <vt:lpstr>練習：</vt:lpstr>
      <vt:lpstr>練習：</vt:lpstr>
      <vt:lpstr>練習：</vt:lpstr>
      <vt:lpstr>練習：</vt:lpstr>
      <vt:lpstr>練習：</vt:lpstr>
      <vt:lpstr>練習：</vt:lpstr>
      <vt:lpstr>練習：</vt:lpstr>
      <vt:lpstr>練習：</vt:lpstr>
      <vt:lpstr>練習：</vt:lpstr>
      <vt:lpstr>練習：</vt:lpstr>
      <vt:lpstr>練習：</vt:lpstr>
      <vt:lpstr>練習：</vt:lpstr>
      <vt:lpstr>練習：</vt:lpstr>
      <vt:lpstr>練習：</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阮黎孝</dc:creator>
  <cp:lastModifiedBy>阮黎孝</cp:lastModifiedBy>
  <cp:revision>14</cp:revision>
  <dcterms:created xsi:type="dcterms:W3CDTF">2026-03-13T02:40:59Z</dcterms:created>
  <dcterms:modified xsi:type="dcterms:W3CDTF">2026-04-04T15:21:54Z</dcterms:modified>
</cp:coreProperties>
</file>